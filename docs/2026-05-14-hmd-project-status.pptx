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828800"/>
            <a:ext cx="1371600" cy="91440"/>
          </a:xfrm>
          <a:prstGeom prst="rect">
            <a:avLst/>
          </a:prstGeom>
          <a:solidFill>
            <a:srgbClr val="C2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03120"/>
            <a:ext cx="10332720" cy="548640"/>
          </a:xfrm>
          <a:prstGeom prst="rect">
            <a:avLst/>
          </a:prstGeom>
          <a:noFill/>
        </p:spPr>
        <p:txBody>
          <a:bodyPr wrap="square" lIns="45720" tIns="18288" rIns="45720" bIns="18288" anchor="t">
            <a:spAutoFit/>
          </a:bodyPr>
          <a:lstStyle/>
          <a:p>
            <a:pPr algn="l"/>
            <a:r>
              <a:rPr sz="1400" b="1" i="0">
                <a:solidFill>
                  <a:srgbClr val="C28B1B"/>
                </a:solidFill>
                <a:latin typeface="Calibri"/>
              </a:rPr>
              <a:t>HMD PROJECT — STATUS PRESENTATION</a:t>
            </a:r>
          </a:p>
        </p:txBody>
      </p:sp>
      <p:sp>
        <p:nvSpPr>
          <p:cNvPr id="5" name="TextBox 4"/>
          <p:cNvSpPr txBox="1"/>
          <p:nvPr/>
        </p:nvSpPr>
        <p:spPr>
          <a:xfrm>
            <a:off x="914400" y="2743200"/>
            <a:ext cx="10332720" cy="1463040"/>
          </a:xfrm>
          <a:prstGeom prst="rect">
            <a:avLst/>
          </a:prstGeom>
          <a:noFill/>
        </p:spPr>
        <p:txBody>
          <a:bodyPr wrap="square" lIns="45720" tIns="18288" rIns="45720" bIns="18288" anchor="t">
            <a:spAutoFit/>
          </a:bodyPr>
          <a:lstStyle/>
          <a:p>
            <a:pPr algn="l"/>
            <a:r>
              <a:rPr sz="4800" b="1" i="0" dirty="0">
                <a:solidFill>
                  <a:srgbClr val="FFFFFF"/>
                </a:solidFill>
                <a:latin typeface="Calibri"/>
              </a:rPr>
              <a:t>Hot Metal Distribution System</a:t>
            </a:r>
          </a:p>
        </p:txBody>
      </p:sp>
      <p:sp>
        <p:nvSpPr>
          <p:cNvPr id="6" name="TextBox 5"/>
          <p:cNvSpPr txBox="1"/>
          <p:nvPr/>
        </p:nvSpPr>
        <p:spPr>
          <a:xfrm>
            <a:off x="914400" y="384048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End-to-end project review — design, development, integration, current state, path forward</a:t>
            </a:r>
          </a:p>
        </p:txBody>
      </p:sp>
      <p:sp>
        <p:nvSpPr>
          <p:cNvPr id="7" name="Rectangle 6"/>
          <p:cNvSpPr/>
          <p:nvPr/>
        </p:nvSpPr>
        <p:spPr>
          <a:xfrm>
            <a:off x="0" y="5943600"/>
            <a:ext cx="12191695" cy="91440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6080760"/>
            <a:ext cx="5486400" cy="365760"/>
          </a:xfrm>
          <a:prstGeom prst="rect">
            <a:avLst/>
          </a:prstGeom>
          <a:noFill/>
        </p:spPr>
        <p:txBody>
          <a:bodyPr wrap="square" lIns="45720" tIns="18288" rIns="45720" bIns="18288" anchor="t">
            <a:spAutoFit/>
          </a:bodyPr>
          <a:lstStyle/>
          <a:p>
            <a:pPr algn="l"/>
            <a:r>
              <a:rPr sz="900" b="1" i="0">
                <a:solidFill>
                  <a:srgbClr val="C28B1B"/>
                </a:solidFill>
                <a:latin typeface="Calibri"/>
              </a:rPr>
              <a:t>PREPARED FOR</a:t>
            </a:r>
          </a:p>
        </p:txBody>
      </p:sp>
      <p:sp>
        <p:nvSpPr>
          <p:cNvPr id="9" name="TextBox 8"/>
          <p:cNvSpPr txBox="1"/>
          <p:nvPr/>
        </p:nvSpPr>
        <p:spPr>
          <a:xfrm>
            <a:off x="914400" y="6355080"/>
            <a:ext cx="5486400" cy="365760"/>
          </a:xfrm>
          <a:prstGeom prst="rect">
            <a:avLst/>
          </a:prstGeom>
          <a:noFill/>
        </p:spPr>
        <p:txBody>
          <a:bodyPr wrap="square" lIns="45720" tIns="18288" rIns="45720" bIns="18288" anchor="t">
            <a:spAutoFit/>
          </a:bodyPr>
          <a:lstStyle/>
          <a:p>
            <a:pPr algn="l"/>
            <a:r>
              <a:rPr sz="1500" b="1" i="0">
                <a:solidFill>
                  <a:srgbClr val="FFFFFF"/>
                </a:solidFill>
                <a:latin typeface="Calibri"/>
              </a:rPr>
              <a:t>JSW Steel Limited — Vijayanagar Works</a:t>
            </a:r>
          </a:p>
        </p:txBody>
      </p:sp>
      <p:sp>
        <p:nvSpPr>
          <p:cNvPr id="10" name="TextBox 9"/>
          <p:cNvSpPr txBox="1"/>
          <p:nvPr/>
        </p:nvSpPr>
        <p:spPr>
          <a:xfrm>
            <a:off x="7315200" y="6080760"/>
            <a:ext cx="4572000" cy="365760"/>
          </a:xfrm>
          <a:prstGeom prst="rect">
            <a:avLst/>
          </a:prstGeom>
          <a:noFill/>
        </p:spPr>
        <p:txBody>
          <a:bodyPr wrap="square" lIns="45720" tIns="18288" rIns="45720" bIns="18288" anchor="t">
            <a:spAutoFit/>
          </a:bodyPr>
          <a:lstStyle/>
          <a:p>
            <a:pPr algn="l"/>
            <a:r>
              <a:rPr sz="900" b="1" i="0">
                <a:solidFill>
                  <a:srgbClr val="C28B1B"/>
                </a:solidFill>
                <a:latin typeface="Calibri"/>
              </a:rPr>
              <a:t>PREPARED BY</a:t>
            </a:r>
          </a:p>
        </p:txBody>
      </p:sp>
      <p:sp>
        <p:nvSpPr>
          <p:cNvPr id="11" name="TextBox 10"/>
          <p:cNvSpPr txBox="1"/>
          <p:nvPr/>
        </p:nvSpPr>
        <p:spPr>
          <a:xfrm>
            <a:off x="7315200" y="6355080"/>
            <a:ext cx="4572000" cy="365760"/>
          </a:xfrm>
          <a:prstGeom prst="rect">
            <a:avLst/>
          </a:prstGeom>
          <a:noFill/>
        </p:spPr>
        <p:txBody>
          <a:bodyPr wrap="square" lIns="45720" tIns="18288" rIns="45720" bIns="18288" anchor="t">
            <a:spAutoFit/>
          </a:bodyPr>
          <a:lstStyle/>
          <a:p>
            <a:pPr algn="l"/>
            <a:r>
              <a:rPr sz="1500" b="1" i="0">
                <a:solidFill>
                  <a:srgbClr val="FFFFFF"/>
                </a:solidFill>
                <a:latin typeface="Calibri"/>
              </a:rPr>
              <a:t>Deevia Software (India) Pvt. Ltd. — 14 May 2026</a:t>
            </a:r>
          </a:p>
        </p:txBody>
      </p:sp>
      <p:pic>
        <p:nvPicPr>
          <p:cNvPr id="17" name="Picture 16">
            <a:extLst>
              <a:ext uri="{FF2B5EF4-FFF2-40B4-BE49-F238E27FC236}">
                <a16:creationId xmlns:a16="http://schemas.microsoft.com/office/drawing/2014/main" id="{8BEA74DD-0D71-D769-9E8D-C80A14703014}"/>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 · OVERVIEW</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Agenda</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dirty="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a:t>
            </a:r>
          </a:p>
        </p:txBody>
      </p:sp>
      <p:sp>
        <p:nvSpPr>
          <p:cNvPr id="8" name="TextBox 7"/>
          <p:cNvSpPr txBox="1"/>
          <p:nvPr/>
        </p:nvSpPr>
        <p:spPr>
          <a:xfrm>
            <a:off x="640080" y="1463040"/>
            <a:ext cx="5486400" cy="4937760"/>
          </a:xfrm>
          <a:prstGeom prst="rect">
            <a:avLst/>
          </a:prstGeom>
          <a:noFill/>
        </p:spPr>
        <p:txBody>
          <a:bodyPr wrap="square" lIns="45720">
            <a:spAutoFit/>
          </a:bodyPr>
          <a:lstStyle/>
          <a:p>
            <a:pPr>
              <a:lnSpc>
                <a:spcPct val="115000"/>
              </a:lnSpc>
              <a:spcAft>
                <a:spcPts val="200"/>
              </a:spcAft>
              <a:buChar char="■"/>
            </a:pPr>
            <a:r>
              <a:rPr sz="1400">
                <a:solidFill>
                  <a:srgbClr val="1F2937"/>
                </a:solidFill>
                <a:latin typeface="Calibri"/>
              </a:rPr>
              <a:t>A.  Project Foundation</a:t>
            </a:r>
          </a:p>
          <a:p>
            <a:pPr lvl="1">
              <a:lnSpc>
                <a:spcPct val="115000"/>
              </a:lnSpc>
              <a:spcAft>
                <a:spcPts val="200"/>
              </a:spcAft>
              <a:buChar char="–"/>
            </a:pPr>
            <a:r>
              <a:rPr sz="1400">
                <a:solidFill>
                  <a:srgbClr val="1F2937"/>
                </a:solidFill>
                <a:latin typeface="Calibri"/>
              </a:rPr>
              <a:t>Goal, scope, system architecture</a:t>
            </a:r>
          </a:p>
          <a:p>
            <a:pPr>
              <a:lnSpc>
                <a:spcPct val="115000"/>
              </a:lnSpc>
              <a:spcAft>
                <a:spcPts val="200"/>
              </a:spcAft>
              <a:buChar char="■"/>
            </a:pPr>
            <a:endParaRPr sz="1400">
              <a:solidFill>
                <a:srgbClr val="1F2937"/>
              </a:solidFill>
              <a:latin typeface="Calibri"/>
            </a:endParaRPr>
          </a:p>
          <a:p>
            <a:pPr>
              <a:lnSpc>
                <a:spcPct val="115000"/>
              </a:lnSpc>
              <a:spcAft>
                <a:spcPts val="200"/>
              </a:spcAft>
              <a:buChar char="■"/>
            </a:pPr>
            <a:r>
              <a:rPr sz="1400">
                <a:solidFill>
                  <a:srgbClr val="1F2937"/>
                </a:solidFill>
                <a:latin typeface="Calibri"/>
              </a:rPr>
              <a:t>B.  Project Timeline</a:t>
            </a:r>
          </a:p>
          <a:p>
            <a:pPr lvl="1">
              <a:lnSpc>
                <a:spcPct val="115000"/>
              </a:lnSpc>
              <a:spcAft>
                <a:spcPts val="200"/>
              </a:spcAft>
              <a:buChar char="–"/>
            </a:pPr>
            <a:r>
              <a:rPr sz="1400">
                <a:solidFill>
                  <a:srgbClr val="1F2937"/>
                </a:solidFill>
                <a:latin typeface="Calibri"/>
              </a:rPr>
              <a:t>Original plan vs actual progress</a:t>
            </a:r>
          </a:p>
          <a:p>
            <a:pPr>
              <a:lnSpc>
                <a:spcPct val="115000"/>
              </a:lnSpc>
              <a:spcAft>
                <a:spcPts val="200"/>
              </a:spcAft>
              <a:buChar char="■"/>
            </a:pPr>
            <a:endParaRPr sz="1400">
              <a:solidFill>
                <a:srgbClr val="1F2937"/>
              </a:solidFill>
              <a:latin typeface="Calibri"/>
            </a:endParaRPr>
          </a:p>
          <a:p>
            <a:pPr>
              <a:lnSpc>
                <a:spcPct val="115000"/>
              </a:lnSpc>
              <a:spcAft>
                <a:spcPts val="200"/>
              </a:spcAft>
              <a:buChar char="■"/>
            </a:pPr>
            <a:r>
              <a:rPr sz="1400">
                <a:solidFill>
                  <a:srgbClr val="1F2937"/>
                </a:solidFill>
                <a:latin typeface="Calibri"/>
              </a:rPr>
              <a:t>C.  Infrastructure &amp; Server Setup</a:t>
            </a:r>
          </a:p>
          <a:p>
            <a:pPr lvl="1">
              <a:lnSpc>
                <a:spcPct val="115000"/>
              </a:lnSpc>
              <a:spcAft>
                <a:spcPts val="200"/>
              </a:spcAft>
              <a:buChar char="–"/>
            </a:pPr>
            <a:r>
              <a:rPr sz="1400">
                <a:solidFill>
                  <a:srgbClr val="1F2937"/>
                </a:solidFill>
                <a:latin typeface="Calibri"/>
              </a:rPr>
              <a:t>Hardware, network, software stack</a:t>
            </a:r>
          </a:p>
          <a:p>
            <a:pPr>
              <a:lnSpc>
                <a:spcPct val="115000"/>
              </a:lnSpc>
              <a:spcAft>
                <a:spcPts val="200"/>
              </a:spcAft>
              <a:buChar char="■"/>
            </a:pPr>
            <a:endParaRPr sz="1400">
              <a:solidFill>
                <a:srgbClr val="1F2937"/>
              </a:solidFill>
              <a:latin typeface="Calibri"/>
            </a:endParaRPr>
          </a:p>
          <a:p>
            <a:pPr>
              <a:lnSpc>
                <a:spcPct val="115000"/>
              </a:lnSpc>
              <a:spcAft>
                <a:spcPts val="200"/>
              </a:spcAft>
              <a:buChar char="■"/>
            </a:pPr>
            <a:r>
              <a:rPr sz="1400">
                <a:solidFill>
                  <a:srgbClr val="1F2937"/>
                </a:solidFill>
                <a:latin typeface="Calibri"/>
              </a:rPr>
              <a:t>D.  Data Sources &amp; Integration</a:t>
            </a:r>
          </a:p>
          <a:p>
            <a:pPr lvl="1">
              <a:lnSpc>
                <a:spcPct val="115000"/>
              </a:lnSpc>
              <a:spcAft>
                <a:spcPts val="200"/>
              </a:spcAft>
              <a:buChar char="–"/>
            </a:pPr>
            <a:r>
              <a:rPr sz="1400">
                <a:solidFill>
                  <a:srgbClr val="1F2937"/>
                </a:solidFill>
                <a:latin typeface="Calibri"/>
              </a:rPr>
              <a:t>Three external sources, integration dates</a:t>
            </a:r>
          </a:p>
        </p:txBody>
      </p:sp>
      <p:sp>
        <p:nvSpPr>
          <p:cNvPr id="9" name="TextBox 8"/>
          <p:cNvSpPr txBox="1"/>
          <p:nvPr/>
        </p:nvSpPr>
        <p:spPr>
          <a:xfrm>
            <a:off x="6309360" y="1463040"/>
            <a:ext cx="5486400" cy="3333028"/>
          </a:xfrm>
          <a:prstGeom prst="rect">
            <a:avLst/>
          </a:prstGeom>
          <a:noFill/>
        </p:spPr>
        <p:txBody>
          <a:bodyPr wrap="square" lIns="45720">
            <a:spAutoFit/>
          </a:bodyPr>
          <a:lstStyle/>
          <a:p>
            <a:pPr>
              <a:lnSpc>
                <a:spcPct val="115000"/>
              </a:lnSpc>
              <a:spcAft>
                <a:spcPts val="200"/>
              </a:spcAft>
              <a:buChar char="■"/>
            </a:pPr>
            <a:r>
              <a:rPr sz="1400" dirty="0">
                <a:solidFill>
                  <a:srgbClr val="1F2937"/>
                </a:solidFill>
                <a:latin typeface="Calibri"/>
              </a:rPr>
              <a:t>E.  Application Capabilities </a:t>
            </a:r>
          </a:p>
          <a:p>
            <a:pPr lvl="1">
              <a:lnSpc>
                <a:spcPct val="115000"/>
              </a:lnSpc>
              <a:spcAft>
                <a:spcPts val="200"/>
              </a:spcAft>
              <a:buChar char="–"/>
            </a:pPr>
            <a:r>
              <a:rPr sz="1400" dirty="0">
                <a:solidFill>
                  <a:srgbClr val="1F2937"/>
                </a:solidFill>
                <a:latin typeface="Calibri"/>
              </a:rPr>
              <a:t>Module-by-module walkthrough</a:t>
            </a:r>
          </a:p>
          <a:p>
            <a:pPr>
              <a:lnSpc>
                <a:spcPct val="115000"/>
              </a:lnSpc>
              <a:spcAft>
                <a:spcPts val="200"/>
              </a:spcAft>
              <a:buChar char="■"/>
            </a:pPr>
            <a:endParaRPr sz="1400" dirty="0">
              <a:solidFill>
                <a:srgbClr val="1F2937"/>
              </a:solidFill>
              <a:latin typeface="Calibri"/>
            </a:endParaRPr>
          </a:p>
          <a:p>
            <a:pPr>
              <a:lnSpc>
                <a:spcPct val="115000"/>
              </a:lnSpc>
              <a:spcAft>
                <a:spcPts val="200"/>
              </a:spcAft>
              <a:buChar char="■"/>
            </a:pPr>
            <a:r>
              <a:rPr sz="1400" dirty="0">
                <a:solidFill>
                  <a:srgbClr val="1F2937"/>
                </a:solidFill>
                <a:latin typeface="Calibri"/>
              </a:rPr>
              <a:t>F.  Current Operations Status</a:t>
            </a:r>
          </a:p>
          <a:p>
            <a:pPr lvl="1">
              <a:lnSpc>
                <a:spcPct val="115000"/>
              </a:lnSpc>
              <a:spcAft>
                <a:spcPts val="200"/>
              </a:spcAft>
              <a:buChar char="–"/>
            </a:pPr>
            <a:r>
              <a:rPr sz="1400" dirty="0">
                <a:solidFill>
                  <a:srgbClr val="1F2937"/>
                </a:solidFill>
                <a:latin typeface="Calibri"/>
              </a:rPr>
              <a:t>What's live, what's verified</a:t>
            </a:r>
          </a:p>
          <a:p>
            <a:pPr>
              <a:lnSpc>
                <a:spcPct val="115000"/>
              </a:lnSpc>
              <a:spcAft>
                <a:spcPts val="200"/>
              </a:spcAft>
              <a:buChar char="■"/>
            </a:pPr>
            <a:endParaRPr sz="1400" dirty="0">
              <a:solidFill>
                <a:srgbClr val="1F2937"/>
              </a:solidFill>
              <a:latin typeface="Calibri"/>
            </a:endParaRPr>
          </a:p>
          <a:p>
            <a:pPr>
              <a:lnSpc>
                <a:spcPct val="115000"/>
              </a:lnSpc>
              <a:spcAft>
                <a:spcPts val="200"/>
              </a:spcAft>
              <a:buChar char="■"/>
            </a:pPr>
            <a:r>
              <a:rPr sz="1400" dirty="0">
                <a:solidFill>
                  <a:srgbClr val="1F2937"/>
                </a:solidFill>
                <a:latin typeface="Calibri"/>
              </a:rPr>
              <a:t>G.  Data Reality / Findings</a:t>
            </a:r>
          </a:p>
          <a:p>
            <a:pPr lvl="1">
              <a:lnSpc>
                <a:spcPct val="115000"/>
              </a:lnSpc>
              <a:spcAft>
                <a:spcPts val="200"/>
              </a:spcAft>
              <a:buChar char="–"/>
            </a:pPr>
            <a:r>
              <a:rPr sz="1400" dirty="0">
                <a:solidFill>
                  <a:srgbClr val="1F2937"/>
                </a:solidFill>
                <a:latin typeface="Calibri"/>
              </a:rPr>
              <a:t>What's reliable, what isn't, key gaps</a:t>
            </a:r>
          </a:p>
          <a:p>
            <a:pPr>
              <a:lnSpc>
                <a:spcPct val="115000"/>
              </a:lnSpc>
              <a:spcAft>
                <a:spcPts val="200"/>
              </a:spcAft>
              <a:buChar char="■"/>
            </a:pPr>
            <a:endParaRPr sz="1400" dirty="0">
              <a:solidFill>
                <a:srgbClr val="1F2937"/>
              </a:solidFill>
              <a:latin typeface="Calibri"/>
            </a:endParaRPr>
          </a:p>
          <a:p>
            <a:pPr>
              <a:lnSpc>
                <a:spcPct val="115000"/>
              </a:lnSpc>
              <a:spcAft>
                <a:spcPts val="200"/>
              </a:spcAft>
              <a:buChar char="■"/>
            </a:pPr>
            <a:r>
              <a:rPr sz="1400" dirty="0">
                <a:solidFill>
                  <a:srgbClr val="1F2937"/>
                </a:solidFill>
                <a:latin typeface="Calibri"/>
              </a:rPr>
              <a:t>H.  Clarifications Needed from JSW</a:t>
            </a:r>
          </a:p>
          <a:p>
            <a:pPr>
              <a:lnSpc>
                <a:spcPct val="115000"/>
              </a:lnSpc>
              <a:spcAft>
                <a:spcPts val="200"/>
              </a:spcAft>
              <a:buChar char="■"/>
            </a:pPr>
            <a:endParaRPr sz="1400" dirty="0">
              <a:solidFill>
                <a:srgbClr val="1F2937"/>
              </a:solidFill>
              <a:latin typeface="Calibri"/>
            </a:endParaRPr>
          </a:p>
          <a:p>
            <a:pPr>
              <a:lnSpc>
                <a:spcPct val="115000"/>
              </a:lnSpc>
              <a:spcAft>
                <a:spcPts val="200"/>
              </a:spcAft>
              <a:buChar char="■"/>
            </a:pPr>
            <a:r>
              <a:rPr sz="1400" dirty="0">
                <a:solidFill>
                  <a:srgbClr val="1F2937"/>
                </a:solidFill>
                <a:latin typeface="Calibri"/>
              </a:rPr>
              <a:t>I.  Path Forward + J.  Close</a:t>
            </a:r>
          </a:p>
        </p:txBody>
      </p:sp>
      <p:pic>
        <p:nvPicPr>
          <p:cNvPr id="12" name="Picture 11" descr="A purple and orange text&#10;&#10;AI-generated content may be incorrect.">
            <a:extLst>
              <a:ext uri="{FF2B5EF4-FFF2-40B4-BE49-F238E27FC236}">
                <a16:creationId xmlns:a16="http://schemas.microsoft.com/office/drawing/2014/main" id="{9CF65972-0B91-88E7-E1C3-5A4B84E33C19}"/>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A · PROJECT FOUNDATION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Project goal and scope</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a:t>
            </a:r>
          </a:p>
        </p:txBody>
      </p:sp>
      <p:sp>
        <p:nvSpPr>
          <p:cNvPr id="8" name="TextBox 7"/>
          <p:cNvSpPr txBox="1"/>
          <p:nvPr/>
        </p:nvSpPr>
        <p:spPr>
          <a:xfrm>
            <a:off x="640080" y="1463040"/>
            <a:ext cx="5303520" cy="365760"/>
          </a:xfrm>
          <a:prstGeom prst="rect">
            <a:avLst/>
          </a:prstGeom>
          <a:noFill/>
        </p:spPr>
        <p:txBody>
          <a:bodyPr wrap="square" lIns="45720" tIns="18288" rIns="45720" bIns="18288" anchor="t">
            <a:spAutoFit/>
          </a:bodyPr>
          <a:lstStyle/>
          <a:p>
            <a:pPr algn="l"/>
            <a:r>
              <a:rPr sz="1100" b="1" i="0">
                <a:solidFill>
                  <a:srgbClr val="C28B1B"/>
                </a:solidFill>
                <a:latin typeface="Calibri"/>
              </a:rPr>
              <a:t>THE OPERATIONAL CHALLENGE</a:t>
            </a:r>
          </a:p>
        </p:txBody>
      </p:sp>
      <p:sp>
        <p:nvSpPr>
          <p:cNvPr id="9" name="TextBox 8"/>
          <p:cNvSpPr txBox="1"/>
          <p:nvPr/>
        </p:nvSpPr>
        <p:spPr>
          <a:xfrm>
            <a:off x="640080" y="1828800"/>
            <a:ext cx="5303520" cy="4389120"/>
          </a:xfrm>
          <a:prstGeom prst="rect">
            <a:avLst/>
          </a:prstGeom>
          <a:noFill/>
        </p:spPr>
        <p:txBody>
          <a:bodyPr wrap="square" lIns="45720" tIns="18288" rIns="45720" bIns="18288" anchor="t">
            <a:spAutoFit/>
          </a:bodyPr>
          <a:lstStyle/>
          <a:p>
            <a:pPr algn="l"/>
            <a:r>
              <a:rPr sz="1400" b="0" i="0">
                <a:solidFill>
                  <a:srgbClr val="1F2937"/>
                </a:solidFill>
                <a:latin typeface="Calibri"/>
              </a:rPr>
              <a:t>JSW Vijayanagar Works operates a hot metal distribution network connecting 7 producers (BF1–BF5, COREX1, COREX2) to 4 steel melting shops (SMS-1 through SMS-4) using a fleet of 53 torpedo ladles.</a:t>
            </a:r>
          </a:p>
          <a:p>
            <a:pPr algn="l"/>
            <a:endParaRPr sz="1400" b="0" i="0">
              <a:solidFill>
                <a:srgbClr val="1F2937"/>
              </a:solidFill>
              <a:latin typeface="Calibri"/>
            </a:endParaRPr>
          </a:p>
          <a:p>
            <a:pPr algn="l"/>
            <a:r>
              <a:rPr sz="1400" b="0" i="0">
                <a:solidFill>
                  <a:srgbClr val="1F2937"/>
                </a:solidFill>
                <a:latin typeface="Calibri"/>
              </a:rPr>
              <a:t>Coordinating torpedo allocation, trip planning, real-time tracking, and per-trip lifecycle management across the network is operationally complex and currently relies on disparate sources of data without a unified planning or monitoring layer.</a:t>
            </a:r>
          </a:p>
        </p:txBody>
      </p:sp>
      <p:sp>
        <p:nvSpPr>
          <p:cNvPr id="10" name="Rectangle 9"/>
          <p:cNvSpPr/>
          <p:nvPr/>
        </p:nvSpPr>
        <p:spPr>
          <a:xfrm>
            <a:off x="6080760" y="1463040"/>
            <a:ext cx="11430" cy="4572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463040"/>
            <a:ext cx="5303520" cy="365760"/>
          </a:xfrm>
          <a:prstGeom prst="rect">
            <a:avLst/>
          </a:prstGeom>
          <a:noFill/>
        </p:spPr>
        <p:txBody>
          <a:bodyPr wrap="square" lIns="45720" tIns="18288" rIns="45720" bIns="18288" anchor="t">
            <a:spAutoFit/>
          </a:bodyPr>
          <a:lstStyle/>
          <a:p>
            <a:pPr algn="l"/>
            <a:r>
              <a:rPr sz="1100" b="1" i="0">
                <a:solidFill>
                  <a:srgbClr val="C28B1B"/>
                </a:solidFill>
                <a:latin typeface="Calibri"/>
              </a:rPr>
              <a:t>WHAT HMD DELIVERS</a:t>
            </a:r>
          </a:p>
        </p:txBody>
      </p:sp>
      <p:sp>
        <p:nvSpPr>
          <p:cNvPr id="12" name="TextBox 11"/>
          <p:cNvSpPr txBox="1"/>
          <p:nvPr/>
        </p:nvSpPr>
        <p:spPr>
          <a:xfrm>
            <a:off x="6355080" y="1828800"/>
            <a:ext cx="5303520" cy="4572000"/>
          </a:xfrm>
          <a:prstGeom prst="rect">
            <a:avLst/>
          </a:prstGeom>
          <a:noFill/>
        </p:spPr>
        <p:txBody>
          <a:bodyPr wrap="square" lIns="45720">
            <a:spAutoFit/>
          </a:bodyPr>
          <a:lstStyle/>
          <a:p>
            <a:pPr>
              <a:lnSpc>
                <a:spcPct val="115000"/>
              </a:lnSpc>
              <a:spcAft>
                <a:spcPts val="200"/>
              </a:spcAft>
              <a:buChar char="■"/>
            </a:pPr>
            <a:r>
              <a:rPr sz="1250">
                <a:solidFill>
                  <a:srgbClr val="1F2937"/>
                </a:solidFill>
                <a:latin typeface="Calibri"/>
              </a:rPr>
              <a:t>Centralised real-time view of every torpedo and every trip</a:t>
            </a:r>
          </a:p>
          <a:p>
            <a:pPr>
              <a:lnSpc>
                <a:spcPct val="115000"/>
              </a:lnSpc>
              <a:spcAft>
                <a:spcPts val="200"/>
              </a:spcAft>
              <a:buChar char="■"/>
            </a:pPr>
            <a:r>
              <a:rPr sz="1250">
                <a:solidFill>
                  <a:srgbClr val="1F2937"/>
                </a:solidFill>
                <a:latin typeface="Calibri"/>
              </a:rPr>
              <a:t>Role-based access for Admin, Producer, Consumer operators</a:t>
            </a:r>
          </a:p>
          <a:p>
            <a:pPr>
              <a:lnSpc>
                <a:spcPct val="115000"/>
              </a:lnSpc>
              <a:spcAft>
                <a:spcPts val="200"/>
              </a:spcAft>
              <a:buChar char="■"/>
            </a:pPr>
            <a:r>
              <a:rPr sz="1250">
                <a:solidFill>
                  <a:srgbClr val="1F2937"/>
                </a:solidFill>
                <a:latin typeface="Calibri"/>
              </a:rPr>
              <a:t>Daily and monthly planning with optimisation (PuLP) for route assignment</a:t>
            </a:r>
          </a:p>
          <a:p>
            <a:pPr>
              <a:lnSpc>
                <a:spcPct val="115000"/>
              </a:lnSpc>
              <a:spcAft>
                <a:spcPts val="200"/>
              </a:spcAft>
              <a:buChar char="■"/>
            </a:pPr>
            <a:r>
              <a:rPr sz="1250">
                <a:solidFill>
                  <a:srgbClr val="1F2937"/>
                </a:solidFill>
                <a:latin typeface="Calibri"/>
              </a:rPr>
              <a:t>Trip lifecycle management — 16 distinct states from creation to completion</a:t>
            </a:r>
          </a:p>
          <a:p>
            <a:pPr>
              <a:lnSpc>
                <a:spcPct val="115000"/>
              </a:lnSpc>
              <a:spcAft>
                <a:spcPts val="200"/>
              </a:spcAft>
              <a:buChar char="■"/>
            </a:pPr>
            <a:r>
              <a:rPr sz="1250">
                <a:solidFill>
                  <a:srgbClr val="1F2937"/>
                </a:solidFill>
                <a:latin typeface="Calibri"/>
              </a:rPr>
              <a:t>Per-node operations monitoring, deviation analytics, and KPI dashboards</a:t>
            </a:r>
          </a:p>
          <a:p>
            <a:pPr>
              <a:lnSpc>
                <a:spcPct val="115000"/>
              </a:lnSpc>
              <a:spcAft>
                <a:spcPts val="200"/>
              </a:spcAft>
              <a:buChar char="■"/>
            </a:pPr>
            <a:r>
              <a:rPr sz="1250">
                <a:solidFill>
                  <a:srgbClr val="1F2937"/>
                </a:solidFill>
                <a:latin typeface="Calibri"/>
              </a:rPr>
              <a:t>Audit trail, alerts, reporting (PDF/Excel), and maintenance scheduling</a:t>
            </a:r>
          </a:p>
          <a:p>
            <a:pPr>
              <a:lnSpc>
                <a:spcPct val="115000"/>
              </a:lnSpc>
              <a:spcAft>
                <a:spcPts val="200"/>
              </a:spcAft>
              <a:buChar char="■"/>
            </a:pPr>
            <a:r>
              <a:rPr sz="1250">
                <a:solidFill>
                  <a:srgbClr val="1F2937"/>
                </a:solidFill>
                <a:latin typeface="Calibri"/>
              </a:rPr>
              <a:t>Integration with JSW source systems — torpedo GPS, BF weighbridge transactions, SMS hot-metal receipts</a:t>
            </a:r>
          </a:p>
        </p:txBody>
      </p:sp>
      <p:pic>
        <p:nvPicPr>
          <p:cNvPr id="13" name="Picture 12" descr="A purple and orange text&#10;&#10;AI-generated content may be incorrect.">
            <a:extLst>
              <a:ext uri="{FF2B5EF4-FFF2-40B4-BE49-F238E27FC236}">
                <a16:creationId xmlns:a16="http://schemas.microsoft.com/office/drawing/2014/main" id="{77B27762-1AD5-7132-A94D-811AD17E6E39}"/>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A · PROJECT FOUNDATION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System architecture</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4</a:t>
            </a:r>
          </a:p>
        </p:txBody>
      </p:sp>
      <p:sp>
        <p:nvSpPr>
          <p:cNvPr id="8" name="TextBox 7"/>
          <p:cNvSpPr txBox="1"/>
          <p:nvPr/>
        </p:nvSpPr>
        <p:spPr>
          <a:xfrm>
            <a:off x="640080" y="1371600"/>
            <a:ext cx="10972800" cy="365760"/>
          </a:xfrm>
          <a:prstGeom prst="rect">
            <a:avLst/>
          </a:prstGeom>
          <a:noFill/>
        </p:spPr>
        <p:txBody>
          <a:bodyPr wrap="square" lIns="45720" tIns="18288" rIns="45720" bIns="18288" anchor="t">
            <a:spAutoFit/>
          </a:bodyPr>
          <a:lstStyle/>
          <a:p>
            <a:pPr algn="l"/>
            <a:r>
              <a:rPr sz="1000" b="1" i="0">
                <a:solidFill>
                  <a:srgbClr val="C28B1B"/>
                </a:solidFill>
                <a:latin typeface="Calibri"/>
              </a:rPr>
              <a:t>HMD ARCHITECTURE — A SINGLE WEB APPLICATION INTEGRATING THREE JSW DATA SOURCES</a:t>
            </a:r>
          </a:p>
        </p:txBody>
      </p:sp>
      <p:sp>
        <p:nvSpPr>
          <p:cNvPr id="9" name="Rectangle 8"/>
          <p:cNvSpPr/>
          <p:nvPr/>
        </p:nvSpPr>
        <p:spPr>
          <a:xfrm>
            <a:off x="914400" y="1874519"/>
            <a:ext cx="10332720" cy="64008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74519"/>
            <a:ext cx="10332720" cy="640080"/>
          </a:xfrm>
          <a:prstGeom prst="rect">
            <a:avLst/>
          </a:prstGeom>
          <a:noFill/>
        </p:spPr>
        <p:txBody>
          <a:bodyPr wrap="square" lIns="45720" tIns="18288" rIns="45720" bIns="18288" anchor="ctr">
            <a:spAutoFit/>
          </a:bodyPr>
          <a:lstStyle/>
          <a:p>
            <a:pPr algn="ctr"/>
            <a:r>
              <a:rPr sz="1200" b="1" i="0">
                <a:solidFill>
                  <a:srgbClr val="FFFFFF"/>
                </a:solidFill>
                <a:latin typeface="Calibri"/>
              </a:rPr>
              <a:t>USERS — JSW operators (Admin / Producer / Consumer roles) via web browser over JSW network</a:t>
            </a:r>
          </a:p>
        </p:txBody>
      </p:sp>
      <p:sp>
        <p:nvSpPr>
          <p:cNvPr id="11" name="Rectangle 10"/>
          <p:cNvSpPr/>
          <p:nvPr/>
        </p:nvSpPr>
        <p:spPr>
          <a:xfrm>
            <a:off x="5989320" y="2606040"/>
            <a:ext cx="182880" cy="27432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 y="2926080"/>
            <a:ext cx="10332720" cy="11887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4400" y="2926080"/>
            <a:ext cx="137160"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2971800"/>
            <a:ext cx="10058400" cy="320040"/>
          </a:xfrm>
          <a:prstGeom prst="rect">
            <a:avLst/>
          </a:prstGeom>
          <a:noFill/>
        </p:spPr>
        <p:txBody>
          <a:bodyPr wrap="square" lIns="45720" tIns="18288" rIns="45720" bIns="18288" anchor="t">
            <a:spAutoFit/>
          </a:bodyPr>
          <a:lstStyle/>
          <a:p>
            <a:pPr algn="l"/>
            <a:r>
              <a:rPr sz="1100" b="1" i="0">
                <a:solidFill>
                  <a:srgbClr val="1E3A8A"/>
                </a:solidFill>
                <a:latin typeface="Calibri"/>
              </a:rPr>
              <a:t>HMD APPLICATION — running on BF4 PC (JSW network)</a:t>
            </a:r>
          </a:p>
        </p:txBody>
      </p:sp>
      <p:sp>
        <p:nvSpPr>
          <p:cNvPr id="15" name="TextBox 14"/>
          <p:cNvSpPr txBox="1"/>
          <p:nvPr/>
        </p:nvSpPr>
        <p:spPr>
          <a:xfrm>
            <a:off x="1143000" y="3291840"/>
            <a:ext cx="10058400" cy="777240"/>
          </a:xfrm>
          <a:prstGeom prst="rect">
            <a:avLst/>
          </a:prstGeom>
          <a:noFill/>
        </p:spPr>
        <p:txBody>
          <a:bodyPr wrap="square" lIns="45720" tIns="18288" rIns="45720" bIns="18288" anchor="t">
            <a:spAutoFit/>
          </a:bodyPr>
          <a:lstStyle/>
          <a:p>
            <a:pPr algn="l"/>
            <a:r>
              <a:rPr sz="1050" b="0" i="0">
                <a:solidFill>
                  <a:srgbClr val="1F2937"/>
                </a:solidFill>
                <a:latin typeface="Calibri"/>
              </a:rPr>
              <a:t>• Frontend (React + Vite) — Dashboard, Trip Mgmt, Planning, Operations, Statistics, Reports, Audit, Fleet, Maintenance, Settings</a:t>
            </a:r>
          </a:p>
          <a:p>
            <a:pPr algn="l"/>
            <a:r>
              <a:rPr sz="1050" b="0" i="0">
                <a:solidFill>
                  <a:srgbClr val="1F2937"/>
                </a:solidFill>
                <a:latin typeface="Calibri"/>
              </a:rPr>
              <a:t>• Backend (FastAPI + Python) — REST API, RBAC, JWT auth, audit trail, alert detector, optimisation engine, scheduled syncs (APScheduler)</a:t>
            </a:r>
          </a:p>
          <a:p>
            <a:pPr algn="l"/>
            <a:r>
              <a:rPr sz="1050" b="0" i="0">
                <a:solidFill>
                  <a:srgbClr val="1F2937"/>
                </a:solidFill>
                <a:latin typeface="Calibri"/>
              </a:rPr>
              <a:t>• Local storage (PostgreSQL + Redis) — application state, mirrors of upstream data, fleet &amp; trip records, configs</a:t>
            </a:r>
          </a:p>
        </p:txBody>
      </p:sp>
      <p:sp>
        <p:nvSpPr>
          <p:cNvPr id="16" name="Rectangle 15"/>
          <p:cNvSpPr/>
          <p:nvPr/>
        </p:nvSpPr>
        <p:spPr>
          <a:xfrm>
            <a:off x="5989320" y="4206240"/>
            <a:ext cx="182880" cy="27432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14400" y="4526280"/>
            <a:ext cx="320040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 y="4526280"/>
            <a:ext cx="320040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526280"/>
            <a:ext cx="3017520" cy="411480"/>
          </a:xfrm>
          <a:prstGeom prst="rect">
            <a:avLst/>
          </a:prstGeom>
          <a:noFill/>
        </p:spPr>
        <p:txBody>
          <a:bodyPr wrap="square" lIns="45720" tIns="18288" rIns="45720" bIns="18288" anchor="ctr">
            <a:spAutoFit/>
          </a:bodyPr>
          <a:lstStyle/>
          <a:p>
            <a:pPr algn="l"/>
            <a:r>
              <a:rPr sz="1200" b="1" i="0">
                <a:solidFill>
                  <a:srgbClr val="FFFFFF"/>
                </a:solidFill>
                <a:latin typeface="Calibri"/>
              </a:rPr>
              <a:t>SuVeechi MySQL</a:t>
            </a:r>
          </a:p>
        </p:txBody>
      </p:sp>
      <p:sp>
        <p:nvSpPr>
          <p:cNvPr id="20" name="TextBox 19"/>
          <p:cNvSpPr txBox="1"/>
          <p:nvPr/>
        </p:nvSpPr>
        <p:spPr>
          <a:xfrm>
            <a:off x="1005840" y="4983480"/>
            <a:ext cx="3017520" cy="274320"/>
          </a:xfrm>
          <a:prstGeom prst="rect">
            <a:avLst/>
          </a:prstGeom>
          <a:noFill/>
        </p:spPr>
        <p:txBody>
          <a:bodyPr wrap="square" lIns="45720" tIns="18288" rIns="45720" bIns="18288" anchor="t">
            <a:spAutoFit/>
          </a:bodyPr>
          <a:lstStyle/>
          <a:p>
            <a:pPr algn="l"/>
            <a:r>
              <a:rPr sz="1000" b="0" i="1">
                <a:solidFill>
                  <a:srgbClr val="3B5BA9"/>
                </a:solidFill>
                <a:latin typeface="Calibri"/>
              </a:rPr>
              <a:t>Real-time torpedo GPS</a:t>
            </a:r>
          </a:p>
        </p:txBody>
      </p:sp>
      <p:sp>
        <p:nvSpPr>
          <p:cNvPr id="21" name="TextBox 20"/>
          <p:cNvSpPr txBox="1"/>
          <p:nvPr/>
        </p:nvSpPr>
        <p:spPr>
          <a:xfrm>
            <a:off x="1005840" y="5257800"/>
            <a:ext cx="3017520" cy="777240"/>
          </a:xfrm>
          <a:prstGeom prst="rect">
            <a:avLst/>
          </a:prstGeom>
          <a:noFill/>
        </p:spPr>
        <p:txBody>
          <a:bodyPr wrap="square" lIns="45720" tIns="18288" rIns="45720" bIns="18288" anchor="t">
            <a:spAutoFit/>
          </a:bodyPr>
          <a:lstStyle/>
          <a:p>
            <a:pPr algn="l"/>
            <a:r>
              <a:rPr sz="1000" b="0" i="0">
                <a:solidFill>
                  <a:srgbClr val="1F2937"/>
                </a:solidFill>
                <a:latin typeface="Calibri"/>
              </a:rPr>
              <a:t>• vw_unit_status_ist
• 53 torpedoes
• 10-second refresh
• Live since 06-May-2026</a:t>
            </a:r>
          </a:p>
        </p:txBody>
      </p:sp>
      <p:sp>
        <p:nvSpPr>
          <p:cNvPr id="22" name="Rectangle 21"/>
          <p:cNvSpPr/>
          <p:nvPr/>
        </p:nvSpPr>
        <p:spPr>
          <a:xfrm>
            <a:off x="4498848" y="4526280"/>
            <a:ext cx="320040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98848" y="4526280"/>
            <a:ext cx="320040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4526280"/>
            <a:ext cx="3017520" cy="411480"/>
          </a:xfrm>
          <a:prstGeom prst="rect">
            <a:avLst/>
          </a:prstGeom>
          <a:noFill/>
        </p:spPr>
        <p:txBody>
          <a:bodyPr wrap="square" lIns="45720" tIns="18288" rIns="45720" bIns="18288" anchor="ctr">
            <a:spAutoFit/>
          </a:bodyPr>
          <a:lstStyle/>
          <a:p>
            <a:pPr algn="l"/>
            <a:r>
              <a:rPr sz="1200" b="1" i="0">
                <a:solidFill>
                  <a:srgbClr val="FFFFFF"/>
                </a:solidFill>
                <a:latin typeface="Calibri"/>
              </a:rPr>
              <a:t>WBATNGL Oracle</a:t>
            </a:r>
          </a:p>
        </p:txBody>
      </p:sp>
      <p:sp>
        <p:nvSpPr>
          <p:cNvPr id="25" name="TextBox 24"/>
          <p:cNvSpPr txBox="1"/>
          <p:nvPr/>
        </p:nvSpPr>
        <p:spPr>
          <a:xfrm>
            <a:off x="4590288" y="4983480"/>
            <a:ext cx="3017520" cy="274320"/>
          </a:xfrm>
          <a:prstGeom prst="rect">
            <a:avLst/>
          </a:prstGeom>
          <a:noFill/>
        </p:spPr>
        <p:txBody>
          <a:bodyPr wrap="square" lIns="45720" tIns="18288" rIns="45720" bIns="18288" anchor="t">
            <a:spAutoFit/>
          </a:bodyPr>
          <a:lstStyle/>
          <a:p>
            <a:pPr algn="l"/>
            <a:r>
              <a:rPr sz="1000" b="0" i="1">
                <a:solidFill>
                  <a:srgbClr val="3B5BA9"/>
                </a:solidFill>
                <a:latin typeface="Calibri"/>
              </a:rPr>
              <a:t>BF weighbridge transactions</a:t>
            </a:r>
          </a:p>
        </p:txBody>
      </p:sp>
      <p:sp>
        <p:nvSpPr>
          <p:cNvPr id="26" name="TextBox 25"/>
          <p:cNvSpPr txBox="1"/>
          <p:nvPr/>
        </p:nvSpPr>
        <p:spPr>
          <a:xfrm>
            <a:off x="4590288" y="5257800"/>
            <a:ext cx="3017520" cy="777240"/>
          </a:xfrm>
          <a:prstGeom prst="rect">
            <a:avLst/>
          </a:prstGeom>
          <a:noFill/>
        </p:spPr>
        <p:txBody>
          <a:bodyPr wrap="square" lIns="45720" tIns="18288" rIns="45720" bIns="18288" anchor="t">
            <a:spAutoFit/>
          </a:bodyPr>
          <a:lstStyle/>
          <a:p>
            <a:pPr algn="l"/>
            <a:r>
              <a:rPr sz="1000" b="0" i="0">
                <a:solidFill>
                  <a:srgbClr val="1F2937"/>
                </a:solidFill>
                <a:latin typeface="Calibri"/>
              </a:rPr>
              <a:t>• BF3 + BF5 schemas
• 8 of 9 views working
• 60-second sync
• Trip mirror since 08-May-2026</a:t>
            </a:r>
          </a:p>
        </p:txBody>
      </p:sp>
      <p:sp>
        <p:nvSpPr>
          <p:cNvPr id="27" name="Rectangle 26"/>
          <p:cNvSpPr/>
          <p:nvPr/>
        </p:nvSpPr>
        <p:spPr>
          <a:xfrm>
            <a:off x="8074152" y="4526280"/>
            <a:ext cx="320040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74152" y="4526280"/>
            <a:ext cx="320040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65592" y="4526280"/>
            <a:ext cx="3017520" cy="411480"/>
          </a:xfrm>
          <a:prstGeom prst="rect">
            <a:avLst/>
          </a:prstGeom>
          <a:noFill/>
        </p:spPr>
        <p:txBody>
          <a:bodyPr wrap="square" lIns="45720" tIns="18288" rIns="45720" bIns="18288" anchor="ctr">
            <a:spAutoFit/>
          </a:bodyPr>
          <a:lstStyle/>
          <a:p>
            <a:pPr algn="l"/>
            <a:r>
              <a:rPr sz="1200" b="1" i="0">
                <a:solidFill>
                  <a:srgbClr val="FFFFFF"/>
                </a:solidFill>
                <a:latin typeface="Calibri"/>
              </a:rPr>
              <a:t>HTS Oracle</a:t>
            </a:r>
          </a:p>
        </p:txBody>
      </p:sp>
      <p:sp>
        <p:nvSpPr>
          <p:cNvPr id="30" name="TextBox 29"/>
          <p:cNvSpPr txBox="1"/>
          <p:nvPr/>
        </p:nvSpPr>
        <p:spPr>
          <a:xfrm>
            <a:off x="8165592" y="4983480"/>
            <a:ext cx="3017520" cy="274320"/>
          </a:xfrm>
          <a:prstGeom prst="rect">
            <a:avLst/>
          </a:prstGeom>
          <a:noFill/>
        </p:spPr>
        <p:txBody>
          <a:bodyPr wrap="square" lIns="45720" tIns="18288" rIns="45720" bIns="18288" anchor="t">
            <a:spAutoFit/>
          </a:bodyPr>
          <a:lstStyle/>
          <a:p>
            <a:pPr algn="l"/>
            <a:r>
              <a:rPr sz="1000" b="0" i="1">
                <a:solidFill>
                  <a:srgbClr val="3B5BA9"/>
                </a:solidFill>
                <a:latin typeface="Calibri"/>
              </a:rPr>
              <a:t>SMS hot-metal heats</a:t>
            </a:r>
          </a:p>
        </p:txBody>
      </p:sp>
      <p:sp>
        <p:nvSpPr>
          <p:cNvPr id="31" name="TextBox 30"/>
          <p:cNvSpPr txBox="1"/>
          <p:nvPr/>
        </p:nvSpPr>
        <p:spPr>
          <a:xfrm>
            <a:off x="8165592" y="5257800"/>
            <a:ext cx="3017520" cy="777240"/>
          </a:xfrm>
          <a:prstGeom prst="rect">
            <a:avLst/>
          </a:prstGeom>
          <a:noFill/>
        </p:spPr>
        <p:txBody>
          <a:bodyPr wrap="square" lIns="45720" tIns="18288" rIns="45720" bIns="18288" anchor="t">
            <a:spAutoFit/>
          </a:bodyPr>
          <a:lstStyle/>
          <a:p>
            <a:pPr algn="l"/>
            <a:r>
              <a:rPr sz="1000" b="0" i="0">
                <a:solidFill>
                  <a:srgbClr val="1F2937"/>
                </a:solidFill>
                <a:latin typeface="Calibri"/>
              </a:rPr>
              <a:t>• VW_HTS_HOTMETAL_DATA
• JVMLPROD instance
• 5-minute sync
• Access set up 11-May-2026</a:t>
            </a:r>
          </a:p>
        </p:txBody>
      </p:sp>
      <p:pic>
        <p:nvPicPr>
          <p:cNvPr id="32" name="Picture 31" descr="A purple and orange text&#10;&#10;AI-generated content may be incorrect.">
            <a:extLst>
              <a:ext uri="{FF2B5EF4-FFF2-40B4-BE49-F238E27FC236}">
                <a16:creationId xmlns:a16="http://schemas.microsoft.com/office/drawing/2014/main" id="{2464B467-5AA7-0187-5694-A515F8C59E80}"/>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B</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Project Timeline</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Original plan, actual progress, and where we stand today.</a:t>
            </a:r>
          </a:p>
        </p:txBody>
      </p:sp>
      <p:pic>
        <p:nvPicPr>
          <p:cNvPr id="6" name="Picture 5">
            <a:extLst>
              <a:ext uri="{FF2B5EF4-FFF2-40B4-BE49-F238E27FC236}">
                <a16:creationId xmlns:a16="http://schemas.microsoft.com/office/drawing/2014/main" id="{C93CEE55-09EA-EF9E-3096-06F6A81F0F18}"/>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B · PROJECT TIMELINE</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Original plan — five milestones, Dec 2025 to Aug 2026</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6</a:t>
            </a:r>
          </a:p>
        </p:txBody>
      </p:sp>
      <p:graphicFrame>
        <p:nvGraphicFramePr>
          <p:cNvPr id="8" name="Table 7"/>
          <p:cNvGraphicFramePr>
            <a:graphicFrameLocks noGrp="1"/>
          </p:cNvGraphicFramePr>
          <p:nvPr/>
        </p:nvGraphicFramePr>
        <p:xfrm>
          <a:off x="640080" y="1554480"/>
          <a:ext cx="10972800" cy="246888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11480">
                <a:tc>
                  <a:txBody>
                    <a:bodyPr/>
                    <a:lstStyle/>
                    <a:p>
                      <a:pPr algn="l"/>
                      <a:r>
                        <a:rPr sz="1300" b="1">
                          <a:solidFill>
                            <a:srgbClr val="FFFFFF"/>
                          </a:solidFill>
                          <a:latin typeface="Calibri"/>
                        </a:rPr>
                        <a:t>ID</a:t>
                      </a:r>
                    </a:p>
                  </a:txBody>
                  <a:tcPr>
                    <a:solidFill>
                      <a:srgbClr val="1E3A8A"/>
                    </a:solidFill>
                  </a:tcPr>
                </a:tc>
                <a:tc>
                  <a:txBody>
                    <a:bodyPr/>
                    <a:lstStyle/>
                    <a:p>
                      <a:pPr algn="l"/>
                      <a:r>
                        <a:rPr sz="1300" b="1">
                          <a:solidFill>
                            <a:srgbClr val="FFFFFF"/>
                          </a:solidFill>
                          <a:latin typeface="Calibri"/>
                        </a:rPr>
                        <a:t>Milestone</a:t>
                      </a:r>
                    </a:p>
                  </a:txBody>
                  <a:tcPr>
                    <a:solidFill>
                      <a:srgbClr val="1E3A8A"/>
                    </a:solidFill>
                  </a:tcPr>
                </a:tc>
                <a:tc>
                  <a:txBody>
                    <a:bodyPr/>
                    <a:lstStyle/>
                    <a:p>
                      <a:pPr algn="l"/>
                      <a:r>
                        <a:rPr sz="1300" b="1">
                          <a:solidFill>
                            <a:srgbClr val="FFFFFF"/>
                          </a:solidFill>
                          <a:latin typeface="Calibri"/>
                        </a:rPr>
                        <a:t>Start Date</a:t>
                      </a:r>
                    </a:p>
                  </a:txBody>
                  <a:tcPr>
                    <a:solidFill>
                      <a:srgbClr val="1E3A8A"/>
                    </a:solidFill>
                  </a:tcPr>
                </a:tc>
                <a:tc>
                  <a:txBody>
                    <a:bodyPr/>
                    <a:lstStyle/>
                    <a:p>
                      <a:pPr algn="l"/>
                      <a:r>
                        <a:rPr sz="1300" b="1">
                          <a:solidFill>
                            <a:srgbClr val="FFFFFF"/>
                          </a:solidFill>
                          <a:latin typeface="Calibri"/>
                        </a:rPr>
                        <a:t>End Date</a:t>
                      </a:r>
                    </a:p>
                  </a:txBody>
                  <a:tcPr>
                    <a:solidFill>
                      <a:srgbClr val="1E3A8A"/>
                    </a:solidFill>
                  </a:tcPr>
                </a:tc>
                <a:tc>
                  <a:txBody>
                    <a:bodyPr/>
                    <a:lstStyle/>
                    <a:p>
                      <a:pPr algn="l"/>
                      <a:r>
                        <a:rPr sz="1300" b="1">
                          <a:solidFill>
                            <a:srgbClr val="FFFFFF"/>
                          </a:solidFill>
                          <a:latin typeface="Calibri"/>
                        </a:rPr>
                        <a:t>Status as of 14-May-2026</a:t>
                      </a:r>
                    </a:p>
                  </a:txBody>
                  <a:tcPr>
                    <a:solidFill>
                      <a:srgbClr val="1E3A8A"/>
                    </a:solidFill>
                  </a:tcPr>
                </a:tc>
                <a:extLst>
                  <a:ext uri="{0D108BD9-81ED-4DB2-BD59-A6C34878D82A}">
                    <a16:rowId xmlns:a16="http://schemas.microsoft.com/office/drawing/2014/main" val="10000"/>
                  </a:ext>
                </a:extLst>
              </a:tr>
              <a:tr h="411480">
                <a:tc>
                  <a:txBody>
                    <a:bodyPr/>
                    <a:lstStyle/>
                    <a:p>
                      <a:pPr algn="l"/>
                      <a:r>
                        <a:rPr sz="1300" b="0">
                          <a:solidFill>
                            <a:srgbClr val="1F2937"/>
                          </a:solidFill>
                          <a:latin typeface="Calibri"/>
                        </a:rPr>
                        <a:t>M1</a:t>
                      </a:r>
                    </a:p>
                  </a:txBody>
                  <a:tcPr>
                    <a:solidFill>
                      <a:srgbClr val="FFFFFF"/>
                    </a:solidFill>
                  </a:tcPr>
                </a:tc>
                <a:tc>
                  <a:txBody>
                    <a:bodyPr/>
                    <a:lstStyle/>
                    <a:p>
                      <a:pPr algn="l"/>
                      <a:r>
                        <a:rPr sz="1300" b="0">
                          <a:solidFill>
                            <a:srgbClr val="1F2937"/>
                          </a:solidFill>
                          <a:latin typeface="Calibri"/>
                        </a:rPr>
                        <a:t>Requirements Collection &amp; Design</a:t>
                      </a:r>
                    </a:p>
                  </a:txBody>
                  <a:tcPr>
                    <a:solidFill>
                      <a:srgbClr val="FFFFFF"/>
                    </a:solidFill>
                  </a:tcPr>
                </a:tc>
                <a:tc>
                  <a:txBody>
                    <a:bodyPr/>
                    <a:lstStyle/>
                    <a:p>
                      <a:pPr algn="l"/>
                      <a:r>
                        <a:rPr sz="1300" b="0">
                          <a:solidFill>
                            <a:srgbClr val="1F2937"/>
                          </a:solidFill>
                          <a:latin typeface="Calibri"/>
                        </a:rPr>
                        <a:t>08-Dec-2025</a:t>
                      </a:r>
                    </a:p>
                  </a:txBody>
                  <a:tcPr>
                    <a:solidFill>
                      <a:srgbClr val="FFFFFF"/>
                    </a:solidFill>
                  </a:tcPr>
                </a:tc>
                <a:tc>
                  <a:txBody>
                    <a:bodyPr/>
                    <a:lstStyle/>
                    <a:p>
                      <a:pPr algn="l"/>
                      <a:r>
                        <a:rPr sz="1300" b="0">
                          <a:solidFill>
                            <a:srgbClr val="1F2937"/>
                          </a:solidFill>
                          <a:latin typeface="Calibri"/>
                        </a:rPr>
                        <a:t>15-Jan-2026</a:t>
                      </a:r>
                    </a:p>
                  </a:txBody>
                  <a:tcPr>
                    <a:solidFill>
                      <a:srgbClr val="FFFFFF"/>
                    </a:solidFill>
                  </a:tcPr>
                </a:tc>
                <a:tc>
                  <a:txBody>
                    <a:bodyPr/>
                    <a:lstStyle/>
                    <a:p>
                      <a:pPr algn="l"/>
                      <a:r>
                        <a:rPr sz="1300" b="1">
                          <a:solidFill>
                            <a:srgbClr val="15803D"/>
                          </a:solidFill>
                          <a:latin typeface="Calibri"/>
                        </a:rPr>
                        <a:t>Complete</a:t>
                      </a:r>
                    </a:p>
                  </a:txBody>
                  <a:tcPr>
                    <a:solidFill>
                      <a:srgbClr val="FFFFFF"/>
                    </a:solidFill>
                  </a:tcPr>
                </a:tc>
                <a:extLst>
                  <a:ext uri="{0D108BD9-81ED-4DB2-BD59-A6C34878D82A}">
                    <a16:rowId xmlns:a16="http://schemas.microsoft.com/office/drawing/2014/main" val="10001"/>
                  </a:ext>
                </a:extLst>
              </a:tr>
              <a:tr h="411480">
                <a:tc>
                  <a:txBody>
                    <a:bodyPr/>
                    <a:lstStyle/>
                    <a:p>
                      <a:pPr algn="l"/>
                      <a:r>
                        <a:rPr sz="1300" b="0">
                          <a:solidFill>
                            <a:srgbClr val="1F2937"/>
                          </a:solidFill>
                          <a:latin typeface="Calibri"/>
                        </a:rPr>
                        <a:t>M2</a:t>
                      </a:r>
                    </a:p>
                  </a:txBody>
                  <a:tcPr>
                    <a:solidFill>
                      <a:srgbClr val="F8FAFC"/>
                    </a:solidFill>
                  </a:tcPr>
                </a:tc>
                <a:tc>
                  <a:txBody>
                    <a:bodyPr/>
                    <a:lstStyle/>
                    <a:p>
                      <a:pPr algn="l"/>
                      <a:r>
                        <a:rPr sz="1300" b="0">
                          <a:solidFill>
                            <a:srgbClr val="1F2937"/>
                          </a:solidFill>
                          <a:latin typeface="Calibri"/>
                        </a:rPr>
                        <a:t>Core HMD Development</a:t>
                      </a:r>
                    </a:p>
                  </a:txBody>
                  <a:tcPr>
                    <a:solidFill>
                      <a:srgbClr val="F8FAFC"/>
                    </a:solidFill>
                  </a:tcPr>
                </a:tc>
                <a:tc>
                  <a:txBody>
                    <a:bodyPr/>
                    <a:lstStyle/>
                    <a:p>
                      <a:pPr algn="l"/>
                      <a:r>
                        <a:rPr sz="1300" b="0">
                          <a:solidFill>
                            <a:srgbClr val="1F2937"/>
                          </a:solidFill>
                          <a:latin typeface="Calibri"/>
                        </a:rPr>
                        <a:t>15-Jan-2026</a:t>
                      </a:r>
                    </a:p>
                  </a:txBody>
                  <a:tcPr>
                    <a:solidFill>
                      <a:srgbClr val="F8FAFC"/>
                    </a:solidFill>
                  </a:tcPr>
                </a:tc>
                <a:tc>
                  <a:txBody>
                    <a:bodyPr/>
                    <a:lstStyle/>
                    <a:p>
                      <a:pPr algn="l"/>
                      <a:r>
                        <a:rPr sz="1300" b="0">
                          <a:solidFill>
                            <a:srgbClr val="1F2937"/>
                          </a:solidFill>
                          <a:latin typeface="Calibri"/>
                        </a:rPr>
                        <a:t>22-May-2026</a:t>
                      </a:r>
                    </a:p>
                  </a:txBody>
                  <a:tcPr>
                    <a:solidFill>
                      <a:srgbClr val="F8FAFC"/>
                    </a:solidFill>
                  </a:tcPr>
                </a:tc>
                <a:tc>
                  <a:txBody>
                    <a:bodyPr/>
                    <a:lstStyle/>
                    <a:p>
                      <a:pPr algn="l"/>
                      <a:r>
                        <a:rPr sz="1300" b="1">
                          <a:solidFill>
                            <a:srgbClr val="15803D"/>
                          </a:solidFill>
                          <a:latin typeface="Calibri"/>
                        </a:rPr>
                        <a:t>98% — Active</a:t>
                      </a:r>
                    </a:p>
                  </a:txBody>
                  <a:tcPr>
                    <a:solidFill>
                      <a:srgbClr val="F8FAFC"/>
                    </a:solidFill>
                  </a:tcPr>
                </a:tc>
                <a:extLst>
                  <a:ext uri="{0D108BD9-81ED-4DB2-BD59-A6C34878D82A}">
                    <a16:rowId xmlns:a16="http://schemas.microsoft.com/office/drawing/2014/main" val="10002"/>
                  </a:ext>
                </a:extLst>
              </a:tr>
              <a:tr h="411480">
                <a:tc>
                  <a:txBody>
                    <a:bodyPr/>
                    <a:lstStyle/>
                    <a:p>
                      <a:pPr algn="l"/>
                      <a:r>
                        <a:rPr sz="1300" b="0">
                          <a:solidFill>
                            <a:srgbClr val="1F2937"/>
                          </a:solidFill>
                          <a:latin typeface="Calibri"/>
                        </a:rPr>
                        <a:t>M3</a:t>
                      </a:r>
                    </a:p>
                  </a:txBody>
                  <a:tcPr>
                    <a:solidFill>
                      <a:srgbClr val="FFFFFF"/>
                    </a:solidFill>
                  </a:tcPr>
                </a:tc>
                <a:tc>
                  <a:txBody>
                    <a:bodyPr/>
                    <a:lstStyle/>
                    <a:p>
                      <a:pPr algn="l"/>
                      <a:r>
                        <a:rPr sz="1300" b="0">
                          <a:solidFill>
                            <a:srgbClr val="1F2937"/>
                          </a:solidFill>
                          <a:latin typeface="Calibri"/>
                        </a:rPr>
                        <a:t>Dashboard &amp; Integration</a:t>
                      </a:r>
                    </a:p>
                  </a:txBody>
                  <a:tcPr>
                    <a:solidFill>
                      <a:srgbClr val="FFFFFF"/>
                    </a:solidFill>
                  </a:tcPr>
                </a:tc>
                <a:tc>
                  <a:txBody>
                    <a:bodyPr/>
                    <a:lstStyle/>
                    <a:p>
                      <a:pPr algn="l"/>
                      <a:r>
                        <a:rPr sz="1300" b="0">
                          <a:solidFill>
                            <a:srgbClr val="1F2937"/>
                          </a:solidFill>
                          <a:latin typeface="Calibri"/>
                        </a:rPr>
                        <a:t>15-Apr-2026</a:t>
                      </a:r>
                    </a:p>
                  </a:txBody>
                  <a:tcPr>
                    <a:solidFill>
                      <a:srgbClr val="FFFFFF"/>
                    </a:solidFill>
                  </a:tcPr>
                </a:tc>
                <a:tc>
                  <a:txBody>
                    <a:bodyPr/>
                    <a:lstStyle/>
                    <a:p>
                      <a:pPr algn="l"/>
                      <a:r>
                        <a:rPr sz="1300" b="0">
                          <a:solidFill>
                            <a:srgbClr val="1F2937"/>
                          </a:solidFill>
                          <a:latin typeface="Calibri"/>
                        </a:rPr>
                        <a:t>19-Jun-2026</a:t>
                      </a:r>
                    </a:p>
                  </a:txBody>
                  <a:tcPr>
                    <a:solidFill>
                      <a:srgbClr val="FFFFFF"/>
                    </a:solidFill>
                  </a:tcPr>
                </a:tc>
                <a:tc>
                  <a:txBody>
                    <a:bodyPr/>
                    <a:lstStyle/>
                    <a:p>
                      <a:pPr algn="l"/>
                      <a:r>
                        <a:rPr sz="1300" b="1">
                          <a:solidFill>
                            <a:srgbClr val="B45309"/>
                          </a:solidFill>
                          <a:latin typeface="Calibri"/>
                        </a:rPr>
                        <a:t>65% — Active</a:t>
                      </a:r>
                    </a:p>
                  </a:txBody>
                  <a:tcPr>
                    <a:solidFill>
                      <a:srgbClr val="FFFFFF"/>
                    </a:solidFill>
                  </a:tcPr>
                </a:tc>
                <a:extLst>
                  <a:ext uri="{0D108BD9-81ED-4DB2-BD59-A6C34878D82A}">
                    <a16:rowId xmlns:a16="http://schemas.microsoft.com/office/drawing/2014/main" val="10003"/>
                  </a:ext>
                </a:extLst>
              </a:tr>
              <a:tr h="411480">
                <a:tc>
                  <a:txBody>
                    <a:bodyPr/>
                    <a:lstStyle/>
                    <a:p>
                      <a:pPr algn="l"/>
                      <a:r>
                        <a:rPr sz="1300" b="0">
                          <a:solidFill>
                            <a:srgbClr val="1F2937"/>
                          </a:solidFill>
                          <a:latin typeface="Calibri"/>
                        </a:rPr>
                        <a:t>M4</a:t>
                      </a:r>
                    </a:p>
                  </a:txBody>
                  <a:tcPr>
                    <a:solidFill>
                      <a:srgbClr val="F8FAFC"/>
                    </a:solidFill>
                  </a:tcPr>
                </a:tc>
                <a:tc>
                  <a:txBody>
                    <a:bodyPr/>
                    <a:lstStyle/>
                    <a:p>
                      <a:pPr algn="l"/>
                      <a:r>
                        <a:rPr sz="1300" b="0">
                          <a:solidFill>
                            <a:srgbClr val="1F2937"/>
                          </a:solidFill>
                          <a:latin typeface="Calibri"/>
                        </a:rPr>
                        <a:t>Testing Simulation &amp; Pilot</a:t>
                      </a:r>
                    </a:p>
                  </a:txBody>
                  <a:tcPr>
                    <a:solidFill>
                      <a:srgbClr val="F8FAFC"/>
                    </a:solidFill>
                  </a:tcPr>
                </a:tc>
                <a:tc>
                  <a:txBody>
                    <a:bodyPr/>
                    <a:lstStyle/>
                    <a:p>
                      <a:pPr algn="l"/>
                      <a:r>
                        <a:rPr sz="1300" b="0">
                          <a:solidFill>
                            <a:srgbClr val="1F2937"/>
                          </a:solidFill>
                          <a:latin typeface="Calibri"/>
                        </a:rPr>
                        <a:t>26-Jun-2026</a:t>
                      </a:r>
                    </a:p>
                  </a:txBody>
                  <a:tcPr>
                    <a:solidFill>
                      <a:srgbClr val="F8FAFC"/>
                    </a:solidFill>
                  </a:tcPr>
                </a:tc>
                <a:tc>
                  <a:txBody>
                    <a:bodyPr/>
                    <a:lstStyle/>
                    <a:p>
                      <a:pPr algn="l"/>
                      <a:r>
                        <a:rPr sz="1300" b="0">
                          <a:solidFill>
                            <a:srgbClr val="1F2937"/>
                          </a:solidFill>
                          <a:latin typeface="Calibri"/>
                        </a:rPr>
                        <a:t>24-Jul-2026</a:t>
                      </a:r>
                    </a:p>
                  </a:txBody>
                  <a:tcPr>
                    <a:solidFill>
                      <a:srgbClr val="F8FAFC"/>
                    </a:solidFill>
                  </a:tcPr>
                </a:tc>
                <a:tc>
                  <a:txBody>
                    <a:bodyPr/>
                    <a:lstStyle/>
                    <a:p>
                      <a:pPr algn="l"/>
                      <a:r>
                        <a:rPr sz="1300" b="0">
                          <a:solidFill>
                            <a:srgbClr val="4B5563"/>
                          </a:solidFill>
                          <a:latin typeface="Calibri"/>
                        </a:rPr>
                        <a:t>Not Started</a:t>
                      </a:r>
                    </a:p>
                  </a:txBody>
                  <a:tcPr>
                    <a:solidFill>
                      <a:srgbClr val="F8FAFC"/>
                    </a:solidFill>
                  </a:tcPr>
                </a:tc>
                <a:extLst>
                  <a:ext uri="{0D108BD9-81ED-4DB2-BD59-A6C34878D82A}">
                    <a16:rowId xmlns:a16="http://schemas.microsoft.com/office/drawing/2014/main" val="10004"/>
                  </a:ext>
                </a:extLst>
              </a:tr>
              <a:tr h="411480">
                <a:tc>
                  <a:txBody>
                    <a:bodyPr/>
                    <a:lstStyle/>
                    <a:p>
                      <a:pPr algn="l"/>
                      <a:r>
                        <a:rPr sz="1300" b="0">
                          <a:solidFill>
                            <a:srgbClr val="1F2937"/>
                          </a:solidFill>
                          <a:latin typeface="Calibri"/>
                        </a:rPr>
                        <a:t>M5</a:t>
                      </a:r>
                    </a:p>
                  </a:txBody>
                  <a:tcPr>
                    <a:solidFill>
                      <a:srgbClr val="FFFFFF"/>
                    </a:solidFill>
                  </a:tcPr>
                </a:tc>
                <a:tc>
                  <a:txBody>
                    <a:bodyPr/>
                    <a:lstStyle/>
                    <a:p>
                      <a:pPr algn="l"/>
                      <a:r>
                        <a:rPr sz="1300" b="0">
                          <a:solidFill>
                            <a:srgbClr val="1F2937"/>
                          </a:solidFill>
                          <a:latin typeface="Calibri"/>
                        </a:rPr>
                        <a:t>Full Go-Live &amp; Stabilization</a:t>
                      </a:r>
                    </a:p>
                  </a:txBody>
                  <a:tcPr>
                    <a:solidFill>
                      <a:srgbClr val="FFFFFF"/>
                    </a:solidFill>
                  </a:tcPr>
                </a:tc>
                <a:tc>
                  <a:txBody>
                    <a:bodyPr/>
                    <a:lstStyle/>
                    <a:p>
                      <a:pPr algn="l"/>
                      <a:r>
                        <a:rPr sz="1300" b="0">
                          <a:solidFill>
                            <a:srgbClr val="1F2937"/>
                          </a:solidFill>
                          <a:latin typeface="Calibri"/>
                        </a:rPr>
                        <a:t>24-Jul-2026</a:t>
                      </a:r>
                    </a:p>
                  </a:txBody>
                  <a:tcPr>
                    <a:solidFill>
                      <a:srgbClr val="FFFFFF"/>
                    </a:solidFill>
                  </a:tcPr>
                </a:tc>
                <a:tc>
                  <a:txBody>
                    <a:bodyPr/>
                    <a:lstStyle/>
                    <a:p>
                      <a:pPr algn="l"/>
                      <a:r>
                        <a:rPr sz="1300" b="0">
                          <a:solidFill>
                            <a:srgbClr val="1F2937"/>
                          </a:solidFill>
                          <a:latin typeface="Calibri"/>
                        </a:rPr>
                        <a:t>07-Aug-2026</a:t>
                      </a:r>
                    </a:p>
                  </a:txBody>
                  <a:tcPr>
                    <a:solidFill>
                      <a:srgbClr val="FFFFFF"/>
                    </a:solidFill>
                  </a:tcPr>
                </a:tc>
                <a:tc>
                  <a:txBody>
                    <a:bodyPr/>
                    <a:lstStyle/>
                    <a:p>
                      <a:pPr algn="l"/>
                      <a:r>
                        <a:rPr sz="1300" b="0">
                          <a:solidFill>
                            <a:srgbClr val="4B5563"/>
                          </a:solidFill>
                          <a:latin typeface="Calibri"/>
                        </a:rPr>
                        <a:t>Not Started</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40080" y="429768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KEY POINTS</a:t>
            </a:r>
          </a:p>
        </p:txBody>
      </p:sp>
      <p:sp>
        <p:nvSpPr>
          <p:cNvPr id="10" name="TextBox 9"/>
          <p:cNvSpPr txBox="1"/>
          <p:nvPr/>
        </p:nvSpPr>
        <p:spPr>
          <a:xfrm>
            <a:off x="640080" y="4572000"/>
            <a:ext cx="10972800" cy="182880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M1 closed on schedule — requirements, hardware spec, queries baseline established.</a:t>
            </a:r>
          </a:p>
          <a:p>
            <a:pPr>
              <a:lnSpc>
                <a:spcPct val="115000"/>
              </a:lnSpc>
              <a:spcAft>
                <a:spcPts val="200"/>
              </a:spcAft>
              <a:buChar char="■"/>
            </a:pPr>
            <a:r>
              <a:rPr sz="1300">
                <a:solidFill>
                  <a:srgbClr val="1F2937"/>
                </a:solidFill>
                <a:latin typeface="Calibri"/>
              </a:rPr>
              <a:t>M2 is 98% complete — the core HMD application has shipped; remaining 2% reserved for refinements after live-data observation.</a:t>
            </a:r>
          </a:p>
          <a:p>
            <a:pPr>
              <a:lnSpc>
                <a:spcPct val="115000"/>
              </a:lnSpc>
              <a:spcAft>
                <a:spcPts val="200"/>
              </a:spcAft>
              <a:buChar char="■"/>
            </a:pPr>
            <a:r>
              <a:rPr sz="1300">
                <a:solidFill>
                  <a:srgbClr val="1F2937"/>
                </a:solidFill>
                <a:latin typeface="Calibri"/>
              </a:rPr>
              <a:t>M3 (Dashboard &amp; Integration) was blocked until April 2026 due to network and database access; now actively progressing after VPN granted 06-May-2026.</a:t>
            </a:r>
          </a:p>
          <a:p>
            <a:pPr>
              <a:lnSpc>
                <a:spcPct val="115000"/>
              </a:lnSpc>
              <a:spcAft>
                <a:spcPts val="200"/>
              </a:spcAft>
              <a:buChar char="■"/>
            </a:pPr>
            <a:r>
              <a:rPr sz="1300">
                <a:solidFill>
                  <a:srgbClr val="1F2937"/>
                </a:solidFill>
                <a:latin typeface="Calibri"/>
              </a:rPr>
              <a:t>M4 and M5 are downstream of M3 — start dates were shifted +1 week as per Weekly Report 12 (23-Apr-2026).</a:t>
            </a:r>
          </a:p>
        </p:txBody>
      </p:sp>
      <p:pic>
        <p:nvPicPr>
          <p:cNvPr id="11" name="Picture 10" descr="A purple and orange text&#10;&#10;AI-generated content may be incorrect.">
            <a:extLst>
              <a:ext uri="{FF2B5EF4-FFF2-40B4-BE49-F238E27FC236}">
                <a16:creationId xmlns:a16="http://schemas.microsoft.com/office/drawing/2014/main" id="{A751DB02-5252-B939-F26C-DAAA052D20F3}"/>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B · PROJECT TIMELINE</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What actually happened — major events on the journey</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7</a:t>
            </a:r>
          </a:p>
        </p:txBody>
      </p:sp>
      <p:graphicFrame>
        <p:nvGraphicFramePr>
          <p:cNvPr id="8" name="Table 7"/>
          <p:cNvGraphicFramePr>
            <a:graphicFrameLocks noGrp="1"/>
          </p:cNvGraphicFramePr>
          <p:nvPr/>
        </p:nvGraphicFramePr>
        <p:xfrm>
          <a:off x="640080" y="1463040"/>
          <a:ext cx="10972800" cy="48463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tblGrid>
              <a:tr h="346165">
                <a:tc>
                  <a:txBody>
                    <a:bodyPr/>
                    <a:lstStyle/>
                    <a:p>
                      <a:pPr algn="l"/>
                      <a:r>
                        <a:rPr sz="1200" b="1">
                          <a:solidFill>
                            <a:srgbClr val="FFFFFF"/>
                          </a:solidFill>
                          <a:latin typeface="Calibri"/>
                        </a:rPr>
                        <a:t>Date</a:t>
                      </a:r>
                    </a:p>
                  </a:txBody>
                  <a:tcPr>
                    <a:solidFill>
                      <a:srgbClr val="1E3A8A"/>
                    </a:solidFill>
                  </a:tcPr>
                </a:tc>
                <a:tc>
                  <a:txBody>
                    <a:bodyPr/>
                    <a:lstStyle/>
                    <a:p>
                      <a:pPr algn="l"/>
                      <a:r>
                        <a:rPr sz="1200" b="1">
                          <a:solidFill>
                            <a:srgbClr val="FFFFFF"/>
                          </a:solidFill>
                          <a:latin typeface="Calibri"/>
                        </a:rPr>
                        <a:t>Event</a:t>
                      </a:r>
                    </a:p>
                  </a:txBody>
                  <a:tcPr>
                    <a:solidFill>
                      <a:srgbClr val="1E3A8A"/>
                    </a:solidFill>
                  </a:tcPr>
                </a:tc>
                <a:extLst>
                  <a:ext uri="{0D108BD9-81ED-4DB2-BD59-A6C34878D82A}">
                    <a16:rowId xmlns:a16="http://schemas.microsoft.com/office/drawing/2014/main" val="10000"/>
                  </a:ext>
                </a:extLst>
              </a:tr>
              <a:tr h="346165">
                <a:tc>
                  <a:txBody>
                    <a:bodyPr/>
                    <a:lstStyle/>
                    <a:p>
                      <a:pPr algn="l"/>
                      <a:r>
                        <a:rPr sz="1100" b="1">
                          <a:solidFill>
                            <a:srgbClr val="1E3A8A"/>
                          </a:solidFill>
                          <a:latin typeface="Calibri"/>
                        </a:rPr>
                        <a:t>Dec-2025</a:t>
                      </a:r>
                    </a:p>
                  </a:txBody>
                  <a:tcPr>
                    <a:solidFill>
                      <a:srgbClr val="FFFFFF"/>
                    </a:solidFill>
                  </a:tcPr>
                </a:tc>
                <a:tc>
                  <a:txBody>
                    <a:bodyPr/>
                    <a:lstStyle/>
                    <a:p>
                      <a:pPr algn="l"/>
                      <a:r>
                        <a:rPr sz="1100" b="0">
                          <a:solidFill>
                            <a:srgbClr val="1F2937"/>
                          </a:solidFill>
                          <a:latin typeface="Calibri"/>
                        </a:rPr>
                        <a:t>Project kickoff — Queries shared with JSW, hardware spec submitted (HPE ProLiant DL160 Gen9 + Windows Server 2022)</a:t>
                      </a:r>
                    </a:p>
                  </a:txBody>
                  <a:tcPr>
                    <a:solidFill>
                      <a:srgbClr val="FFFFFF"/>
                    </a:solidFill>
                  </a:tcPr>
                </a:tc>
                <a:extLst>
                  <a:ext uri="{0D108BD9-81ED-4DB2-BD59-A6C34878D82A}">
                    <a16:rowId xmlns:a16="http://schemas.microsoft.com/office/drawing/2014/main" val="10001"/>
                  </a:ext>
                </a:extLst>
              </a:tr>
              <a:tr h="346165">
                <a:tc>
                  <a:txBody>
                    <a:bodyPr/>
                    <a:lstStyle/>
                    <a:p>
                      <a:pPr algn="l"/>
                      <a:r>
                        <a:rPr sz="1100" b="1">
                          <a:solidFill>
                            <a:srgbClr val="1E3A8A"/>
                          </a:solidFill>
                          <a:latin typeface="Calibri"/>
                        </a:rPr>
                        <a:t>Jan-2026</a:t>
                      </a:r>
                    </a:p>
                  </a:txBody>
                  <a:tcPr>
                    <a:solidFill>
                      <a:srgbClr val="F8FAFC"/>
                    </a:solidFill>
                  </a:tcPr>
                </a:tc>
                <a:tc>
                  <a:txBody>
                    <a:bodyPr/>
                    <a:lstStyle/>
                    <a:p>
                      <a:pPr algn="l"/>
                      <a:r>
                        <a:rPr sz="1100" b="0">
                          <a:solidFill>
                            <a:srgbClr val="1F2937"/>
                          </a:solidFill>
                          <a:latin typeface="Calibri"/>
                        </a:rPr>
                        <a:t>Historical data received from JSW — 1-year torpedo loading, cycle time report, weighbridge report, maintenance reports</a:t>
                      </a:r>
                    </a:p>
                  </a:txBody>
                  <a:tcPr>
                    <a:solidFill>
                      <a:srgbClr val="F8FAFC"/>
                    </a:solidFill>
                  </a:tcPr>
                </a:tc>
                <a:extLst>
                  <a:ext uri="{0D108BD9-81ED-4DB2-BD59-A6C34878D82A}">
                    <a16:rowId xmlns:a16="http://schemas.microsoft.com/office/drawing/2014/main" val="10002"/>
                  </a:ext>
                </a:extLst>
              </a:tr>
              <a:tr h="346165">
                <a:tc>
                  <a:txBody>
                    <a:bodyPr/>
                    <a:lstStyle/>
                    <a:p>
                      <a:pPr algn="l"/>
                      <a:r>
                        <a:rPr sz="1100" b="1">
                          <a:solidFill>
                            <a:srgbClr val="1E3A8A"/>
                          </a:solidFill>
                          <a:latin typeface="Calibri"/>
                        </a:rPr>
                        <a:t>Jan–Apr 2026</a:t>
                      </a:r>
                    </a:p>
                  </a:txBody>
                  <a:tcPr>
                    <a:solidFill>
                      <a:srgbClr val="FFFFFF"/>
                    </a:solidFill>
                  </a:tcPr>
                </a:tc>
                <a:tc>
                  <a:txBody>
                    <a:bodyPr/>
                    <a:lstStyle/>
                    <a:p>
                      <a:pPr algn="l"/>
                      <a:r>
                        <a:rPr sz="1100" b="0">
                          <a:solidFill>
                            <a:srgbClr val="1F2937"/>
                          </a:solidFill>
                          <a:latin typeface="Calibri"/>
                        </a:rPr>
                        <a:t>Core development — 216 backend + frontend tasks completed across all V7 modules</a:t>
                      </a:r>
                    </a:p>
                  </a:txBody>
                  <a:tcPr>
                    <a:solidFill>
                      <a:srgbClr val="FFFFFF"/>
                    </a:solidFill>
                  </a:tcPr>
                </a:tc>
                <a:extLst>
                  <a:ext uri="{0D108BD9-81ED-4DB2-BD59-A6C34878D82A}">
                    <a16:rowId xmlns:a16="http://schemas.microsoft.com/office/drawing/2014/main" val="10003"/>
                  </a:ext>
                </a:extLst>
              </a:tr>
              <a:tr h="346165">
                <a:tc>
                  <a:txBody>
                    <a:bodyPr/>
                    <a:lstStyle/>
                    <a:p>
                      <a:pPr algn="l"/>
                      <a:r>
                        <a:rPr sz="1100" b="1">
                          <a:solidFill>
                            <a:srgbClr val="1E3A8A"/>
                          </a:solidFill>
                          <a:latin typeface="Calibri"/>
                        </a:rPr>
                        <a:t>Feb-2026</a:t>
                      </a:r>
                    </a:p>
                  </a:txBody>
                  <a:tcPr>
                    <a:solidFill>
                      <a:srgbClr val="F8FAFC"/>
                    </a:solidFill>
                  </a:tcPr>
                </a:tc>
                <a:tc>
                  <a:txBody>
                    <a:bodyPr/>
                    <a:lstStyle/>
                    <a:p>
                      <a:pPr algn="l"/>
                      <a:r>
                        <a:rPr sz="1100" b="0">
                          <a:solidFill>
                            <a:srgbClr val="1F2937"/>
                          </a:solidFill>
                          <a:latin typeface="Calibri"/>
                        </a:rPr>
                        <a:t>Windows Server 2022 license procured</a:t>
                      </a:r>
                    </a:p>
                  </a:txBody>
                  <a:tcPr>
                    <a:solidFill>
                      <a:srgbClr val="F8FAFC"/>
                    </a:solidFill>
                  </a:tcPr>
                </a:tc>
                <a:extLst>
                  <a:ext uri="{0D108BD9-81ED-4DB2-BD59-A6C34878D82A}">
                    <a16:rowId xmlns:a16="http://schemas.microsoft.com/office/drawing/2014/main" val="10004"/>
                  </a:ext>
                </a:extLst>
              </a:tr>
              <a:tr h="346165">
                <a:tc>
                  <a:txBody>
                    <a:bodyPr/>
                    <a:lstStyle/>
                    <a:p>
                      <a:pPr algn="l"/>
                      <a:r>
                        <a:rPr sz="1100" b="1">
                          <a:solidFill>
                            <a:srgbClr val="1E3A8A"/>
                          </a:solidFill>
                          <a:latin typeface="Calibri"/>
                        </a:rPr>
                        <a:t>Mar-Apr 2026</a:t>
                      </a:r>
                    </a:p>
                  </a:txBody>
                  <a:tcPr>
                    <a:solidFill>
                      <a:srgbClr val="FFFFFF"/>
                    </a:solidFill>
                  </a:tcPr>
                </a:tc>
                <a:tc>
                  <a:txBody>
                    <a:bodyPr/>
                    <a:lstStyle/>
                    <a:p>
                      <a:pPr algn="l"/>
                      <a:r>
                        <a:rPr sz="1100" b="0">
                          <a:solidFill>
                            <a:srgbClr val="1F2937"/>
                          </a:solidFill>
                          <a:latin typeface="Calibri"/>
                        </a:rPr>
                        <a:t>Data requirements iteration with JSW IT — 3 source-system access requests, multiple Teams meetings</a:t>
                      </a:r>
                    </a:p>
                  </a:txBody>
                  <a:tcPr>
                    <a:solidFill>
                      <a:srgbClr val="FFFFFF"/>
                    </a:solidFill>
                  </a:tcPr>
                </a:tc>
                <a:extLst>
                  <a:ext uri="{0D108BD9-81ED-4DB2-BD59-A6C34878D82A}">
                    <a16:rowId xmlns:a16="http://schemas.microsoft.com/office/drawing/2014/main" val="10005"/>
                  </a:ext>
                </a:extLst>
              </a:tr>
              <a:tr h="346165">
                <a:tc>
                  <a:txBody>
                    <a:bodyPr/>
                    <a:lstStyle/>
                    <a:p>
                      <a:pPr algn="l"/>
                      <a:r>
                        <a:rPr sz="1100" b="1">
                          <a:solidFill>
                            <a:srgbClr val="1E3A8A"/>
                          </a:solidFill>
                          <a:latin typeface="Calibri"/>
                        </a:rPr>
                        <a:t>02-Apr-2026</a:t>
                      </a:r>
                    </a:p>
                  </a:txBody>
                  <a:tcPr>
                    <a:solidFill>
                      <a:srgbClr val="F8FAFC"/>
                    </a:solidFill>
                  </a:tcPr>
                </a:tc>
                <a:tc>
                  <a:txBody>
                    <a:bodyPr/>
                    <a:lstStyle/>
                    <a:p>
                      <a:pPr algn="l"/>
                      <a:r>
                        <a:rPr sz="1100" b="0">
                          <a:solidFill>
                            <a:srgbClr val="1F2937"/>
                          </a:solidFill>
                          <a:latin typeface="Calibri"/>
                        </a:rPr>
                        <a:t>SuVeechi MySQL view shared by vendor (Ganesha)</a:t>
                      </a:r>
                    </a:p>
                  </a:txBody>
                  <a:tcPr>
                    <a:solidFill>
                      <a:srgbClr val="F8FAFC"/>
                    </a:solidFill>
                  </a:tcPr>
                </a:tc>
                <a:extLst>
                  <a:ext uri="{0D108BD9-81ED-4DB2-BD59-A6C34878D82A}">
                    <a16:rowId xmlns:a16="http://schemas.microsoft.com/office/drawing/2014/main" val="10006"/>
                  </a:ext>
                </a:extLst>
              </a:tr>
              <a:tr h="346165">
                <a:tc>
                  <a:txBody>
                    <a:bodyPr/>
                    <a:lstStyle/>
                    <a:p>
                      <a:pPr algn="l"/>
                      <a:r>
                        <a:rPr sz="1100" b="1">
                          <a:solidFill>
                            <a:srgbClr val="1E3A8A"/>
                          </a:solidFill>
                          <a:latin typeface="Calibri"/>
                        </a:rPr>
                        <a:t>08-Apr-2026</a:t>
                      </a:r>
                    </a:p>
                  </a:txBody>
                  <a:tcPr>
                    <a:solidFill>
                      <a:srgbClr val="FFFFFF"/>
                    </a:solidFill>
                  </a:tcPr>
                </a:tc>
                <a:tc>
                  <a:txBody>
                    <a:bodyPr/>
                    <a:lstStyle/>
                    <a:p>
                      <a:pPr algn="l"/>
                      <a:r>
                        <a:rPr sz="1100" b="0">
                          <a:solidFill>
                            <a:srgbClr val="1F2937"/>
                          </a:solidFill>
                          <a:latin typeface="Calibri"/>
                        </a:rPr>
                        <a:t>Network access escalation — 100% packet loss to JSW DB servers; root cause traced to absent LAN</a:t>
                      </a:r>
                    </a:p>
                  </a:txBody>
                  <a:tcPr>
                    <a:solidFill>
                      <a:srgbClr val="FFFFFF"/>
                    </a:solidFill>
                  </a:tcPr>
                </a:tc>
                <a:extLst>
                  <a:ext uri="{0D108BD9-81ED-4DB2-BD59-A6C34878D82A}">
                    <a16:rowId xmlns:a16="http://schemas.microsoft.com/office/drawing/2014/main" val="10007"/>
                  </a:ext>
                </a:extLst>
              </a:tr>
              <a:tr h="346165">
                <a:tc>
                  <a:txBody>
                    <a:bodyPr/>
                    <a:lstStyle/>
                    <a:p>
                      <a:pPr algn="l"/>
                      <a:r>
                        <a:rPr sz="1100" b="1">
                          <a:solidFill>
                            <a:srgbClr val="1E3A8A"/>
                          </a:solidFill>
                          <a:latin typeface="Calibri"/>
                        </a:rPr>
                        <a:t>14-Apr-2026</a:t>
                      </a:r>
                    </a:p>
                  </a:txBody>
                  <a:tcPr>
                    <a:solidFill>
                      <a:srgbClr val="F8FAFC"/>
                    </a:solidFill>
                  </a:tcPr>
                </a:tc>
                <a:tc>
                  <a:txBody>
                    <a:bodyPr/>
                    <a:lstStyle/>
                    <a:p>
                      <a:pPr algn="l"/>
                      <a:r>
                        <a:rPr sz="1100" b="0">
                          <a:solidFill>
                            <a:srgbClr val="1F2937"/>
                          </a:solidFill>
                          <a:latin typeface="Calibri"/>
                        </a:rPr>
                        <a:t>Formal approvals closed — Gagan Chopra approval forwarded; DEP008 closed</a:t>
                      </a:r>
                    </a:p>
                  </a:txBody>
                  <a:tcPr>
                    <a:solidFill>
                      <a:srgbClr val="F8FAFC"/>
                    </a:solidFill>
                  </a:tcPr>
                </a:tc>
                <a:extLst>
                  <a:ext uri="{0D108BD9-81ED-4DB2-BD59-A6C34878D82A}">
                    <a16:rowId xmlns:a16="http://schemas.microsoft.com/office/drawing/2014/main" val="10008"/>
                  </a:ext>
                </a:extLst>
              </a:tr>
              <a:tr h="346165">
                <a:tc>
                  <a:txBody>
                    <a:bodyPr/>
                    <a:lstStyle/>
                    <a:p>
                      <a:pPr algn="l"/>
                      <a:r>
                        <a:rPr sz="1100" b="1">
                          <a:solidFill>
                            <a:srgbClr val="1E3A8A"/>
                          </a:solidFill>
                          <a:latin typeface="Calibri"/>
                        </a:rPr>
                        <a:t>~30-Apr-2026</a:t>
                      </a:r>
                    </a:p>
                  </a:txBody>
                  <a:tcPr>
                    <a:solidFill>
                      <a:srgbClr val="FFFFFF"/>
                    </a:solidFill>
                  </a:tcPr>
                </a:tc>
                <a:tc>
                  <a:txBody>
                    <a:bodyPr/>
                    <a:lstStyle/>
                    <a:p>
                      <a:pPr algn="l"/>
                      <a:r>
                        <a:rPr sz="1100" b="0">
                          <a:solidFill>
                            <a:srgbClr val="1F2937"/>
                          </a:solidFill>
                          <a:latin typeface="Calibri"/>
                        </a:rPr>
                        <a:t>HMD PC physically integrated into JSW network — placed at BF4</a:t>
                      </a:r>
                    </a:p>
                  </a:txBody>
                  <a:tcPr>
                    <a:solidFill>
                      <a:srgbClr val="FFFFFF"/>
                    </a:solidFill>
                  </a:tcPr>
                </a:tc>
                <a:extLst>
                  <a:ext uri="{0D108BD9-81ED-4DB2-BD59-A6C34878D82A}">
                    <a16:rowId xmlns:a16="http://schemas.microsoft.com/office/drawing/2014/main" val="10009"/>
                  </a:ext>
                </a:extLst>
              </a:tr>
              <a:tr h="346165">
                <a:tc>
                  <a:txBody>
                    <a:bodyPr/>
                    <a:lstStyle/>
                    <a:p>
                      <a:pPr algn="l"/>
                      <a:r>
                        <a:rPr sz="1100" b="1">
                          <a:solidFill>
                            <a:srgbClr val="1E3A8A"/>
                          </a:solidFill>
                          <a:latin typeface="Calibri"/>
                        </a:rPr>
                        <a:t>06-May-2026</a:t>
                      </a:r>
                    </a:p>
                  </a:txBody>
                  <a:tcPr>
                    <a:solidFill>
                      <a:srgbClr val="F8FAFC"/>
                    </a:solidFill>
                  </a:tcPr>
                </a:tc>
                <a:tc>
                  <a:txBody>
                    <a:bodyPr/>
                    <a:lstStyle/>
                    <a:p>
                      <a:pPr algn="l"/>
                      <a:r>
                        <a:rPr sz="1100" b="0">
                          <a:solidFill>
                            <a:srgbClr val="1F2937"/>
                          </a:solidFill>
                          <a:latin typeface="Calibri"/>
                        </a:rPr>
                        <a:t>VPN access granted to Deevia team — DEP009 + DEP012 closed; SuVeechi sync went LIVE — 53 torpedoes streaming GPS every 10s</a:t>
                      </a:r>
                    </a:p>
                  </a:txBody>
                  <a:tcPr>
                    <a:solidFill>
                      <a:srgbClr val="F8FAFC"/>
                    </a:solidFill>
                  </a:tcPr>
                </a:tc>
                <a:extLst>
                  <a:ext uri="{0D108BD9-81ED-4DB2-BD59-A6C34878D82A}">
                    <a16:rowId xmlns:a16="http://schemas.microsoft.com/office/drawing/2014/main" val="10010"/>
                  </a:ext>
                </a:extLst>
              </a:tr>
              <a:tr h="346165">
                <a:tc>
                  <a:txBody>
                    <a:bodyPr/>
                    <a:lstStyle/>
                    <a:p>
                      <a:pPr algn="l"/>
                      <a:r>
                        <a:rPr sz="1100" b="1">
                          <a:solidFill>
                            <a:srgbClr val="1E3A8A"/>
                          </a:solidFill>
                          <a:latin typeface="Calibri"/>
                        </a:rPr>
                        <a:t>07-May-2026</a:t>
                      </a:r>
                    </a:p>
                  </a:txBody>
                  <a:tcPr>
                    <a:solidFill>
                      <a:srgbClr val="FFFFFF"/>
                    </a:solidFill>
                  </a:tcPr>
                </a:tc>
                <a:tc>
                  <a:txBody>
                    <a:bodyPr/>
                    <a:lstStyle/>
                    <a:p>
                      <a:pPr algn="l"/>
                      <a:r>
                        <a:rPr sz="1100" b="0">
                          <a:solidFill>
                            <a:srgbClr val="1F2937"/>
                          </a:solidFill>
                          <a:latin typeface="Calibri"/>
                        </a:rPr>
                        <a:t>Live Tracking Phase 1–3 shipped — map polish, Torpedo Drawer, per-torpedo capacity backfill</a:t>
                      </a:r>
                    </a:p>
                  </a:txBody>
                  <a:tcPr>
                    <a:solidFill>
                      <a:srgbClr val="FFFFFF"/>
                    </a:solidFill>
                  </a:tcPr>
                </a:tc>
                <a:extLst>
                  <a:ext uri="{0D108BD9-81ED-4DB2-BD59-A6C34878D82A}">
                    <a16:rowId xmlns:a16="http://schemas.microsoft.com/office/drawing/2014/main" val="10011"/>
                  </a:ext>
                </a:extLst>
              </a:tr>
              <a:tr h="346165">
                <a:tc>
                  <a:txBody>
                    <a:bodyPr/>
                    <a:lstStyle/>
                    <a:p>
                      <a:pPr algn="l"/>
                      <a:r>
                        <a:rPr sz="1100" b="1">
                          <a:solidFill>
                            <a:srgbClr val="1E3A8A"/>
                          </a:solidFill>
                          <a:latin typeface="Calibri"/>
                        </a:rPr>
                        <a:t>08-May-2026</a:t>
                      </a:r>
                    </a:p>
                  </a:txBody>
                  <a:tcPr>
                    <a:solidFill>
                      <a:srgbClr val="F8FAFC"/>
                    </a:solidFill>
                  </a:tcPr>
                </a:tc>
                <a:tc>
                  <a:txBody>
                    <a:bodyPr/>
                    <a:lstStyle/>
                    <a:p>
                      <a:pPr algn="l"/>
                      <a:r>
                        <a:rPr sz="1100" b="0">
                          <a:solidFill>
                            <a:srgbClr val="1F2937"/>
                          </a:solidFill>
                          <a:latin typeface="Calibri"/>
                        </a:rPr>
                        <a:t>WBATNGL Trip Mirror sprint shipped — 60-second sync, BF-side trip data flowing into HMD</a:t>
                      </a:r>
                    </a:p>
                  </a:txBody>
                  <a:tcPr>
                    <a:solidFill>
                      <a:srgbClr val="F8FAFC"/>
                    </a:solidFill>
                  </a:tcPr>
                </a:tc>
                <a:extLst>
                  <a:ext uri="{0D108BD9-81ED-4DB2-BD59-A6C34878D82A}">
                    <a16:rowId xmlns:a16="http://schemas.microsoft.com/office/drawing/2014/main" val="10012"/>
                  </a:ext>
                </a:extLst>
              </a:tr>
              <a:tr h="346175">
                <a:tc>
                  <a:txBody>
                    <a:bodyPr/>
                    <a:lstStyle/>
                    <a:p>
                      <a:pPr algn="l"/>
                      <a:r>
                        <a:rPr sz="1100" b="1">
                          <a:solidFill>
                            <a:srgbClr val="1E3A8A"/>
                          </a:solidFill>
                          <a:latin typeface="Calibri"/>
                        </a:rPr>
                        <a:t>11-May-2026</a:t>
                      </a:r>
                    </a:p>
                  </a:txBody>
                  <a:tcPr>
                    <a:solidFill>
                      <a:srgbClr val="FFFFFF"/>
                    </a:solidFill>
                  </a:tcPr>
                </a:tc>
                <a:tc>
                  <a:txBody>
                    <a:bodyPr/>
                    <a:lstStyle/>
                    <a:p>
                      <a:pPr algn="l"/>
                      <a:r>
                        <a:rPr sz="1100" b="0">
                          <a:solidFill>
                            <a:srgbClr val="1F2937"/>
                          </a:solidFill>
                          <a:latin typeface="Calibri"/>
                        </a:rPr>
                        <a:t>Oracle HTS connectivity unblocked — service name + user identified; DEP007 closed</a:t>
                      </a:r>
                    </a:p>
                  </a:txBody>
                  <a:tcPr>
                    <a:solidFill>
                      <a:srgbClr val="FFFFFF"/>
                    </a:solidFill>
                  </a:tcPr>
                </a:tc>
                <a:extLst>
                  <a:ext uri="{0D108BD9-81ED-4DB2-BD59-A6C34878D82A}">
                    <a16:rowId xmlns:a16="http://schemas.microsoft.com/office/drawing/2014/main" val="10013"/>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ABC8A16C-EA97-04F8-A473-E720963309E6}"/>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B · PROJECT TIMELINE</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Current milestone position — M2 nearly closed, M3 active, M4-M5 ahead</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8</a:t>
            </a:r>
          </a:p>
        </p:txBody>
      </p:sp>
      <p:graphicFrame>
        <p:nvGraphicFramePr>
          <p:cNvPr id="8" name="Table 7"/>
          <p:cNvGraphicFramePr>
            <a:graphicFrameLocks noGrp="1"/>
          </p:cNvGraphicFramePr>
          <p:nvPr/>
        </p:nvGraphicFramePr>
        <p:xfrm>
          <a:off x="640080" y="1463040"/>
          <a:ext cx="10972800" cy="22860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381000">
                <a:tc>
                  <a:txBody>
                    <a:bodyPr/>
                    <a:lstStyle/>
                    <a:p>
                      <a:pPr algn="l"/>
                      <a:r>
                        <a:rPr sz="1300" b="1">
                          <a:solidFill>
                            <a:srgbClr val="FFFFFF"/>
                          </a:solidFill>
                          <a:latin typeface="Calibri"/>
                        </a:rPr>
                        <a:t>ID</a:t>
                      </a:r>
                    </a:p>
                  </a:txBody>
                  <a:tcPr>
                    <a:solidFill>
                      <a:srgbClr val="1E3A8A"/>
                    </a:solidFill>
                  </a:tcPr>
                </a:tc>
                <a:tc>
                  <a:txBody>
                    <a:bodyPr/>
                    <a:lstStyle/>
                    <a:p>
                      <a:pPr algn="l"/>
                      <a:r>
                        <a:rPr sz="1300" b="1">
                          <a:solidFill>
                            <a:srgbClr val="FFFFFF"/>
                          </a:solidFill>
                          <a:latin typeface="Calibri"/>
                        </a:rPr>
                        <a:t>Milestone</a:t>
                      </a:r>
                    </a:p>
                  </a:txBody>
                  <a:tcPr>
                    <a:solidFill>
                      <a:srgbClr val="1E3A8A"/>
                    </a:solidFill>
                  </a:tcPr>
                </a:tc>
                <a:tc>
                  <a:txBody>
                    <a:bodyPr/>
                    <a:lstStyle/>
                    <a:p>
                      <a:pPr algn="l"/>
                      <a:r>
                        <a:rPr sz="1300" b="1">
                          <a:solidFill>
                            <a:srgbClr val="FFFFFF"/>
                          </a:solidFill>
                          <a:latin typeface="Calibri"/>
                        </a:rPr>
                        <a:t>Planned</a:t>
                      </a:r>
                    </a:p>
                  </a:txBody>
                  <a:tcPr>
                    <a:solidFill>
                      <a:srgbClr val="1E3A8A"/>
                    </a:solidFill>
                  </a:tcPr>
                </a:tc>
                <a:tc>
                  <a:txBody>
                    <a:bodyPr/>
                    <a:lstStyle/>
                    <a:p>
                      <a:pPr algn="l"/>
                      <a:r>
                        <a:rPr sz="1300" b="1">
                          <a:solidFill>
                            <a:srgbClr val="FFFFFF"/>
                          </a:solidFill>
                          <a:latin typeface="Calibri"/>
                        </a:rPr>
                        <a:t>Actual</a:t>
                      </a:r>
                    </a:p>
                  </a:txBody>
                  <a:tcPr>
                    <a:solidFill>
                      <a:srgbClr val="1E3A8A"/>
                    </a:solidFill>
                  </a:tcPr>
                </a:tc>
                <a:tc>
                  <a:txBody>
                    <a:bodyPr/>
                    <a:lstStyle/>
                    <a:p>
                      <a:pPr algn="l"/>
                      <a:r>
                        <a:rPr sz="1300" b="1">
                          <a:solidFill>
                            <a:srgbClr val="FFFFFF"/>
                          </a:solidFill>
                          <a:latin typeface="Calibri"/>
                        </a:rPr>
                        <a:t>Comment</a:t>
                      </a:r>
                    </a:p>
                  </a:txBody>
                  <a:tcPr>
                    <a:solidFill>
                      <a:srgbClr val="1E3A8A"/>
                    </a:solidFill>
                  </a:tcPr>
                </a:tc>
                <a:extLst>
                  <a:ext uri="{0D108BD9-81ED-4DB2-BD59-A6C34878D82A}">
                    <a16:rowId xmlns:a16="http://schemas.microsoft.com/office/drawing/2014/main" val="10000"/>
                  </a:ext>
                </a:extLst>
              </a:tr>
              <a:tr h="381000">
                <a:tc>
                  <a:txBody>
                    <a:bodyPr/>
                    <a:lstStyle/>
                    <a:p>
                      <a:pPr algn="l"/>
                      <a:r>
                        <a:rPr sz="1300" b="0">
                          <a:solidFill>
                            <a:srgbClr val="1F2937"/>
                          </a:solidFill>
                          <a:latin typeface="Calibri"/>
                        </a:rPr>
                        <a:t>M1</a:t>
                      </a:r>
                    </a:p>
                  </a:txBody>
                  <a:tcPr>
                    <a:solidFill>
                      <a:srgbClr val="FFFFFF"/>
                    </a:solidFill>
                  </a:tcPr>
                </a:tc>
                <a:tc>
                  <a:txBody>
                    <a:bodyPr/>
                    <a:lstStyle/>
                    <a:p>
                      <a:pPr algn="l"/>
                      <a:r>
                        <a:rPr sz="1300" b="0">
                          <a:solidFill>
                            <a:srgbClr val="1F2937"/>
                          </a:solidFill>
                          <a:latin typeface="Calibri"/>
                        </a:rPr>
                        <a:t>Requirements &amp; Design</a:t>
                      </a:r>
                    </a:p>
                  </a:txBody>
                  <a:tcPr>
                    <a:solidFill>
                      <a:srgbClr val="FFFFFF"/>
                    </a:solidFill>
                  </a:tcPr>
                </a:tc>
                <a:tc>
                  <a:txBody>
                    <a:bodyPr/>
                    <a:lstStyle/>
                    <a:p>
                      <a:pPr algn="l"/>
                      <a:r>
                        <a:rPr sz="1300" b="0">
                          <a:solidFill>
                            <a:srgbClr val="1F2937"/>
                          </a:solidFill>
                          <a:latin typeface="Calibri"/>
                        </a:rPr>
                        <a:t>100%</a:t>
                      </a:r>
                    </a:p>
                  </a:txBody>
                  <a:tcPr>
                    <a:solidFill>
                      <a:srgbClr val="FFFFFF"/>
                    </a:solidFill>
                  </a:tcPr>
                </a:tc>
                <a:tc>
                  <a:txBody>
                    <a:bodyPr/>
                    <a:lstStyle/>
                    <a:p>
                      <a:pPr algn="l"/>
                      <a:r>
                        <a:rPr sz="1300" b="0">
                          <a:solidFill>
                            <a:srgbClr val="1F2937"/>
                          </a:solidFill>
                          <a:latin typeface="Calibri"/>
                        </a:rPr>
                        <a:t>100%</a:t>
                      </a:r>
                    </a:p>
                  </a:txBody>
                  <a:tcPr>
                    <a:solidFill>
                      <a:srgbClr val="FFFFFF"/>
                    </a:solidFill>
                  </a:tcPr>
                </a:tc>
                <a:tc>
                  <a:txBody>
                    <a:bodyPr/>
                    <a:lstStyle/>
                    <a:p>
                      <a:pPr algn="l"/>
                      <a:r>
                        <a:rPr sz="1300" b="1">
                          <a:solidFill>
                            <a:srgbClr val="15803D"/>
                          </a:solidFill>
                          <a:latin typeface="Calibri"/>
                        </a:rPr>
                        <a:t>Complete</a:t>
                      </a:r>
                    </a:p>
                  </a:txBody>
                  <a:tcPr>
                    <a:solidFill>
                      <a:srgbClr val="FFFFFF"/>
                    </a:solidFill>
                  </a:tcPr>
                </a:tc>
                <a:extLst>
                  <a:ext uri="{0D108BD9-81ED-4DB2-BD59-A6C34878D82A}">
                    <a16:rowId xmlns:a16="http://schemas.microsoft.com/office/drawing/2014/main" val="10001"/>
                  </a:ext>
                </a:extLst>
              </a:tr>
              <a:tr h="381000">
                <a:tc>
                  <a:txBody>
                    <a:bodyPr/>
                    <a:lstStyle/>
                    <a:p>
                      <a:pPr algn="l"/>
                      <a:r>
                        <a:rPr sz="1300" b="0">
                          <a:solidFill>
                            <a:srgbClr val="1F2937"/>
                          </a:solidFill>
                          <a:latin typeface="Calibri"/>
                        </a:rPr>
                        <a:t>M2</a:t>
                      </a:r>
                    </a:p>
                  </a:txBody>
                  <a:tcPr>
                    <a:solidFill>
                      <a:srgbClr val="F8FAFC"/>
                    </a:solidFill>
                  </a:tcPr>
                </a:tc>
                <a:tc>
                  <a:txBody>
                    <a:bodyPr/>
                    <a:lstStyle/>
                    <a:p>
                      <a:pPr algn="l"/>
                      <a:r>
                        <a:rPr sz="1300" b="0">
                          <a:solidFill>
                            <a:srgbClr val="1F2937"/>
                          </a:solidFill>
                          <a:latin typeface="Calibri"/>
                        </a:rPr>
                        <a:t>Core Development</a:t>
                      </a:r>
                    </a:p>
                  </a:txBody>
                  <a:tcPr>
                    <a:solidFill>
                      <a:srgbClr val="F8FAFC"/>
                    </a:solidFill>
                  </a:tcPr>
                </a:tc>
                <a:tc>
                  <a:txBody>
                    <a:bodyPr/>
                    <a:lstStyle/>
                    <a:p>
                      <a:pPr algn="l"/>
                      <a:r>
                        <a:rPr sz="1300" b="0">
                          <a:solidFill>
                            <a:srgbClr val="1F2937"/>
                          </a:solidFill>
                          <a:latin typeface="Calibri"/>
                        </a:rPr>
                        <a:t>100% (planned)</a:t>
                      </a:r>
                    </a:p>
                  </a:txBody>
                  <a:tcPr>
                    <a:solidFill>
                      <a:srgbClr val="F8FAFC"/>
                    </a:solidFill>
                  </a:tcPr>
                </a:tc>
                <a:tc>
                  <a:txBody>
                    <a:bodyPr/>
                    <a:lstStyle/>
                    <a:p>
                      <a:pPr algn="l"/>
                      <a:r>
                        <a:rPr sz="1300" b="0">
                          <a:solidFill>
                            <a:srgbClr val="1F2937"/>
                          </a:solidFill>
                          <a:latin typeface="Calibri"/>
                        </a:rPr>
                        <a:t>98%</a:t>
                      </a:r>
                    </a:p>
                  </a:txBody>
                  <a:tcPr>
                    <a:solidFill>
                      <a:srgbClr val="F8FAFC"/>
                    </a:solidFill>
                  </a:tcPr>
                </a:tc>
                <a:tc>
                  <a:txBody>
                    <a:bodyPr/>
                    <a:lstStyle/>
                    <a:p>
                      <a:pPr algn="l"/>
                      <a:r>
                        <a:rPr sz="1300" b="1">
                          <a:solidFill>
                            <a:srgbClr val="15803D"/>
                          </a:solidFill>
                          <a:latin typeface="Calibri"/>
                        </a:rPr>
                        <a:t>On Track</a:t>
                      </a:r>
                    </a:p>
                  </a:txBody>
                  <a:tcPr>
                    <a:solidFill>
                      <a:srgbClr val="F8FAFC"/>
                    </a:solidFill>
                  </a:tcPr>
                </a:tc>
                <a:extLst>
                  <a:ext uri="{0D108BD9-81ED-4DB2-BD59-A6C34878D82A}">
                    <a16:rowId xmlns:a16="http://schemas.microsoft.com/office/drawing/2014/main" val="10002"/>
                  </a:ext>
                </a:extLst>
              </a:tr>
              <a:tr h="381000">
                <a:tc>
                  <a:txBody>
                    <a:bodyPr/>
                    <a:lstStyle/>
                    <a:p>
                      <a:pPr algn="l"/>
                      <a:r>
                        <a:rPr sz="1300" b="0">
                          <a:solidFill>
                            <a:srgbClr val="1F2937"/>
                          </a:solidFill>
                          <a:latin typeface="Calibri"/>
                        </a:rPr>
                        <a:t>M3</a:t>
                      </a:r>
                    </a:p>
                  </a:txBody>
                  <a:tcPr>
                    <a:solidFill>
                      <a:srgbClr val="FFFFFF"/>
                    </a:solidFill>
                  </a:tcPr>
                </a:tc>
                <a:tc>
                  <a:txBody>
                    <a:bodyPr/>
                    <a:lstStyle/>
                    <a:p>
                      <a:pPr algn="l"/>
                      <a:r>
                        <a:rPr sz="1300" b="0">
                          <a:solidFill>
                            <a:srgbClr val="1F2937"/>
                          </a:solidFill>
                          <a:latin typeface="Calibri"/>
                        </a:rPr>
                        <a:t>Dashboard &amp; Integration</a:t>
                      </a:r>
                    </a:p>
                  </a:txBody>
                  <a:tcPr>
                    <a:solidFill>
                      <a:srgbClr val="FFFFFF"/>
                    </a:solidFill>
                  </a:tcPr>
                </a:tc>
                <a:tc>
                  <a:txBody>
                    <a:bodyPr/>
                    <a:lstStyle/>
                    <a:p>
                      <a:pPr algn="l"/>
                      <a:r>
                        <a:rPr sz="1300" b="0">
                          <a:solidFill>
                            <a:srgbClr val="1F2937"/>
                          </a:solidFill>
                          <a:latin typeface="Calibri"/>
                        </a:rPr>
                        <a:t>65% (planned)</a:t>
                      </a:r>
                    </a:p>
                  </a:txBody>
                  <a:tcPr>
                    <a:solidFill>
                      <a:srgbClr val="FFFFFF"/>
                    </a:solidFill>
                  </a:tcPr>
                </a:tc>
                <a:tc>
                  <a:txBody>
                    <a:bodyPr/>
                    <a:lstStyle/>
                    <a:p>
                      <a:pPr algn="l"/>
                      <a:r>
                        <a:rPr sz="1300" b="0">
                          <a:solidFill>
                            <a:srgbClr val="1F2937"/>
                          </a:solidFill>
                          <a:latin typeface="Calibri"/>
                        </a:rPr>
                        <a:t>65%</a:t>
                      </a:r>
                    </a:p>
                  </a:txBody>
                  <a:tcPr>
                    <a:solidFill>
                      <a:srgbClr val="FFFFFF"/>
                    </a:solidFill>
                  </a:tcPr>
                </a:tc>
                <a:tc>
                  <a:txBody>
                    <a:bodyPr/>
                    <a:lstStyle/>
                    <a:p>
                      <a:pPr algn="l"/>
                      <a:r>
                        <a:rPr sz="1300" b="1">
                          <a:solidFill>
                            <a:srgbClr val="B45309"/>
                          </a:solidFill>
                          <a:latin typeface="Calibri"/>
                        </a:rPr>
                        <a:t>On Track — major jump in May</a:t>
                      </a:r>
                    </a:p>
                  </a:txBody>
                  <a:tcPr>
                    <a:solidFill>
                      <a:srgbClr val="FFFFFF"/>
                    </a:solidFill>
                  </a:tcPr>
                </a:tc>
                <a:extLst>
                  <a:ext uri="{0D108BD9-81ED-4DB2-BD59-A6C34878D82A}">
                    <a16:rowId xmlns:a16="http://schemas.microsoft.com/office/drawing/2014/main" val="10003"/>
                  </a:ext>
                </a:extLst>
              </a:tr>
              <a:tr h="381000">
                <a:tc>
                  <a:txBody>
                    <a:bodyPr/>
                    <a:lstStyle/>
                    <a:p>
                      <a:pPr algn="l"/>
                      <a:r>
                        <a:rPr sz="1300" b="0">
                          <a:solidFill>
                            <a:srgbClr val="1F2937"/>
                          </a:solidFill>
                          <a:latin typeface="Calibri"/>
                        </a:rPr>
                        <a:t>M4</a:t>
                      </a:r>
                    </a:p>
                  </a:txBody>
                  <a:tcPr>
                    <a:solidFill>
                      <a:srgbClr val="F8FAFC"/>
                    </a:solidFill>
                  </a:tcPr>
                </a:tc>
                <a:tc>
                  <a:txBody>
                    <a:bodyPr/>
                    <a:lstStyle/>
                    <a:p>
                      <a:pPr algn="l"/>
                      <a:r>
                        <a:rPr sz="1300" b="0">
                          <a:solidFill>
                            <a:srgbClr val="1F2937"/>
                          </a:solidFill>
                          <a:latin typeface="Calibri"/>
                        </a:rPr>
                        <a:t>Testing &amp; Pilot</a:t>
                      </a:r>
                    </a:p>
                  </a:txBody>
                  <a:tcPr>
                    <a:solidFill>
                      <a:srgbClr val="F8FAFC"/>
                    </a:solidFill>
                  </a:tcPr>
                </a:tc>
                <a:tc>
                  <a:txBody>
                    <a:bodyPr/>
                    <a:lstStyle/>
                    <a:p>
                      <a:pPr algn="l"/>
                      <a:r>
                        <a:rPr sz="1300" b="0">
                          <a:solidFill>
                            <a:srgbClr val="1F2937"/>
                          </a:solidFill>
                          <a:latin typeface="Calibri"/>
                        </a:rPr>
                        <a:t>0%</a:t>
                      </a:r>
                    </a:p>
                  </a:txBody>
                  <a:tcPr>
                    <a:solidFill>
                      <a:srgbClr val="F8FAFC"/>
                    </a:solidFill>
                  </a:tcPr>
                </a:tc>
                <a:tc>
                  <a:txBody>
                    <a:bodyPr/>
                    <a:lstStyle/>
                    <a:p>
                      <a:pPr algn="l"/>
                      <a:r>
                        <a:rPr sz="1300" b="0">
                          <a:solidFill>
                            <a:srgbClr val="1F2937"/>
                          </a:solidFill>
                          <a:latin typeface="Calibri"/>
                        </a:rPr>
                        <a:t>0%</a:t>
                      </a:r>
                    </a:p>
                  </a:txBody>
                  <a:tcPr>
                    <a:solidFill>
                      <a:srgbClr val="F8FAFC"/>
                    </a:solidFill>
                  </a:tcPr>
                </a:tc>
                <a:tc>
                  <a:txBody>
                    <a:bodyPr/>
                    <a:lstStyle/>
                    <a:p>
                      <a:pPr algn="l"/>
                      <a:r>
                        <a:rPr sz="1300" b="0">
                          <a:solidFill>
                            <a:srgbClr val="4B5563"/>
                          </a:solidFill>
                          <a:latin typeface="Calibri"/>
                        </a:rPr>
                        <a:t>Awaiting M3 completion</a:t>
                      </a:r>
                    </a:p>
                  </a:txBody>
                  <a:tcPr>
                    <a:solidFill>
                      <a:srgbClr val="F8FAFC"/>
                    </a:solidFill>
                  </a:tcPr>
                </a:tc>
                <a:extLst>
                  <a:ext uri="{0D108BD9-81ED-4DB2-BD59-A6C34878D82A}">
                    <a16:rowId xmlns:a16="http://schemas.microsoft.com/office/drawing/2014/main" val="10004"/>
                  </a:ext>
                </a:extLst>
              </a:tr>
              <a:tr h="381000">
                <a:tc>
                  <a:txBody>
                    <a:bodyPr/>
                    <a:lstStyle/>
                    <a:p>
                      <a:pPr algn="l"/>
                      <a:r>
                        <a:rPr sz="1300" b="0">
                          <a:solidFill>
                            <a:srgbClr val="1F2937"/>
                          </a:solidFill>
                          <a:latin typeface="Calibri"/>
                        </a:rPr>
                        <a:t>M5</a:t>
                      </a:r>
                    </a:p>
                  </a:txBody>
                  <a:tcPr>
                    <a:solidFill>
                      <a:srgbClr val="FFFFFF"/>
                    </a:solidFill>
                  </a:tcPr>
                </a:tc>
                <a:tc>
                  <a:txBody>
                    <a:bodyPr/>
                    <a:lstStyle/>
                    <a:p>
                      <a:pPr algn="l"/>
                      <a:r>
                        <a:rPr sz="1300" b="0">
                          <a:solidFill>
                            <a:srgbClr val="1F2937"/>
                          </a:solidFill>
                          <a:latin typeface="Calibri"/>
                        </a:rPr>
                        <a:t>Go-Live &amp; Stabilization</a:t>
                      </a:r>
                    </a:p>
                  </a:txBody>
                  <a:tcPr>
                    <a:solidFill>
                      <a:srgbClr val="FFFFFF"/>
                    </a:solidFill>
                  </a:tcPr>
                </a:tc>
                <a:tc>
                  <a:txBody>
                    <a:bodyPr/>
                    <a:lstStyle/>
                    <a:p>
                      <a:pPr algn="l"/>
                      <a:r>
                        <a:rPr sz="1300" b="0">
                          <a:solidFill>
                            <a:srgbClr val="1F2937"/>
                          </a:solidFill>
                          <a:latin typeface="Calibri"/>
                        </a:rPr>
                        <a:t>0%</a:t>
                      </a:r>
                    </a:p>
                  </a:txBody>
                  <a:tcPr>
                    <a:solidFill>
                      <a:srgbClr val="FFFFFF"/>
                    </a:solidFill>
                  </a:tcPr>
                </a:tc>
                <a:tc>
                  <a:txBody>
                    <a:bodyPr/>
                    <a:lstStyle/>
                    <a:p>
                      <a:pPr algn="l"/>
                      <a:r>
                        <a:rPr sz="1300" b="0">
                          <a:solidFill>
                            <a:srgbClr val="1F2937"/>
                          </a:solidFill>
                          <a:latin typeface="Calibri"/>
                        </a:rPr>
                        <a:t>0%</a:t>
                      </a:r>
                    </a:p>
                  </a:txBody>
                  <a:tcPr>
                    <a:solidFill>
                      <a:srgbClr val="FFFFFF"/>
                    </a:solidFill>
                  </a:tcPr>
                </a:tc>
                <a:tc>
                  <a:txBody>
                    <a:bodyPr/>
                    <a:lstStyle/>
                    <a:p>
                      <a:pPr algn="l"/>
                      <a:r>
                        <a:rPr sz="1300" b="0">
                          <a:solidFill>
                            <a:srgbClr val="4B5563"/>
                          </a:solidFill>
                          <a:latin typeface="Calibri"/>
                        </a:rPr>
                        <a:t>Awaiting M4 completion</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40080" y="393192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OVERALL POSITION (14-May-2026)</a:t>
            </a:r>
          </a:p>
        </p:txBody>
      </p:sp>
      <p:sp>
        <p:nvSpPr>
          <p:cNvPr id="10" name="TextBox 9"/>
          <p:cNvSpPr txBox="1"/>
          <p:nvPr/>
        </p:nvSpPr>
        <p:spPr>
          <a:xfrm>
            <a:off x="640080" y="4206240"/>
            <a:ext cx="10972800" cy="219456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Overall project progress: approximately 53% complete against the planned timeline.</a:t>
            </a:r>
          </a:p>
          <a:p>
            <a:pPr>
              <a:lnSpc>
                <a:spcPct val="115000"/>
              </a:lnSpc>
              <a:spcAft>
                <a:spcPts val="200"/>
              </a:spcAft>
              <a:buChar char="■"/>
            </a:pPr>
            <a:r>
              <a:rPr sz="1300">
                <a:solidFill>
                  <a:srgbClr val="1F2937"/>
                </a:solidFill>
                <a:latin typeface="Calibri"/>
              </a:rPr>
              <a:t>M3 made a substantial jump in early May (from ~18% to 65%) as VPN access enabled remote testing of all three source databases.</a:t>
            </a:r>
          </a:p>
          <a:p>
            <a:pPr>
              <a:lnSpc>
                <a:spcPct val="115000"/>
              </a:lnSpc>
              <a:spcAft>
                <a:spcPts val="200"/>
              </a:spcAft>
              <a:buChar char="■"/>
            </a:pPr>
            <a:r>
              <a:rPr sz="1300">
                <a:solidFill>
                  <a:srgbClr val="1F2937"/>
                </a:solidFill>
                <a:latin typeface="Calibri"/>
              </a:rPr>
              <a:t>Remaining 35% of M3 depends on: (a) Level 1/2 production signals (DEP002, overdue), (b) Production/Consumption rules documentation (DEP005, overdue), (c) end-to-end pilot validation against real plant operations.</a:t>
            </a:r>
          </a:p>
          <a:p>
            <a:pPr>
              <a:lnSpc>
                <a:spcPct val="115000"/>
              </a:lnSpc>
              <a:spcAft>
                <a:spcPts val="200"/>
              </a:spcAft>
              <a:buChar char="■"/>
            </a:pPr>
            <a:r>
              <a:rPr sz="1300">
                <a:solidFill>
                  <a:srgbClr val="1F2937"/>
                </a:solidFill>
                <a:latin typeface="Calibri"/>
              </a:rPr>
              <a:t>M4 (Testing) and M5 (Go-Live) are tracking start dates of 26-Jun-2026 and 24-Jul-2026 respectively, contingent on M3 completion.</a:t>
            </a:r>
          </a:p>
        </p:txBody>
      </p:sp>
      <p:pic>
        <p:nvPicPr>
          <p:cNvPr id="11" name="Picture 10" descr="A purple and orange text&#10;&#10;AI-generated content may be incorrect.">
            <a:extLst>
              <a:ext uri="{FF2B5EF4-FFF2-40B4-BE49-F238E27FC236}">
                <a16:creationId xmlns:a16="http://schemas.microsoft.com/office/drawing/2014/main" id="{A1073D77-72F7-E82A-F0CA-E346957EC784}"/>
              </a:ext>
            </a:extLst>
          </p:cNvPr>
          <p:cNvPicPr>
            <a:picLocks noChangeAspect="1"/>
          </p:cNvPicPr>
          <p:nvPr/>
        </p:nvPicPr>
        <p:blipFill>
          <a:blip r:embed="rId2"/>
          <a:stretch>
            <a:fillRect/>
          </a:stretch>
        </p:blipFill>
        <p:spPr>
          <a:xfrm>
            <a:off x="10088882" y="6225064"/>
            <a:ext cx="1523998" cy="442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C</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Infrastructure &amp; Server Setup</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Hardware, network, and software stack for HMD at JSW Vijayanagar.</a:t>
            </a:r>
          </a:p>
        </p:txBody>
      </p:sp>
      <p:pic>
        <p:nvPicPr>
          <p:cNvPr id="6" name="Picture 5">
            <a:extLst>
              <a:ext uri="{FF2B5EF4-FFF2-40B4-BE49-F238E27FC236}">
                <a16:creationId xmlns:a16="http://schemas.microsoft.com/office/drawing/2014/main" id="{77AE1D0C-F18A-3602-7C78-B788E82D2953}"/>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C · INFRASTRUCTURE &amp; SERVER SETUP</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Server topology and physical deployment</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10</a:t>
            </a:r>
          </a:p>
        </p:txBody>
      </p:sp>
      <p:sp>
        <p:nvSpPr>
          <p:cNvPr id="8" name="TextBox 7"/>
          <p:cNvSpPr txBox="1"/>
          <p:nvPr/>
        </p:nvSpPr>
        <p:spPr>
          <a:xfrm>
            <a:off x="640080" y="1371600"/>
            <a:ext cx="5303520" cy="365760"/>
          </a:xfrm>
          <a:prstGeom prst="rect">
            <a:avLst/>
          </a:prstGeom>
          <a:noFill/>
        </p:spPr>
        <p:txBody>
          <a:bodyPr wrap="square" lIns="45720" tIns="18288" rIns="45720" bIns="18288" anchor="t">
            <a:spAutoFit/>
          </a:bodyPr>
          <a:lstStyle/>
          <a:p>
            <a:pPr algn="l"/>
            <a:r>
              <a:rPr sz="1100" b="1" i="0">
                <a:solidFill>
                  <a:srgbClr val="C28B1B"/>
                </a:solidFill>
                <a:latin typeface="Calibri"/>
              </a:rPr>
              <a:t>HMD HOST SERVER (AT JSW BF4 LOCATION)</a:t>
            </a:r>
          </a:p>
        </p:txBody>
      </p:sp>
      <p:graphicFrame>
        <p:nvGraphicFramePr>
          <p:cNvPr id="9" name="Table 8"/>
          <p:cNvGraphicFramePr>
            <a:graphicFrameLocks noGrp="1"/>
          </p:cNvGraphicFramePr>
          <p:nvPr/>
        </p:nvGraphicFramePr>
        <p:xfrm>
          <a:off x="640080" y="1691640"/>
          <a:ext cx="5486400" cy="2926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18011">
                <a:tc>
                  <a:txBody>
                    <a:bodyPr/>
                    <a:lstStyle/>
                    <a:p>
                      <a:pPr algn="l"/>
                      <a:r>
                        <a:rPr sz="1100" b="1">
                          <a:solidFill>
                            <a:srgbClr val="FFFFFF"/>
                          </a:solidFill>
                          <a:latin typeface="Calibri"/>
                        </a:rPr>
                        <a:t>Specification</a:t>
                      </a:r>
                    </a:p>
                  </a:txBody>
                  <a:tcPr>
                    <a:solidFill>
                      <a:srgbClr val="1E3A8A"/>
                    </a:solidFill>
                  </a:tcPr>
                </a:tc>
                <a:tc>
                  <a:txBody>
                    <a:bodyPr/>
                    <a:lstStyle/>
                    <a:p>
                      <a:pPr algn="l"/>
                      <a:r>
                        <a:rPr sz="1100" b="1">
                          <a:solidFill>
                            <a:srgbClr val="FFFFFF"/>
                          </a:solidFill>
                          <a:latin typeface="Calibri"/>
                        </a:rPr>
                        <a:t>Detail</a:t>
                      </a:r>
                    </a:p>
                  </a:txBody>
                  <a:tcPr>
                    <a:solidFill>
                      <a:srgbClr val="1E3A8A"/>
                    </a:solidFill>
                  </a:tcPr>
                </a:tc>
                <a:extLst>
                  <a:ext uri="{0D108BD9-81ED-4DB2-BD59-A6C34878D82A}">
                    <a16:rowId xmlns:a16="http://schemas.microsoft.com/office/drawing/2014/main" val="10000"/>
                  </a:ext>
                </a:extLst>
              </a:tr>
              <a:tr h="418011">
                <a:tc>
                  <a:txBody>
                    <a:bodyPr/>
                    <a:lstStyle/>
                    <a:p>
                      <a:pPr algn="l"/>
                      <a:r>
                        <a:rPr sz="1100" b="1">
                          <a:solidFill>
                            <a:srgbClr val="1E3A8A"/>
                          </a:solidFill>
                          <a:latin typeface="Calibri"/>
                        </a:rPr>
                        <a:t>Hardware</a:t>
                      </a:r>
                    </a:p>
                  </a:txBody>
                  <a:tcPr>
                    <a:solidFill>
                      <a:srgbClr val="FFFFFF"/>
                    </a:solidFill>
                  </a:tcPr>
                </a:tc>
                <a:tc>
                  <a:txBody>
                    <a:bodyPr/>
                    <a:lstStyle/>
                    <a:p>
                      <a:pPr algn="l"/>
                      <a:r>
                        <a:rPr sz="1100" b="0">
                          <a:solidFill>
                            <a:srgbClr val="1F2937"/>
                          </a:solidFill>
                          <a:latin typeface="Calibri"/>
                        </a:rPr>
                        <a:t>HPE ProLiant DL160 Gen9</a:t>
                      </a:r>
                    </a:p>
                  </a:txBody>
                  <a:tcPr>
                    <a:solidFill>
                      <a:srgbClr val="FFFFFF"/>
                    </a:solidFill>
                  </a:tcPr>
                </a:tc>
                <a:extLst>
                  <a:ext uri="{0D108BD9-81ED-4DB2-BD59-A6C34878D82A}">
                    <a16:rowId xmlns:a16="http://schemas.microsoft.com/office/drawing/2014/main" val="10001"/>
                  </a:ext>
                </a:extLst>
              </a:tr>
              <a:tr h="418011">
                <a:tc>
                  <a:txBody>
                    <a:bodyPr/>
                    <a:lstStyle/>
                    <a:p>
                      <a:pPr algn="l"/>
                      <a:r>
                        <a:rPr sz="1100" b="1">
                          <a:solidFill>
                            <a:srgbClr val="1E3A8A"/>
                          </a:solidFill>
                          <a:latin typeface="Calibri"/>
                        </a:rPr>
                        <a:t>Operating System</a:t>
                      </a:r>
                    </a:p>
                  </a:txBody>
                  <a:tcPr>
                    <a:solidFill>
                      <a:srgbClr val="F8FAFC"/>
                    </a:solidFill>
                  </a:tcPr>
                </a:tc>
                <a:tc>
                  <a:txBody>
                    <a:bodyPr/>
                    <a:lstStyle/>
                    <a:p>
                      <a:pPr algn="l"/>
                      <a:r>
                        <a:rPr sz="1100" b="0">
                          <a:solidFill>
                            <a:srgbClr val="1F2937"/>
                          </a:solidFill>
                          <a:latin typeface="Calibri"/>
                        </a:rPr>
                        <a:t>Windows Server 2022 (license procured Feb-2026)</a:t>
                      </a:r>
                    </a:p>
                  </a:txBody>
                  <a:tcPr>
                    <a:solidFill>
                      <a:srgbClr val="F8FAFC"/>
                    </a:solidFill>
                  </a:tcPr>
                </a:tc>
                <a:extLst>
                  <a:ext uri="{0D108BD9-81ED-4DB2-BD59-A6C34878D82A}">
                    <a16:rowId xmlns:a16="http://schemas.microsoft.com/office/drawing/2014/main" val="10002"/>
                  </a:ext>
                </a:extLst>
              </a:tr>
              <a:tr h="418011">
                <a:tc>
                  <a:txBody>
                    <a:bodyPr/>
                    <a:lstStyle/>
                    <a:p>
                      <a:pPr algn="l"/>
                      <a:r>
                        <a:rPr sz="1100" b="1">
                          <a:solidFill>
                            <a:srgbClr val="1E3A8A"/>
                          </a:solidFill>
                          <a:latin typeface="Calibri"/>
                        </a:rPr>
                        <a:t>Application Stack</a:t>
                      </a:r>
                    </a:p>
                  </a:txBody>
                  <a:tcPr>
                    <a:solidFill>
                      <a:srgbClr val="FFFFFF"/>
                    </a:solidFill>
                  </a:tcPr>
                </a:tc>
                <a:tc>
                  <a:txBody>
                    <a:bodyPr/>
                    <a:lstStyle/>
                    <a:p>
                      <a:pPr algn="l"/>
                      <a:r>
                        <a:rPr sz="1100" b="0">
                          <a:solidFill>
                            <a:srgbClr val="1F2937"/>
                          </a:solidFill>
                          <a:latin typeface="Calibri"/>
                        </a:rPr>
                        <a:t>FastAPI · React · PostgreSQL · Redis</a:t>
                      </a:r>
                    </a:p>
                  </a:txBody>
                  <a:tcPr>
                    <a:solidFill>
                      <a:srgbClr val="FFFFFF"/>
                    </a:solidFill>
                  </a:tcPr>
                </a:tc>
                <a:extLst>
                  <a:ext uri="{0D108BD9-81ED-4DB2-BD59-A6C34878D82A}">
                    <a16:rowId xmlns:a16="http://schemas.microsoft.com/office/drawing/2014/main" val="10003"/>
                  </a:ext>
                </a:extLst>
              </a:tr>
              <a:tr h="418011">
                <a:tc>
                  <a:txBody>
                    <a:bodyPr/>
                    <a:lstStyle/>
                    <a:p>
                      <a:pPr algn="l"/>
                      <a:r>
                        <a:rPr sz="1100" b="1">
                          <a:solidFill>
                            <a:srgbClr val="1E3A8A"/>
                          </a:solidFill>
                          <a:latin typeface="Calibri"/>
                        </a:rPr>
                        <a:t>Runtime</a:t>
                      </a:r>
                    </a:p>
                  </a:txBody>
                  <a:tcPr>
                    <a:solidFill>
                      <a:srgbClr val="F8FAFC"/>
                    </a:solidFill>
                  </a:tcPr>
                </a:tc>
                <a:tc>
                  <a:txBody>
                    <a:bodyPr/>
                    <a:lstStyle/>
                    <a:p>
                      <a:pPr algn="l"/>
                      <a:r>
                        <a:rPr sz="1100" b="0">
                          <a:solidFill>
                            <a:srgbClr val="1F2937"/>
                          </a:solidFill>
                          <a:latin typeface="Calibri"/>
                        </a:rPr>
                        <a:t>Python venv + Node.js + nginx (frontend)</a:t>
                      </a:r>
                    </a:p>
                  </a:txBody>
                  <a:tcPr>
                    <a:solidFill>
                      <a:srgbClr val="F8FAFC"/>
                    </a:solidFill>
                  </a:tcPr>
                </a:tc>
                <a:extLst>
                  <a:ext uri="{0D108BD9-81ED-4DB2-BD59-A6C34878D82A}">
                    <a16:rowId xmlns:a16="http://schemas.microsoft.com/office/drawing/2014/main" val="10004"/>
                  </a:ext>
                </a:extLst>
              </a:tr>
              <a:tr h="418011">
                <a:tc>
                  <a:txBody>
                    <a:bodyPr/>
                    <a:lstStyle/>
                    <a:p>
                      <a:pPr algn="l"/>
                      <a:r>
                        <a:rPr sz="1100" b="1">
                          <a:solidFill>
                            <a:srgbClr val="1E3A8A"/>
                          </a:solidFill>
                          <a:latin typeface="Calibri"/>
                        </a:rPr>
                        <a:t>Physical Location</a:t>
                      </a:r>
                    </a:p>
                  </a:txBody>
                  <a:tcPr>
                    <a:solidFill>
                      <a:srgbClr val="FFFFFF"/>
                    </a:solidFill>
                  </a:tcPr>
                </a:tc>
                <a:tc>
                  <a:txBody>
                    <a:bodyPr/>
                    <a:lstStyle/>
                    <a:p>
                      <a:pPr algn="l"/>
                      <a:r>
                        <a:rPr sz="1100" b="0">
                          <a:solidFill>
                            <a:srgbClr val="1F2937"/>
                          </a:solidFill>
                          <a:latin typeface="Calibri"/>
                        </a:rPr>
                        <a:t>BF4 (Blast Furnace 4 area)</a:t>
                      </a:r>
                    </a:p>
                  </a:txBody>
                  <a:tcPr>
                    <a:solidFill>
                      <a:srgbClr val="FFFFFF"/>
                    </a:solidFill>
                  </a:tcPr>
                </a:tc>
                <a:extLst>
                  <a:ext uri="{0D108BD9-81ED-4DB2-BD59-A6C34878D82A}">
                    <a16:rowId xmlns:a16="http://schemas.microsoft.com/office/drawing/2014/main" val="10005"/>
                  </a:ext>
                </a:extLst>
              </a:tr>
              <a:tr h="418014">
                <a:tc>
                  <a:txBody>
                    <a:bodyPr/>
                    <a:lstStyle/>
                    <a:p>
                      <a:pPr algn="l"/>
                      <a:r>
                        <a:rPr sz="1100" b="1">
                          <a:solidFill>
                            <a:srgbClr val="1E3A8A"/>
                          </a:solidFill>
                          <a:latin typeface="Calibri"/>
                        </a:rPr>
                        <a:t>Owned &amp; Maintained by</a:t>
                      </a:r>
                    </a:p>
                  </a:txBody>
                  <a:tcPr>
                    <a:solidFill>
                      <a:srgbClr val="F8FAFC"/>
                    </a:solidFill>
                  </a:tcPr>
                </a:tc>
                <a:tc>
                  <a:txBody>
                    <a:bodyPr/>
                    <a:lstStyle/>
                    <a:p>
                      <a:pPr algn="l"/>
                      <a:r>
                        <a:rPr sz="1100" b="0">
                          <a:solidFill>
                            <a:srgbClr val="1F2937"/>
                          </a:solidFill>
                          <a:latin typeface="Calibri"/>
                        </a:rPr>
                        <a:t>JSW BF4 team (per 22-Apr-2026 agreement)</a:t>
                      </a:r>
                    </a:p>
                  </a:txBody>
                  <a:tcPr>
                    <a:solidFill>
                      <a:srgbClr val="F8FAFC"/>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6400800" y="1371600"/>
            <a:ext cx="5303520" cy="365760"/>
          </a:xfrm>
          <a:prstGeom prst="rect">
            <a:avLst/>
          </a:prstGeom>
          <a:noFill/>
        </p:spPr>
        <p:txBody>
          <a:bodyPr wrap="square" lIns="45720" tIns="18288" rIns="45720" bIns="18288" anchor="t">
            <a:spAutoFit/>
          </a:bodyPr>
          <a:lstStyle/>
          <a:p>
            <a:pPr algn="l"/>
            <a:r>
              <a:rPr sz="1100" b="1" i="0">
                <a:solidFill>
                  <a:srgbClr val="C28B1B"/>
                </a:solidFill>
                <a:latin typeface="Calibri"/>
              </a:rPr>
              <a:t>ACCESS &amp; CONNECTIVITY</a:t>
            </a:r>
          </a:p>
        </p:txBody>
      </p:sp>
      <p:graphicFrame>
        <p:nvGraphicFramePr>
          <p:cNvPr id="11" name="Table 10"/>
          <p:cNvGraphicFramePr>
            <a:graphicFrameLocks noGrp="1"/>
          </p:cNvGraphicFramePr>
          <p:nvPr/>
        </p:nvGraphicFramePr>
        <p:xfrm>
          <a:off x="6400800" y="1691640"/>
          <a:ext cx="5486400" cy="2926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18011">
                <a:tc>
                  <a:txBody>
                    <a:bodyPr/>
                    <a:lstStyle/>
                    <a:p>
                      <a:pPr algn="l"/>
                      <a:r>
                        <a:rPr sz="1100" b="1">
                          <a:solidFill>
                            <a:srgbClr val="FFFFFF"/>
                          </a:solidFill>
                          <a:latin typeface="Calibri"/>
                        </a:rPr>
                        <a:t>Aspect</a:t>
                      </a:r>
                    </a:p>
                  </a:txBody>
                  <a:tcPr>
                    <a:solidFill>
                      <a:srgbClr val="1E3A8A"/>
                    </a:solidFill>
                  </a:tcPr>
                </a:tc>
                <a:tc>
                  <a:txBody>
                    <a:bodyPr/>
                    <a:lstStyle/>
                    <a:p>
                      <a:pPr algn="l"/>
                      <a:r>
                        <a:rPr sz="1100" b="1">
                          <a:solidFill>
                            <a:srgbClr val="FFFFFF"/>
                          </a:solidFill>
                          <a:latin typeface="Calibri"/>
                        </a:rPr>
                        <a:t>Detail</a:t>
                      </a:r>
                    </a:p>
                  </a:txBody>
                  <a:tcPr>
                    <a:solidFill>
                      <a:srgbClr val="1E3A8A"/>
                    </a:solidFill>
                  </a:tcPr>
                </a:tc>
                <a:extLst>
                  <a:ext uri="{0D108BD9-81ED-4DB2-BD59-A6C34878D82A}">
                    <a16:rowId xmlns:a16="http://schemas.microsoft.com/office/drawing/2014/main" val="10000"/>
                  </a:ext>
                </a:extLst>
              </a:tr>
              <a:tr h="418011">
                <a:tc>
                  <a:txBody>
                    <a:bodyPr/>
                    <a:lstStyle/>
                    <a:p>
                      <a:pPr algn="l"/>
                      <a:r>
                        <a:rPr sz="1100" b="1">
                          <a:solidFill>
                            <a:srgbClr val="1E3A8A"/>
                          </a:solidFill>
                          <a:latin typeface="Calibri"/>
                        </a:rPr>
                        <a:t>Frontend access</a:t>
                      </a:r>
                    </a:p>
                  </a:txBody>
                  <a:tcPr>
                    <a:solidFill>
                      <a:srgbClr val="FFFFFF"/>
                    </a:solidFill>
                  </a:tcPr>
                </a:tc>
                <a:tc>
                  <a:txBody>
                    <a:bodyPr/>
                    <a:lstStyle/>
                    <a:p>
                      <a:pPr algn="l"/>
                      <a:r>
                        <a:rPr sz="1100" b="0">
                          <a:solidFill>
                            <a:srgbClr val="1F2937"/>
                          </a:solidFill>
                          <a:latin typeface="Calibri"/>
                        </a:rPr>
                        <a:t>http://&lt;BF4-PC&gt;:5173 (JSW intranet)</a:t>
                      </a:r>
                    </a:p>
                  </a:txBody>
                  <a:tcPr>
                    <a:solidFill>
                      <a:srgbClr val="FFFFFF"/>
                    </a:solidFill>
                  </a:tcPr>
                </a:tc>
                <a:extLst>
                  <a:ext uri="{0D108BD9-81ED-4DB2-BD59-A6C34878D82A}">
                    <a16:rowId xmlns:a16="http://schemas.microsoft.com/office/drawing/2014/main" val="10001"/>
                  </a:ext>
                </a:extLst>
              </a:tr>
              <a:tr h="418011">
                <a:tc>
                  <a:txBody>
                    <a:bodyPr/>
                    <a:lstStyle/>
                    <a:p>
                      <a:pPr algn="l"/>
                      <a:r>
                        <a:rPr sz="1100" b="1">
                          <a:solidFill>
                            <a:srgbClr val="1E3A8A"/>
                          </a:solidFill>
                          <a:latin typeface="Calibri"/>
                        </a:rPr>
                        <a:t>Backend API</a:t>
                      </a:r>
                    </a:p>
                  </a:txBody>
                  <a:tcPr>
                    <a:solidFill>
                      <a:srgbClr val="F8FAFC"/>
                    </a:solidFill>
                  </a:tcPr>
                </a:tc>
                <a:tc>
                  <a:txBody>
                    <a:bodyPr/>
                    <a:lstStyle/>
                    <a:p>
                      <a:pPr algn="l"/>
                      <a:r>
                        <a:rPr sz="1100" b="0">
                          <a:solidFill>
                            <a:srgbClr val="1F2937"/>
                          </a:solidFill>
                          <a:latin typeface="Calibri"/>
                        </a:rPr>
                        <a:t>http://&lt;BF4-PC&gt;:8000</a:t>
                      </a:r>
                    </a:p>
                  </a:txBody>
                  <a:tcPr>
                    <a:solidFill>
                      <a:srgbClr val="F8FAFC"/>
                    </a:solidFill>
                  </a:tcPr>
                </a:tc>
                <a:extLst>
                  <a:ext uri="{0D108BD9-81ED-4DB2-BD59-A6C34878D82A}">
                    <a16:rowId xmlns:a16="http://schemas.microsoft.com/office/drawing/2014/main" val="10002"/>
                  </a:ext>
                </a:extLst>
              </a:tr>
              <a:tr h="418011">
                <a:tc>
                  <a:txBody>
                    <a:bodyPr/>
                    <a:lstStyle/>
                    <a:p>
                      <a:pPr algn="l"/>
                      <a:r>
                        <a:rPr sz="1100" b="1">
                          <a:solidFill>
                            <a:srgbClr val="1E3A8A"/>
                          </a:solidFill>
                          <a:latin typeface="Calibri"/>
                        </a:rPr>
                        <a:t>Database (internal)</a:t>
                      </a:r>
                    </a:p>
                  </a:txBody>
                  <a:tcPr>
                    <a:solidFill>
                      <a:srgbClr val="FFFFFF"/>
                    </a:solidFill>
                  </a:tcPr>
                </a:tc>
                <a:tc>
                  <a:txBody>
                    <a:bodyPr/>
                    <a:lstStyle/>
                    <a:p>
                      <a:pPr algn="l"/>
                      <a:r>
                        <a:rPr sz="1100" b="0">
                          <a:solidFill>
                            <a:srgbClr val="1F2937"/>
                          </a:solidFill>
                          <a:latin typeface="Calibri"/>
                        </a:rPr>
                        <a:t>PostgreSQL on localhost:5432</a:t>
                      </a:r>
                    </a:p>
                  </a:txBody>
                  <a:tcPr>
                    <a:solidFill>
                      <a:srgbClr val="FFFFFF"/>
                    </a:solidFill>
                  </a:tcPr>
                </a:tc>
                <a:extLst>
                  <a:ext uri="{0D108BD9-81ED-4DB2-BD59-A6C34878D82A}">
                    <a16:rowId xmlns:a16="http://schemas.microsoft.com/office/drawing/2014/main" val="10003"/>
                  </a:ext>
                </a:extLst>
              </a:tr>
              <a:tr h="418011">
                <a:tc>
                  <a:txBody>
                    <a:bodyPr/>
                    <a:lstStyle/>
                    <a:p>
                      <a:pPr algn="l"/>
                      <a:r>
                        <a:rPr sz="1100" b="1">
                          <a:solidFill>
                            <a:srgbClr val="1E3A8A"/>
                          </a:solidFill>
                          <a:latin typeface="Calibri"/>
                        </a:rPr>
                        <a:t>Cache (internal)</a:t>
                      </a:r>
                    </a:p>
                  </a:txBody>
                  <a:tcPr>
                    <a:solidFill>
                      <a:srgbClr val="F8FAFC"/>
                    </a:solidFill>
                  </a:tcPr>
                </a:tc>
                <a:tc>
                  <a:txBody>
                    <a:bodyPr/>
                    <a:lstStyle/>
                    <a:p>
                      <a:pPr algn="l"/>
                      <a:r>
                        <a:rPr sz="1100" b="0">
                          <a:solidFill>
                            <a:srgbClr val="1F2937"/>
                          </a:solidFill>
                          <a:latin typeface="Calibri"/>
                        </a:rPr>
                        <a:t>Redis on localhost:6379</a:t>
                      </a:r>
                    </a:p>
                  </a:txBody>
                  <a:tcPr>
                    <a:solidFill>
                      <a:srgbClr val="F8FAFC"/>
                    </a:solidFill>
                  </a:tcPr>
                </a:tc>
                <a:extLst>
                  <a:ext uri="{0D108BD9-81ED-4DB2-BD59-A6C34878D82A}">
                    <a16:rowId xmlns:a16="http://schemas.microsoft.com/office/drawing/2014/main" val="10004"/>
                  </a:ext>
                </a:extLst>
              </a:tr>
              <a:tr h="418011">
                <a:tc>
                  <a:txBody>
                    <a:bodyPr/>
                    <a:lstStyle/>
                    <a:p>
                      <a:pPr algn="l"/>
                      <a:r>
                        <a:rPr sz="1100" b="1">
                          <a:solidFill>
                            <a:srgbClr val="1E3A8A"/>
                          </a:solidFill>
                          <a:latin typeface="Calibri"/>
                        </a:rPr>
                        <a:t>Remote development</a:t>
                      </a:r>
                    </a:p>
                  </a:txBody>
                  <a:tcPr>
                    <a:solidFill>
                      <a:srgbClr val="FFFFFF"/>
                    </a:solidFill>
                  </a:tcPr>
                </a:tc>
                <a:tc>
                  <a:txBody>
                    <a:bodyPr/>
                    <a:lstStyle/>
                    <a:p>
                      <a:pPr algn="l"/>
                      <a:r>
                        <a:rPr sz="1100" b="0">
                          <a:solidFill>
                            <a:srgbClr val="1F2937"/>
                          </a:solidFill>
                          <a:latin typeface="Calibri"/>
                        </a:rPr>
                        <a:t>VPN to JSW network → AnyDesk to BF4 PC</a:t>
                      </a:r>
                    </a:p>
                  </a:txBody>
                  <a:tcPr>
                    <a:solidFill>
                      <a:srgbClr val="FFFFFF"/>
                    </a:solidFill>
                  </a:tcPr>
                </a:tc>
                <a:extLst>
                  <a:ext uri="{0D108BD9-81ED-4DB2-BD59-A6C34878D82A}">
                    <a16:rowId xmlns:a16="http://schemas.microsoft.com/office/drawing/2014/main" val="10005"/>
                  </a:ext>
                </a:extLst>
              </a:tr>
              <a:tr h="418014">
                <a:tc>
                  <a:txBody>
                    <a:bodyPr/>
                    <a:lstStyle/>
                    <a:p>
                      <a:pPr algn="l"/>
                      <a:r>
                        <a:rPr sz="1100" b="1">
                          <a:solidFill>
                            <a:srgbClr val="1E3A8A"/>
                          </a:solidFill>
                          <a:latin typeface="Calibri"/>
                        </a:rPr>
                        <a:t>Source DB access</a:t>
                      </a:r>
                    </a:p>
                  </a:txBody>
                  <a:tcPr>
                    <a:solidFill>
                      <a:srgbClr val="F8FAFC"/>
                    </a:solidFill>
                  </a:tcPr>
                </a:tc>
                <a:tc>
                  <a:txBody>
                    <a:bodyPr/>
                    <a:lstStyle/>
                    <a:p>
                      <a:pPr algn="l"/>
                      <a:r>
                        <a:rPr sz="1100" b="0">
                          <a:solidFill>
                            <a:srgbClr val="1F2937"/>
                          </a:solidFill>
                          <a:latin typeface="Calibri"/>
                        </a:rPr>
                        <a:t>Outbound to JSW DB servers (SuVeechi 3306, Oracle 1522)</a:t>
                      </a:r>
                    </a:p>
                  </a:txBody>
                  <a:tcPr>
                    <a:solidFill>
                      <a:srgbClr val="F8FAFC"/>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640080" y="484632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KEY POINT</a:t>
            </a:r>
          </a:p>
        </p:txBody>
      </p:sp>
      <p:sp>
        <p:nvSpPr>
          <p:cNvPr id="13" name="TextBox 12"/>
          <p:cNvSpPr txBox="1"/>
          <p:nvPr/>
        </p:nvSpPr>
        <p:spPr>
          <a:xfrm>
            <a:off x="640080" y="5120640"/>
            <a:ext cx="10972800" cy="1280160"/>
          </a:xfrm>
          <a:prstGeom prst="rect">
            <a:avLst/>
          </a:prstGeom>
          <a:noFill/>
        </p:spPr>
        <p:txBody>
          <a:bodyPr wrap="square" lIns="45720" tIns="18288" rIns="45720" bIns="18288" anchor="t">
            <a:spAutoFit/>
          </a:bodyPr>
          <a:lstStyle/>
          <a:p>
            <a:pPr algn="l"/>
            <a:r>
              <a:rPr sz="1300" b="0" i="0">
                <a:solidFill>
                  <a:srgbClr val="1F2937"/>
                </a:solidFill>
                <a:latin typeface="Calibri"/>
              </a:rPr>
              <a:t>The HMD application lives entirely inside JSW's secure network. No data leaves the plant. All three source databases (SuVeechi, WBATNGL, HTS) are reached from the BF4 PC over JSW's internal network. Deevia developers connect via approved VPN credentials (granted 06-May-2026) for ongoing support and updates only — no production data flows outside JSW infrastructure.</a:t>
            </a:r>
          </a:p>
        </p:txBody>
      </p:sp>
      <p:pic>
        <p:nvPicPr>
          <p:cNvPr id="14" name="Picture 13" descr="A purple and orange text&#10;&#10;AI-generated content may be incorrect.">
            <a:extLst>
              <a:ext uri="{FF2B5EF4-FFF2-40B4-BE49-F238E27FC236}">
                <a16:creationId xmlns:a16="http://schemas.microsoft.com/office/drawing/2014/main" id="{C0633299-470F-D3E2-5BF2-BC6141863DCB}"/>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C · INFRASTRUCTURE &amp; SERVER SETUP</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Network integration journey</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11</a:t>
            </a:r>
          </a:p>
        </p:txBody>
      </p:sp>
      <p:graphicFrame>
        <p:nvGraphicFramePr>
          <p:cNvPr id="8" name="Table 7"/>
          <p:cNvGraphicFramePr>
            <a:graphicFrameLocks noGrp="1"/>
          </p:cNvGraphicFramePr>
          <p:nvPr/>
        </p:nvGraphicFramePr>
        <p:xfrm>
          <a:off x="640080" y="1463040"/>
          <a:ext cx="10972800" cy="3708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9144000">
                  <a:extLst>
                    <a:ext uri="{9D8B030D-6E8A-4147-A177-3AD203B41FA5}">
                      <a16:colId xmlns:a16="http://schemas.microsoft.com/office/drawing/2014/main" val="20001"/>
                    </a:ext>
                  </a:extLst>
                </a:gridCol>
              </a:tblGrid>
              <a:tr h="406400">
                <a:tc>
                  <a:txBody>
                    <a:bodyPr/>
                    <a:lstStyle/>
                    <a:p>
                      <a:pPr algn="l"/>
                      <a:r>
                        <a:rPr sz="1300" b="1">
                          <a:solidFill>
                            <a:srgbClr val="FFFFFF"/>
                          </a:solidFill>
                          <a:latin typeface="Calibri"/>
                        </a:rPr>
                        <a:t>Date</a:t>
                      </a:r>
                    </a:p>
                  </a:txBody>
                  <a:tcPr>
                    <a:solidFill>
                      <a:srgbClr val="1E3A8A"/>
                    </a:solidFill>
                  </a:tcPr>
                </a:tc>
                <a:tc>
                  <a:txBody>
                    <a:bodyPr/>
                    <a:lstStyle/>
                    <a:p>
                      <a:pPr algn="l"/>
                      <a:r>
                        <a:rPr sz="1300" b="1">
                          <a:solidFill>
                            <a:srgbClr val="FFFFFF"/>
                          </a:solidFill>
                          <a:latin typeface="Calibri"/>
                        </a:rPr>
                        <a:t>Network Integration Event</a:t>
                      </a:r>
                    </a:p>
                  </a:txBody>
                  <a:tcPr>
                    <a:solidFill>
                      <a:srgbClr val="1E3A8A"/>
                    </a:solidFill>
                  </a:tcPr>
                </a:tc>
                <a:extLst>
                  <a:ext uri="{0D108BD9-81ED-4DB2-BD59-A6C34878D82A}">
                    <a16:rowId xmlns:a16="http://schemas.microsoft.com/office/drawing/2014/main" val="10000"/>
                  </a:ext>
                </a:extLst>
              </a:tr>
              <a:tr h="406400">
                <a:tc>
                  <a:txBody>
                    <a:bodyPr/>
                    <a:lstStyle/>
                    <a:p>
                      <a:pPr algn="l"/>
                      <a:r>
                        <a:rPr sz="1200" b="1">
                          <a:solidFill>
                            <a:srgbClr val="1E3A8A"/>
                          </a:solidFill>
                          <a:latin typeface="Calibri"/>
                        </a:rPr>
                        <a:t>Mar-2026</a:t>
                      </a:r>
                    </a:p>
                  </a:txBody>
                  <a:tcPr>
                    <a:solidFill>
                      <a:srgbClr val="FFFFFF"/>
                    </a:solidFill>
                  </a:tcPr>
                </a:tc>
                <a:tc>
                  <a:txBody>
                    <a:bodyPr/>
                    <a:lstStyle/>
                    <a:p>
                      <a:pPr algn="l"/>
                      <a:r>
                        <a:rPr sz="1200" b="0">
                          <a:solidFill>
                            <a:srgbClr val="1F2937"/>
                          </a:solidFill>
                          <a:latin typeface="Calibri"/>
                        </a:rPr>
                        <a:t>Initial network plan — Deevia dev system to be placed at BF4-L2 subnet (192.168.150.100)</a:t>
                      </a:r>
                    </a:p>
                  </a:txBody>
                  <a:tcPr>
                    <a:solidFill>
                      <a:srgbClr val="FFFFFF"/>
                    </a:solidFill>
                  </a:tcPr>
                </a:tc>
                <a:extLst>
                  <a:ext uri="{0D108BD9-81ED-4DB2-BD59-A6C34878D82A}">
                    <a16:rowId xmlns:a16="http://schemas.microsoft.com/office/drawing/2014/main" val="10001"/>
                  </a:ext>
                </a:extLst>
              </a:tr>
              <a:tr h="406400">
                <a:tc>
                  <a:txBody>
                    <a:bodyPr/>
                    <a:lstStyle/>
                    <a:p>
                      <a:pPr algn="l"/>
                      <a:r>
                        <a:rPr sz="1200" b="1">
                          <a:solidFill>
                            <a:srgbClr val="1E3A8A"/>
                          </a:solidFill>
                          <a:latin typeface="Calibri"/>
                        </a:rPr>
                        <a:t>08-Apr-2026</a:t>
                      </a:r>
                    </a:p>
                  </a:txBody>
                  <a:tcPr>
                    <a:solidFill>
                      <a:srgbClr val="F8FAFC"/>
                    </a:solidFill>
                  </a:tcPr>
                </a:tc>
                <a:tc>
                  <a:txBody>
                    <a:bodyPr/>
                    <a:lstStyle/>
                    <a:p>
                      <a:pPr algn="l"/>
                      <a:r>
                        <a:rPr sz="1200" b="0">
                          <a:solidFill>
                            <a:srgbClr val="1F2937"/>
                          </a:solidFill>
                          <a:latin typeface="Calibri"/>
                        </a:rPr>
                        <a:t>Network access request raised — DB servers unreachable from Deevia PC (100% packet loss)</a:t>
                      </a:r>
                    </a:p>
                  </a:txBody>
                  <a:tcPr>
                    <a:solidFill>
                      <a:srgbClr val="F8FAFC"/>
                    </a:solidFill>
                  </a:tcPr>
                </a:tc>
                <a:extLst>
                  <a:ext uri="{0D108BD9-81ED-4DB2-BD59-A6C34878D82A}">
                    <a16:rowId xmlns:a16="http://schemas.microsoft.com/office/drawing/2014/main" val="10002"/>
                  </a:ext>
                </a:extLst>
              </a:tr>
              <a:tr h="406400">
                <a:tc>
                  <a:txBody>
                    <a:bodyPr/>
                    <a:lstStyle/>
                    <a:p>
                      <a:pPr algn="l"/>
                      <a:r>
                        <a:rPr sz="1200" b="1">
                          <a:solidFill>
                            <a:srgbClr val="1E3A8A"/>
                          </a:solidFill>
                          <a:latin typeface="Calibri"/>
                        </a:rPr>
                        <a:t>17-Apr-2026</a:t>
                      </a:r>
                    </a:p>
                  </a:txBody>
                  <a:tcPr>
                    <a:solidFill>
                      <a:srgbClr val="FFFFFF"/>
                    </a:solidFill>
                  </a:tcPr>
                </a:tc>
                <a:tc>
                  <a:txBody>
                    <a:bodyPr/>
                    <a:lstStyle/>
                    <a:p>
                      <a:pPr algn="l"/>
                      <a:r>
                        <a:rPr sz="1200" b="0">
                          <a:solidFill>
                            <a:srgbClr val="1F2937"/>
                          </a:solidFill>
                          <a:latin typeface="Calibri"/>
                        </a:rPr>
                        <a:t>Root cause confirmed — no LAN connection from DSI laptop (firewall ruled out)</a:t>
                      </a:r>
                    </a:p>
                  </a:txBody>
                  <a:tcPr>
                    <a:solidFill>
                      <a:srgbClr val="FFFFFF"/>
                    </a:solidFill>
                  </a:tcPr>
                </a:tc>
                <a:extLst>
                  <a:ext uri="{0D108BD9-81ED-4DB2-BD59-A6C34878D82A}">
                    <a16:rowId xmlns:a16="http://schemas.microsoft.com/office/drawing/2014/main" val="10003"/>
                  </a:ext>
                </a:extLst>
              </a:tr>
              <a:tr h="406400">
                <a:tc>
                  <a:txBody>
                    <a:bodyPr/>
                    <a:lstStyle/>
                    <a:p>
                      <a:pPr algn="l"/>
                      <a:r>
                        <a:rPr sz="1200" b="1">
                          <a:solidFill>
                            <a:srgbClr val="1E3A8A"/>
                          </a:solidFill>
                          <a:latin typeface="Calibri"/>
                        </a:rPr>
                        <a:t>21-Apr-2026</a:t>
                      </a:r>
                    </a:p>
                  </a:txBody>
                  <a:tcPr>
                    <a:solidFill>
                      <a:srgbClr val="F8FAFC"/>
                    </a:solidFill>
                  </a:tcPr>
                </a:tc>
                <a:tc>
                  <a:txBody>
                    <a:bodyPr/>
                    <a:lstStyle/>
                    <a:p>
                      <a:pPr algn="l"/>
                      <a:r>
                        <a:rPr sz="1200" b="0">
                          <a:solidFill>
                            <a:srgbClr val="1F2937"/>
                          </a:solidFill>
                          <a:latin typeface="Calibri"/>
                        </a:rPr>
                        <a:t>Teams meeting with JSW IT (Divakara, Hari, Pradeep, Vasagerappa) to resolve LAN integration approach</a:t>
                      </a:r>
                    </a:p>
                  </a:txBody>
                  <a:tcPr>
                    <a:solidFill>
                      <a:srgbClr val="F8FAFC"/>
                    </a:solidFill>
                  </a:tcPr>
                </a:tc>
                <a:extLst>
                  <a:ext uri="{0D108BD9-81ED-4DB2-BD59-A6C34878D82A}">
                    <a16:rowId xmlns:a16="http://schemas.microsoft.com/office/drawing/2014/main" val="10004"/>
                  </a:ext>
                </a:extLst>
              </a:tr>
              <a:tr h="406400">
                <a:tc>
                  <a:txBody>
                    <a:bodyPr/>
                    <a:lstStyle/>
                    <a:p>
                      <a:pPr algn="l"/>
                      <a:r>
                        <a:rPr sz="1200" b="1">
                          <a:solidFill>
                            <a:srgbClr val="1E3A8A"/>
                          </a:solidFill>
                          <a:latin typeface="Calibri"/>
                        </a:rPr>
                        <a:t>22-Apr-2026</a:t>
                      </a:r>
                    </a:p>
                  </a:txBody>
                  <a:tcPr>
                    <a:solidFill>
                      <a:srgbClr val="FFFFFF"/>
                    </a:solidFill>
                  </a:tcPr>
                </a:tc>
                <a:tc>
                  <a:txBody>
                    <a:bodyPr/>
                    <a:lstStyle/>
                    <a:p>
                      <a:pPr algn="l"/>
                      <a:r>
                        <a:rPr sz="1200" b="0">
                          <a:solidFill>
                            <a:srgbClr val="1F2937"/>
                          </a:solidFill>
                          <a:latin typeface="Calibri"/>
                        </a:rPr>
                        <a:t>Server hardware maintenance ownership agreed with BF4 team (Divakar's email)</a:t>
                      </a:r>
                    </a:p>
                  </a:txBody>
                  <a:tcPr>
                    <a:solidFill>
                      <a:srgbClr val="FFFFFF"/>
                    </a:solidFill>
                  </a:tcPr>
                </a:tc>
                <a:extLst>
                  <a:ext uri="{0D108BD9-81ED-4DB2-BD59-A6C34878D82A}">
                    <a16:rowId xmlns:a16="http://schemas.microsoft.com/office/drawing/2014/main" val="10005"/>
                  </a:ext>
                </a:extLst>
              </a:tr>
              <a:tr h="406400">
                <a:tc>
                  <a:txBody>
                    <a:bodyPr/>
                    <a:lstStyle/>
                    <a:p>
                      <a:pPr algn="l"/>
                      <a:r>
                        <a:rPr sz="1200" b="1">
                          <a:solidFill>
                            <a:srgbClr val="1E3A8A"/>
                          </a:solidFill>
                          <a:latin typeface="Calibri"/>
                        </a:rPr>
                        <a:t>~24–30-Apr-2026</a:t>
                      </a:r>
                    </a:p>
                  </a:txBody>
                  <a:tcPr>
                    <a:solidFill>
                      <a:srgbClr val="F8FAFC"/>
                    </a:solidFill>
                  </a:tcPr>
                </a:tc>
                <a:tc>
                  <a:txBody>
                    <a:bodyPr/>
                    <a:lstStyle/>
                    <a:p>
                      <a:pPr algn="l"/>
                      <a:r>
                        <a:rPr sz="1200" b="0">
                          <a:solidFill>
                            <a:srgbClr val="1F2937"/>
                          </a:solidFill>
                          <a:latin typeface="Calibri"/>
                        </a:rPr>
                        <a:t>PC physically delivered to JSW IT, integrated into BF4 network, returned operational</a:t>
                      </a:r>
                    </a:p>
                  </a:txBody>
                  <a:tcPr>
                    <a:solidFill>
                      <a:srgbClr val="F8FAFC"/>
                    </a:solidFill>
                  </a:tcPr>
                </a:tc>
                <a:extLst>
                  <a:ext uri="{0D108BD9-81ED-4DB2-BD59-A6C34878D82A}">
                    <a16:rowId xmlns:a16="http://schemas.microsoft.com/office/drawing/2014/main" val="10006"/>
                  </a:ext>
                </a:extLst>
              </a:tr>
              <a:tr h="406400">
                <a:tc>
                  <a:txBody>
                    <a:bodyPr/>
                    <a:lstStyle/>
                    <a:p>
                      <a:pPr algn="l"/>
                      <a:r>
                        <a:rPr sz="1200" b="1">
                          <a:solidFill>
                            <a:srgbClr val="1E3A8A"/>
                          </a:solidFill>
                          <a:latin typeface="Calibri"/>
                        </a:rPr>
                        <a:t>~30-Apr-2026</a:t>
                      </a:r>
                    </a:p>
                  </a:txBody>
                  <a:tcPr>
                    <a:solidFill>
                      <a:srgbClr val="FFFFFF"/>
                    </a:solidFill>
                  </a:tcPr>
                </a:tc>
                <a:tc>
                  <a:txBody>
                    <a:bodyPr/>
                    <a:lstStyle/>
                    <a:p>
                      <a:pPr algn="l"/>
                      <a:r>
                        <a:rPr sz="1200" b="0">
                          <a:solidFill>
                            <a:srgbClr val="1F2937"/>
                          </a:solidFill>
                          <a:latin typeface="Calibri"/>
                        </a:rPr>
                        <a:t>BF4 LAN connectivity verified — all 3 DB servers reachable from BF4 PC</a:t>
                      </a:r>
                    </a:p>
                  </a:txBody>
                  <a:tcPr>
                    <a:solidFill>
                      <a:srgbClr val="FFFFFF"/>
                    </a:solidFill>
                  </a:tcPr>
                </a:tc>
                <a:extLst>
                  <a:ext uri="{0D108BD9-81ED-4DB2-BD59-A6C34878D82A}">
                    <a16:rowId xmlns:a16="http://schemas.microsoft.com/office/drawing/2014/main" val="10007"/>
                  </a:ext>
                </a:extLst>
              </a:tr>
              <a:tr h="406400">
                <a:tc>
                  <a:txBody>
                    <a:bodyPr/>
                    <a:lstStyle/>
                    <a:p>
                      <a:pPr algn="l"/>
                      <a:r>
                        <a:rPr sz="1200" b="1">
                          <a:solidFill>
                            <a:srgbClr val="1E3A8A"/>
                          </a:solidFill>
                          <a:latin typeface="Calibri"/>
                        </a:rPr>
                        <a:t>06-May-2026</a:t>
                      </a:r>
                    </a:p>
                  </a:txBody>
                  <a:tcPr>
                    <a:solidFill>
                      <a:srgbClr val="F8FAFC"/>
                    </a:solidFill>
                  </a:tcPr>
                </a:tc>
                <a:tc>
                  <a:txBody>
                    <a:bodyPr/>
                    <a:lstStyle/>
                    <a:p>
                      <a:pPr algn="l"/>
                      <a:r>
                        <a:rPr sz="1200" b="0">
                          <a:solidFill>
                            <a:srgbClr val="1F2937"/>
                          </a:solidFill>
                          <a:latin typeface="Calibri"/>
                        </a:rPr>
                        <a:t>VPN access for Deevia team granted (Vamsi Krishna obtained domain ID from 365 Support; Raghavendra/JSW IT configured VPN). DEP009 + DEP012 both closed.</a:t>
                      </a:r>
                    </a:p>
                  </a:txBody>
                  <a:tcPr>
                    <a:solidFill>
                      <a:srgbClr val="F8FAFC"/>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640080" y="530352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OUTCOME</a:t>
            </a:r>
          </a:p>
        </p:txBody>
      </p:sp>
      <p:sp>
        <p:nvSpPr>
          <p:cNvPr id="10" name="TextBox 9"/>
          <p:cNvSpPr txBox="1"/>
          <p:nvPr/>
        </p:nvSpPr>
        <p:spPr>
          <a:xfrm>
            <a:off x="640080" y="5577840"/>
            <a:ext cx="10972800" cy="822960"/>
          </a:xfrm>
          <a:prstGeom prst="rect">
            <a:avLst/>
          </a:prstGeom>
          <a:noFill/>
        </p:spPr>
        <p:txBody>
          <a:bodyPr wrap="square" lIns="45720" tIns="18288" rIns="45720" bIns="18288" anchor="t">
            <a:spAutoFit/>
          </a:bodyPr>
          <a:lstStyle/>
          <a:p>
            <a:pPr algn="l"/>
            <a:r>
              <a:rPr sz="1300" b="0" i="0">
                <a:solidFill>
                  <a:srgbClr val="1F2937"/>
                </a:solidFill>
                <a:latin typeface="Calibri"/>
              </a:rPr>
              <a:t>By 06-May-2026, the BF4 PC was reachable from Deevia development laptops over JSW VPN, and outbound connectivity to all three source databases was operational. This was the single biggest unblocking event of M3 — within two days of access, both SuVeechi and WBATNGL syncs went live.</a:t>
            </a:r>
          </a:p>
        </p:txBody>
      </p:sp>
      <p:pic>
        <p:nvPicPr>
          <p:cNvPr id="11" name="Picture 10" descr="A purple and orange text&#10;&#10;AI-generated content may be incorrect.">
            <a:extLst>
              <a:ext uri="{FF2B5EF4-FFF2-40B4-BE49-F238E27FC236}">
                <a16:creationId xmlns:a16="http://schemas.microsoft.com/office/drawing/2014/main" id="{D13F6C8A-D199-FD59-788A-4645071C681A}"/>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C · INFRASTRUCTURE &amp; SERVER SETUP</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Software stack and security posture</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12</a:t>
            </a:r>
          </a:p>
        </p:txBody>
      </p:sp>
      <p:sp>
        <p:nvSpPr>
          <p:cNvPr id="8" name="TextBox 7"/>
          <p:cNvSpPr txBox="1"/>
          <p:nvPr/>
        </p:nvSpPr>
        <p:spPr>
          <a:xfrm>
            <a:off x="640080" y="137160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APPLICATION STACK — STANDARD ENTERPRISE WEB APPLICATION</a:t>
            </a:r>
          </a:p>
        </p:txBody>
      </p:sp>
      <p:sp>
        <p:nvSpPr>
          <p:cNvPr id="9" name="Rectangle 8"/>
          <p:cNvSpPr/>
          <p:nvPr/>
        </p:nvSpPr>
        <p:spPr>
          <a:xfrm>
            <a:off x="640080" y="1691640"/>
            <a:ext cx="1645920"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91640"/>
            <a:ext cx="1645920" cy="960120"/>
          </a:xfrm>
          <a:prstGeom prst="rect">
            <a:avLst/>
          </a:prstGeom>
          <a:noFill/>
        </p:spPr>
        <p:txBody>
          <a:bodyPr wrap="square" lIns="45720" tIns="18288" rIns="45720" bIns="18288" anchor="ctr">
            <a:spAutoFit/>
          </a:bodyPr>
          <a:lstStyle/>
          <a:p>
            <a:pPr algn="ctr"/>
            <a:r>
              <a:rPr sz="1200" b="1" i="0">
                <a:solidFill>
                  <a:srgbClr val="FFFFFF"/>
                </a:solidFill>
                <a:latin typeface="Calibri"/>
              </a:rPr>
              <a:t>PRESENTATION</a:t>
            </a:r>
          </a:p>
        </p:txBody>
      </p:sp>
      <p:sp>
        <p:nvSpPr>
          <p:cNvPr id="11" name="Rectangle 10"/>
          <p:cNvSpPr/>
          <p:nvPr/>
        </p:nvSpPr>
        <p:spPr>
          <a:xfrm>
            <a:off x="2331720" y="1691640"/>
            <a:ext cx="9326880" cy="9601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23160" y="1783080"/>
            <a:ext cx="9144000" cy="868680"/>
          </a:xfrm>
          <a:prstGeom prst="rect">
            <a:avLst/>
          </a:prstGeom>
          <a:noFill/>
        </p:spPr>
        <p:txBody>
          <a:bodyPr wrap="square" lIns="45720" tIns="18288" rIns="45720" bIns="18288" anchor="t">
            <a:spAutoFit/>
          </a:bodyPr>
          <a:lstStyle/>
          <a:p>
            <a:pPr algn="l"/>
            <a:r>
              <a:rPr sz="1100" b="0" i="0">
                <a:solidFill>
                  <a:srgbClr val="1F2937"/>
                </a:solidFill>
                <a:latin typeface="Calibri"/>
              </a:rPr>
              <a:t>React 19 + Vite 7 + React Router v7 — single-page web app, role-based UI, TypeScript-incremental.
Charts: Recharts.  Maps: Leaflet.  PDF/Excel export: jsPDF, xlsx.</a:t>
            </a:r>
          </a:p>
        </p:txBody>
      </p:sp>
      <p:sp>
        <p:nvSpPr>
          <p:cNvPr id="13" name="Rectangle 12"/>
          <p:cNvSpPr/>
          <p:nvPr/>
        </p:nvSpPr>
        <p:spPr>
          <a:xfrm>
            <a:off x="640080" y="2788920"/>
            <a:ext cx="1645920" cy="96012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788920"/>
            <a:ext cx="1645920" cy="960120"/>
          </a:xfrm>
          <a:prstGeom prst="rect">
            <a:avLst/>
          </a:prstGeom>
          <a:noFill/>
        </p:spPr>
        <p:txBody>
          <a:bodyPr wrap="square" lIns="45720" tIns="18288" rIns="45720" bIns="18288" anchor="ctr">
            <a:spAutoFit/>
          </a:bodyPr>
          <a:lstStyle/>
          <a:p>
            <a:pPr algn="ctr"/>
            <a:r>
              <a:rPr sz="1200" b="1" i="0">
                <a:solidFill>
                  <a:srgbClr val="FFFFFF"/>
                </a:solidFill>
                <a:latin typeface="Calibri"/>
              </a:rPr>
              <a:t>APPLICATION</a:t>
            </a:r>
          </a:p>
        </p:txBody>
      </p:sp>
      <p:sp>
        <p:nvSpPr>
          <p:cNvPr id="15" name="Rectangle 14"/>
          <p:cNvSpPr/>
          <p:nvPr/>
        </p:nvSpPr>
        <p:spPr>
          <a:xfrm>
            <a:off x="2331720" y="2788920"/>
            <a:ext cx="9326880" cy="9601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23160" y="2880360"/>
            <a:ext cx="9144000" cy="868680"/>
          </a:xfrm>
          <a:prstGeom prst="rect">
            <a:avLst/>
          </a:prstGeom>
          <a:noFill/>
        </p:spPr>
        <p:txBody>
          <a:bodyPr wrap="square" lIns="45720" tIns="18288" rIns="45720" bIns="18288" anchor="t">
            <a:spAutoFit/>
          </a:bodyPr>
          <a:lstStyle/>
          <a:p>
            <a:pPr algn="l"/>
            <a:r>
              <a:rPr sz="1100" b="0" i="0">
                <a:solidFill>
                  <a:srgbClr val="1F2937"/>
                </a:solidFill>
                <a:latin typeface="Calibri"/>
              </a:rPr>
              <a:t>FastAPI + Uvicorn — async REST API. 13 SQLAlchemy ORM models. APScheduler for background syncs.
Optimisation: PuLP (linear programming for daily plan generation).  Tracing: OpenTelemetry.</a:t>
            </a:r>
          </a:p>
        </p:txBody>
      </p:sp>
      <p:sp>
        <p:nvSpPr>
          <p:cNvPr id="17" name="Rectangle 16"/>
          <p:cNvSpPr/>
          <p:nvPr/>
        </p:nvSpPr>
        <p:spPr>
          <a:xfrm>
            <a:off x="640080" y="3886200"/>
            <a:ext cx="1645920" cy="960120"/>
          </a:xfrm>
          <a:prstGeom prst="rect">
            <a:avLst/>
          </a:prstGeom>
          <a:solidFill>
            <a:srgbClr val="C2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86200"/>
            <a:ext cx="1645920" cy="960120"/>
          </a:xfrm>
          <a:prstGeom prst="rect">
            <a:avLst/>
          </a:prstGeom>
          <a:noFill/>
        </p:spPr>
        <p:txBody>
          <a:bodyPr wrap="square" lIns="45720" tIns="18288" rIns="45720" bIns="18288" anchor="ctr">
            <a:spAutoFit/>
          </a:bodyPr>
          <a:lstStyle/>
          <a:p>
            <a:pPr algn="ctr"/>
            <a:r>
              <a:rPr sz="1200" b="1" i="0">
                <a:solidFill>
                  <a:srgbClr val="FFFFFF"/>
                </a:solidFill>
                <a:latin typeface="Calibri"/>
              </a:rPr>
              <a:t>DATA</a:t>
            </a:r>
          </a:p>
        </p:txBody>
      </p:sp>
      <p:sp>
        <p:nvSpPr>
          <p:cNvPr id="19" name="Rectangle 18"/>
          <p:cNvSpPr/>
          <p:nvPr/>
        </p:nvSpPr>
        <p:spPr>
          <a:xfrm>
            <a:off x="2331720" y="3886200"/>
            <a:ext cx="9326880" cy="9601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23160" y="3977640"/>
            <a:ext cx="9144000" cy="868680"/>
          </a:xfrm>
          <a:prstGeom prst="rect">
            <a:avLst/>
          </a:prstGeom>
          <a:noFill/>
        </p:spPr>
        <p:txBody>
          <a:bodyPr wrap="square" lIns="45720" tIns="18288" rIns="45720" bIns="18288" anchor="t">
            <a:spAutoFit/>
          </a:bodyPr>
          <a:lstStyle/>
          <a:p>
            <a:pPr algn="l"/>
            <a:r>
              <a:rPr sz="1100" b="0" i="0">
                <a:solidFill>
                  <a:srgbClr val="1F2937"/>
                </a:solidFill>
                <a:latin typeface="Calibri"/>
              </a:rPr>
              <a:t>PostgreSQL (primary). Redis (cache with in-memory fallback). Alembic-managed schema migrations.
Local mirrors of SuVeechi / WBATNGL / HTS for resilient analytics.</a:t>
            </a:r>
          </a:p>
        </p:txBody>
      </p:sp>
      <p:sp>
        <p:nvSpPr>
          <p:cNvPr id="21" name="Rectangle 20"/>
          <p:cNvSpPr/>
          <p:nvPr/>
        </p:nvSpPr>
        <p:spPr>
          <a:xfrm>
            <a:off x="640080" y="4983480"/>
            <a:ext cx="1645920" cy="9601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983480"/>
            <a:ext cx="1645920" cy="960120"/>
          </a:xfrm>
          <a:prstGeom prst="rect">
            <a:avLst/>
          </a:prstGeom>
          <a:noFill/>
        </p:spPr>
        <p:txBody>
          <a:bodyPr wrap="square" lIns="45720" tIns="18288" rIns="45720" bIns="18288" anchor="ctr">
            <a:spAutoFit/>
          </a:bodyPr>
          <a:lstStyle/>
          <a:p>
            <a:pPr algn="ctr"/>
            <a:r>
              <a:rPr sz="1200" b="1" i="0">
                <a:solidFill>
                  <a:srgbClr val="FFFFFF"/>
                </a:solidFill>
                <a:latin typeface="Calibri"/>
              </a:rPr>
              <a:t>SECURITY</a:t>
            </a:r>
          </a:p>
        </p:txBody>
      </p:sp>
      <p:sp>
        <p:nvSpPr>
          <p:cNvPr id="23" name="Rectangle 22"/>
          <p:cNvSpPr/>
          <p:nvPr/>
        </p:nvSpPr>
        <p:spPr>
          <a:xfrm>
            <a:off x="2331720" y="4983480"/>
            <a:ext cx="9326880" cy="9601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23160" y="5074920"/>
            <a:ext cx="9144000" cy="868680"/>
          </a:xfrm>
          <a:prstGeom prst="rect">
            <a:avLst/>
          </a:prstGeom>
          <a:noFill/>
        </p:spPr>
        <p:txBody>
          <a:bodyPr wrap="square" lIns="45720" tIns="18288" rIns="45720" bIns="18288" anchor="t">
            <a:spAutoFit/>
          </a:bodyPr>
          <a:lstStyle/>
          <a:p>
            <a:pPr algn="l"/>
            <a:r>
              <a:rPr sz="1100" b="0" i="0">
                <a:solidFill>
                  <a:srgbClr val="1F2937"/>
                </a:solidFill>
                <a:latin typeface="Calibri"/>
              </a:rPr>
              <a:t>JWT authentication. bcrypt password hashing. RBAC (Admin / Producer / Consumer).
Account lockout, rate limiting, CSRF protection, audit trail with username + IP.</a:t>
            </a:r>
          </a:p>
        </p:txBody>
      </p:sp>
      <p:pic>
        <p:nvPicPr>
          <p:cNvPr id="25" name="Picture 24" descr="A purple and orange text&#10;&#10;AI-generated content may be incorrect.">
            <a:extLst>
              <a:ext uri="{FF2B5EF4-FFF2-40B4-BE49-F238E27FC236}">
                <a16:creationId xmlns:a16="http://schemas.microsoft.com/office/drawing/2014/main" id="{9D84FCC7-8F99-9600-B7E9-4BD320408EFB}"/>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D</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Data Sources &amp; Integration Journey</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Three external sources of truth, integrated into HMD over April–May 2026.</a:t>
            </a:r>
          </a:p>
        </p:txBody>
      </p:sp>
      <p:pic>
        <p:nvPicPr>
          <p:cNvPr id="6" name="Picture 5">
            <a:extLst>
              <a:ext uri="{FF2B5EF4-FFF2-40B4-BE49-F238E27FC236}">
                <a16:creationId xmlns:a16="http://schemas.microsoft.com/office/drawing/2014/main" id="{F4F5354B-F4C1-356F-B2C6-EDD2C6D21A02}"/>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D · DATA SOURCES &amp; INTEGRATION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Three external sources — at a glance</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14</a:t>
            </a:r>
          </a:p>
        </p:txBody>
      </p:sp>
      <p:graphicFrame>
        <p:nvGraphicFramePr>
          <p:cNvPr id="8" name="Table 7"/>
          <p:cNvGraphicFramePr>
            <a:graphicFrameLocks noGrp="1"/>
          </p:cNvGraphicFramePr>
          <p:nvPr/>
        </p:nvGraphicFramePr>
        <p:xfrm>
          <a:off x="502920" y="1463040"/>
          <a:ext cx="11338560" cy="2194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548640">
                <a:tc>
                  <a:txBody>
                    <a:bodyPr/>
                    <a:lstStyle/>
                    <a:p>
                      <a:pPr algn="l"/>
                      <a:r>
                        <a:rPr sz="1100" b="1">
                          <a:solidFill>
                            <a:srgbClr val="FFFFFF"/>
                          </a:solidFill>
                          <a:latin typeface="Calibri"/>
                        </a:rPr>
                        <a:t>Source</a:t>
                      </a:r>
                    </a:p>
                  </a:txBody>
                  <a:tcPr>
                    <a:solidFill>
                      <a:srgbClr val="1E3A8A"/>
                    </a:solidFill>
                  </a:tcPr>
                </a:tc>
                <a:tc>
                  <a:txBody>
                    <a:bodyPr/>
                    <a:lstStyle/>
                    <a:p>
                      <a:pPr algn="l"/>
                      <a:r>
                        <a:rPr sz="1100" b="1">
                          <a:solidFill>
                            <a:srgbClr val="FFFFFF"/>
                          </a:solidFill>
                          <a:latin typeface="Calibri"/>
                        </a:rPr>
                        <a:t>Engine</a:t>
                      </a:r>
                    </a:p>
                  </a:txBody>
                  <a:tcPr>
                    <a:solidFill>
                      <a:srgbClr val="1E3A8A"/>
                    </a:solidFill>
                  </a:tcPr>
                </a:tc>
                <a:tc>
                  <a:txBody>
                    <a:bodyPr/>
                    <a:lstStyle/>
                    <a:p>
                      <a:pPr algn="l"/>
                      <a:r>
                        <a:rPr sz="1100" b="1">
                          <a:solidFill>
                            <a:srgbClr val="FFFFFF"/>
                          </a:solidFill>
                          <a:latin typeface="Calibri"/>
                        </a:rPr>
                        <a:t>Primary view</a:t>
                      </a:r>
                    </a:p>
                  </a:txBody>
                  <a:tcPr>
                    <a:solidFill>
                      <a:srgbClr val="1E3A8A"/>
                    </a:solidFill>
                  </a:tcPr>
                </a:tc>
                <a:tc>
                  <a:txBody>
                    <a:bodyPr/>
                    <a:lstStyle/>
                    <a:p>
                      <a:pPr algn="l"/>
                      <a:r>
                        <a:rPr sz="1100" b="1">
                          <a:solidFill>
                            <a:srgbClr val="FFFFFF"/>
                          </a:solidFill>
                          <a:latin typeface="Calibri"/>
                        </a:rPr>
                        <a:t>What it provides</a:t>
                      </a:r>
                    </a:p>
                  </a:txBody>
                  <a:tcPr>
                    <a:solidFill>
                      <a:srgbClr val="1E3A8A"/>
                    </a:solidFill>
                  </a:tcPr>
                </a:tc>
                <a:tc>
                  <a:txBody>
                    <a:bodyPr/>
                    <a:lstStyle/>
                    <a:p>
                      <a:pPr algn="l"/>
                      <a:r>
                        <a:rPr sz="1100" b="1">
                          <a:solidFill>
                            <a:srgbClr val="FFFFFF"/>
                          </a:solidFill>
                          <a:latin typeface="Calibri"/>
                        </a:rPr>
                        <a:t>Sync rate</a:t>
                      </a:r>
                    </a:p>
                  </a:txBody>
                  <a:tcPr>
                    <a:solidFill>
                      <a:srgbClr val="1E3A8A"/>
                    </a:solidFill>
                  </a:tcPr>
                </a:tc>
                <a:tc>
                  <a:txBody>
                    <a:bodyPr/>
                    <a:lstStyle/>
                    <a:p>
                      <a:pPr algn="l"/>
                      <a:r>
                        <a:rPr sz="1100" b="1">
                          <a:solidFill>
                            <a:srgbClr val="FFFFFF"/>
                          </a:solidFill>
                          <a:latin typeface="Calibri"/>
                        </a:rPr>
                        <a:t>Status</a:t>
                      </a:r>
                    </a:p>
                  </a:txBody>
                  <a:tcPr>
                    <a:solidFill>
                      <a:srgbClr val="1E3A8A"/>
                    </a:solidFill>
                  </a:tcPr>
                </a:tc>
                <a:extLst>
                  <a:ext uri="{0D108BD9-81ED-4DB2-BD59-A6C34878D82A}">
                    <a16:rowId xmlns:a16="http://schemas.microsoft.com/office/drawing/2014/main" val="10000"/>
                  </a:ext>
                </a:extLst>
              </a:tr>
              <a:tr h="548640">
                <a:tc>
                  <a:txBody>
                    <a:bodyPr/>
                    <a:lstStyle/>
                    <a:p>
                      <a:pPr algn="l"/>
                      <a:r>
                        <a:rPr sz="1050" b="1">
                          <a:solidFill>
                            <a:srgbClr val="1E3A8A"/>
                          </a:solidFill>
                          <a:latin typeface="Calibri"/>
                        </a:rPr>
                        <a:t>SuVeechi</a:t>
                      </a:r>
                    </a:p>
                  </a:txBody>
                  <a:tcPr>
                    <a:solidFill>
                      <a:srgbClr val="FFFFFF"/>
                    </a:solidFill>
                  </a:tcPr>
                </a:tc>
                <a:tc>
                  <a:txBody>
                    <a:bodyPr/>
                    <a:lstStyle/>
                    <a:p>
                      <a:pPr algn="l"/>
                      <a:r>
                        <a:rPr sz="1050" b="0">
                          <a:solidFill>
                            <a:srgbClr val="1F2937"/>
                          </a:solidFill>
                          <a:latin typeface="Calibri"/>
                        </a:rPr>
                        <a:t>MySQL</a:t>
                      </a:r>
                    </a:p>
                  </a:txBody>
                  <a:tcPr>
                    <a:solidFill>
                      <a:srgbClr val="FFFFFF"/>
                    </a:solidFill>
                  </a:tcPr>
                </a:tc>
                <a:tc>
                  <a:txBody>
                    <a:bodyPr/>
                    <a:lstStyle/>
                    <a:p>
                      <a:pPr algn="l"/>
                      <a:r>
                        <a:rPr sz="1050" b="0">
                          <a:solidFill>
                            <a:srgbClr val="1F2937"/>
                          </a:solidFill>
                          <a:latin typeface="Calibri"/>
                        </a:rPr>
                        <a:t>vw_unit_status_ist</a:t>
                      </a:r>
                    </a:p>
                  </a:txBody>
                  <a:tcPr>
                    <a:solidFill>
                      <a:srgbClr val="FFFFFF"/>
                    </a:solidFill>
                  </a:tcPr>
                </a:tc>
                <a:tc>
                  <a:txBody>
                    <a:bodyPr/>
                    <a:lstStyle/>
                    <a:p>
                      <a:pPr algn="l"/>
                      <a:r>
                        <a:rPr sz="1050" b="0">
                          <a:solidFill>
                            <a:srgbClr val="1F2937"/>
                          </a:solidFill>
                          <a:latin typeface="Calibri"/>
                        </a:rPr>
                        <a:t>53 torpedoes — live GPS, status, location</a:t>
                      </a:r>
                    </a:p>
                  </a:txBody>
                  <a:tcPr>
                    <a:solidFill>
                      <a:srgbClr val="FFFFFF"/>
                    </a:solidFill>
                  </a:tcPr>
                </a:tc>
                <a:tc>
                  <a:txBody>
                    <a:bodyPr/>
                    <a:lstStyle/>
                    <a:p>
                      <a:pPr algn="l"/>
                      <a:r>
                        <a:rPr sz="1050" b="0">
                          <a:solidFill>
                            <a:srgbClr val="1F2937"/>
                          </a:solidFill>
                          <a:latin typeface="Calibri"/>
                        </a:rPr>
                        <a:t>10 seconds</a:t>
                      </a:r>
                    </a:p>
                  </a:txBody>
                  <a:tcPr>
                    <a:solidFill>
                      <a:srgbClr val="FFFFFF"/>
                    </a:solidFill>
                  </a:tcPr>
                </a:tc>
                <a:tc>
                  <a:txBody>
                    <a:bodyPr/>
                    <a:lstStyle/>
                    <a:p>
                      <a:pPr algn="l"/>
                      <a:r>
                        <a:rPr sz="1050" b="1">
                          <a:solidFill>
                            <a:srgbClr val="15803D"/>
                          </a:solidFill>
                          <a:latin typeface="Calibri"/>
                        </a:rPr>
                        <a:t>Live since 06-May</a:t>
                      </a:r>
                    </a:p>
                  </a:txBody>
                  <a:tcPr>
                    <a:solidFill>
                      <a:srgbClr val="FFFFFF"/>
                    </a:solidFill>
                  </a:tcPr>
                </a:tc>
                <a:extLst>
                  <a:ext uri="{0D108BD9-81ED-4DB2-BD59-A6C34878D82A}">
                    <a16:rowId xmlns:a16="http://schemas.microsoft.com/office/drawing/2014/main" val="10001"/>
                  </a:ext>
                </a:extLst>
              </a:tr>
              <a:tr h="548640">
                <a:tc>
                  <a:txBody>
                    <a:bodyPr/>
                    <a:lstStyle/>
                    <a:p>
                      <a:pPr algn="l"/>
                      <a:r>
                        <a:rPr sz="1050" b="1">
                          <a:solidFill>
                            <a:srgbClr val="1E3A8A"/>
                          </a:solidFill>
                          <a:latin typeface="Calibri"/>
                        </a:rPr>
                        <a:t>WBATNGL</a:t>
                      </a:r>
                    </a:p>
                  </a:txBody>
                  <a:tcPr>
                    <a:solidFill>
                      <a:srgbClr val="F8FAFC"/>
                    </a:solidFill>
                  </a:tcPr>
                </a:tc>
                <a:tc>
                  <a:txBody>
                    <a:bodyPr/>
                    <a:lstStyle/>
                    <a:p>
                      <a:pPr algn="l"/>
                      <a:r>
                        <a:rPr sz="1050" b="0">
                          <a:solidFill>
                            <a:srgbClr val="1F2937"/>
                          </a:solidFill>
                          <a:latin typeface="Calibri"/>
                        </a:rPr>
                        <a:t>Oracle</a:t>
                      </a:r>
                    </a:p>
                  </a:txBody>
                  <a:tcPr>
                    <a:solidFill>
                      <a:srgbClr val="F8FAFC"/>
                    </a:solidFill>
                  </a:tcPr>
                </a:tc>
                <a:tc>
                  <a:txBody>
                    <a:bodyPr/>
                    <a:lstStyle/>
                    <a:p>
                      <a:pPr algn="l"/>
                      <a:r>
                        <a:rPr sz="1050" b="0">
                          <a:solidFill>
                            <a:srgbClr val="1F2937"/>
                          </a:solidFill>
                          <a:latin typeface="Calibri"/>
                        </a:rPr>
                        <a:t>BF3 + BF5 schemas (9 views)</a:t>
                      </a:r>
                    </a:p>
                  </a:txBody>
                  <a:tcPr>
                    <a:solidFill>
                      <a:srgbClr val="F8FAFC"/>
                    </a:solidFill>
                  </a:tcPr>
                </a:tc>
                <a:tc>
                  <a:txBody>
                    <a:bodyPr/>
                    <a:lstStyle/>
                    <a:p>
                      <a:pPr algn="l"/>
                      <a:r>
                        <a:rPr sz="1050" b="0">
                          <a:solidFill>
                            <a:srgbClr val="1F2937"/>
                          </a:solidFill>
                          <a:latin typeface="Calibri"/>
                        </a:rPr>
                        <a:t>BF-side weighbridge transactions, tap data, chemistry</a:t>
                      </a:r>
                    </a:p>
                  </a:txBody>
                  <a:tcPr>
                    <a:solidFill>
                      <a:srgbClr val="F8FAFC"/>
                    </a:solidFill>
                  </a:tcPr>
                </a:tc>
                <a:tc>
                  <a:txBody>
                    <a:bodyPr/>
                    <a:lstStyle/>
                    <a:p>
                      <a:pPr algn="l"/>
                      <a:r>
                        <a:rPr sz="1050" b="0">
                          <a:solidFill>
                            <a:srgbClr val="1F2937"/>
                          </a:solidFill>
                          <a:latin typeface="Calibri"/>
                        </a:rPr>
                        <a:t>60 seconds</a:t>
                      </a:r>
                    </a:p>
                  </a:txBody>
                  <a:tcPr>
                    <a:solidFill>
                      <a:srgbClr val="F8FAFC"/>
                    </a:solidFill>
                  </a:tcPr>
                </a:tc>
                <a:tc>
                  <a:txBody>
                    <a:bodyPr/>
                    <a:lstStyle/>
                    <a:p>
                      <a:pPr algn="l"/>
                      <a:r>
                        <a:rPr sz="1050" b="1">
                          <a:solidFill>
                            <a:srgbClr val="15803D"/>
                          </a:solidFill>
                          <a:latin typeface="Calibri"/>
                        </a:rPr>
                        <a:t>Live since 08-May</a:t>
                      </a:r>
                    </a:p>
                  </a:txBody>
                  <a:tcPr>
                    <a:solidFill>
                      <a:srgbClr val="F8FAFC"/>
                    </a:solidFill>
                  </a:tcPr>
                </a:tc>
                <a:extLst>
                  <a:ext uri="{0D108BD9-81ED-4DB2-BD59-A6C34878D82A}">
                    <a16:rowId xmlns:a16="http://schemas.microsoft.com/office/drawing/2014/main" val="10002"/>
                  </a:ext>
                </a:extLst>
              </a:tr>
              <a:tr h="548640">
                <a:tc>
                  <a:txBody>
                    <a:bodyPr/>
                    <a:lstStyle/>
                    <a:p>
                      <a:pPr algn="l"/>
                      <a:r>
                        <a:rPr sz="1050" b="1">
                          <a:solidFill>
                            <a:srgbClr val="1E3A8A"/>
                          </a:solidFill>
                          <a:latin typeface="Calibri"/>
                        </a:rPr>
                        <a:t>HTS</a:t>
                      </a:r>
                    </a:p>
                  </a:txBody>
                  <a:tcPr>
                    <a:solidFill>
                      <a:srgbClr val="FFFFFF"/>
                    </a:solidFill>
                  </a:tcPr>
                </a:tc>
                <a:tc>
                  <a:txBody>
                    <a:bodyPr/>
                    <a:lstStyle/>
                    <a:p>
                      <a:pPr algn="l"/>
                      <a:r>
                        <a:rPr sz="1050" b="0">
                          <a:solidFill>
                            <a:srgbClr val="1F2937"/>
                          </a:solidFill>
                          <a:latin typeface="Calibri"/>
                        </a:rPr>
                        <a:t>Oracle</a:t>
                      </a:r>
                    </a:p>
                  </a:txBody>
                  <a:tcPr>
                    <a:solidFill>
                      <a:srgbClr val="FFFFFF"/>
                    </a:solidFill>
                  </a:tcPr>
                </a:tc>
                <a:tc>
                  <a:txBody>
                    <a:bodyPr/>
                    <a:lstStyle/>
                    <a:p>
                      <a:pPr algn="l"/>
                      <a:r>
                        <a:rPr sz="1050" b="0">
                          <a:solidFill>
                            <a:srgbClr val="1F2937"/>
                          </a:solidFill>
                          <a:latin typeface="Calibri"/>
                        </a:rPr>
                        <a:t>VW_HTS_HOTMETAL_DATA + 4 tables</a:t>
                      </a:r>
                    </a:p>
                  </a:txBody>
                  <a:tcPr>
                    <a:solidFill>
                      <a:srgbClr val="FFFFFF"/>
                    </a:solidFill>
                  </a:tcPr>
                </a:tc>
                <a:tc>
                  <a:txBody>
                    <a:bodyPr/>
                    <a:lstStyle/>
                    <a:p>
                      <a:pPr algn="l"/>
                      <a:r>
                        <a:rPr sz="1050" b="0">
                          <a:solidFill>
                            <a:srgbClr val="1F2937"/>
                          </a:solidFill>
                          <a:latin typeface="Calibri"/>
                        </a:rPr>
                        <a:t>SMS hot-metal receipts, caster events (SMS-4)</a:t>
                      </a:r>
                    </a:p>
                  </a:txBody>
                  <a:tcPr>
                    <a:solidFill>
                      <a:srgbClr val="FFFFFF"/>
                    </a:solidFill>
                  </a:tcPr>
                </a:tc>
                <a:tc>
                  <a:txBody>
                    <a:bodyPr/>
                    <a:lstStyle/>
                    <a:p>
                      <a:pPr algn="l"/>
                      <a:r>
                        <a:rPr sz="1050" b="0">
                          <a:solidFill>
                            <a:srgbClr val="1F2937"/>
                          </a:solidFill>
                          <a:latin typeface="Calibri"/>
                        </a:rPr>
                        <a:t>5 minutes</a:t>
                      </a:r>
                    </a:p>
                  </a:txBody>
                  <a:tcPr>
                    <a:solidFill>
                      <a:srgbClr val="FFFFFF"/>
                    </a:solidFill>
                  </a:tcPr>
                </a:tc>
                <a:tc>
                  <a:txBody>
                    <a:bodyPr/>
                    <a:lstStyle/>
                    <a:p>
                      <a:pPr algn="l"/>
                      <a:r>
                        <a:rPr sz="1050" b="1">
                          <a:solidFill>
                            <a:srgbClr val="B45309"/>
                          </a:solidFill>
                          <a:latin typeface="Calibri"/>
                        </a:rPr>
                        <a:t>Access set up 11-May</a:t>
                      </a:r>
                    </a:p>
                  </a:txBody>
                  <a:tcP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40080" y="393192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HOW THESE SOURCES MAP TO THE BUSINESS</a:t>
            </a:r>
          </a:p>
        </p:txBody>
      </p:sp>
      <p:sp>
        <p:nvSpPr>
          <p:cNvPr id="10" name="TextBox 9"/>
          <p:cNvSpPr txBox="1"/>
          <p:nvPr/>
        </p:nvSpPr>
        <p:spPr>
          <a:xfrm>
            <a:off x="640080" y="4206240"/>
            <a:ext cx="10972800" cy="219456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SuVeechi — answers "where is each torpedo right now". Drives the live map and the live trip view.</a:t>
            </a:r>
          </a:p>
          <a:p>
            <a:pPr>
              <a:lnSpc>
                <a:spcPct val="115000"/>
              </a:lnSpc>
              <a:spcAft>
                <a:spcPts val="200"/>
              </a:spcAft>
              <a:buChar char="■"/>
            </a:pPr>
            <a:r>
              <a:rPr sz="1300">
                <a:solidFill>
                  <a:srgbClr val="1F2937"/>
                </a:solidFill>
                <a:latin typeface="Calibri"/>
              </a:rPr>
              <a:t>WBATNGL — answers "what was tapped, weighed, and dispatched from the BF side". Drives producer-side reporting.</a:t>
            </a:r>
          </a:p>
          <a:p>
            <a:pPr>
              <a:lnSpc>
                <a:spcPct val="115000"/>
              </a:lnSpc>
              <a:spcAft>
                <a:spcPts val="200"/>
              </a:spcAft>
              <a:buChar char="■"/>
            </a:pPr>
            <a:r>
              <a:rPr sz="1300">
                <a:solidFill>
                  <a:srgbClr val="1F2937"/>
                </a:solidFill>
                <a:latin typeface="Calibri"/>
              </a:rPr>
              <a:t>HTS — answers "what was received at the converter and what heat was made". Drives consumer-side reporting.</a:t>
            </a:r>
          </a:p>
          <a:p>
            <a:pPr>
              <a:lnSpc>
                <a:spcPct val="115000"/>
              </a:lnSpc>
              <a:spcAft>
                <a:spcPts val="200"/>
              </a:spcAft>
              <a:buChar char="■"/>
            </a:pPr>
            <a:r>
              <a:rPr sz="1300">
                <a:solidFill>
                  <a:srgbClr val="1F2937"/>
                </a:solidFill>
                <a:latin typeface="Calibri"/>
              </a:rPr>
              <a:t>Each source is owned by a different JSW team (SuVeechi vendor for GPS; BF Operations for WBATNGL; SMS IT for HTS).</a:t>
            </a:r>
          </a:p>
        </p:txBody>
      </p:sp>
      <p:pic>
        <p:nvPicPr>
          <p:cNvPr id="11" name="Picture 10" descr="A purple and orange text&#10;&#10;AI-generated content may be incorrect.">
            <a:extLst>
              <a:ext uri="{FF2B5EF4-FFF2-40B4-BE49-F238E27FC236}">
                <a16:creationId xmlns:a16="http://schemas.microsoft.com/office/drawing/2014/main" id="{5B781A63-918B-8073-1376-AD57D13BF6D7}"/>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D · DATA SOURCES &amp; INTEGRATION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How each source was unblocked — dates and owners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15</a:t>
            </a:r>
          </a:p>
        </p:txBody>
      </p:sp>
      <p:graphicFrame>
        <p:nvGraphicFramePr>
          <p:cNvPr id="8" name="Table 7"/>
          <p:cNvGraphicFramePr>
            <a:graphicFrameLocks noGrp="1"/>
          </p:cNvGraphicFramePr>
          <p:nvPr/>
        </p:nvGraphicFramePr>
        <p:xfrm>
          <a:off x="640080" y="1463040"/>
          <a:ext cx="10972800" cy="42062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9509760">
                  <a:extLst>
                    <a:ext uri="{9D8B030D-6E8A-4147-A177-3AD203B41FA5}">
                      <a16:colId xmlns:a16="http://schemas.microsoft.com/office/drawing/2014/main" val="20001"/>
                    </a:ext>
                  </a:extLst>
                </a:gridCol>
              </a:tblGrid>
              <a:tr h="350520">
                <a:tc>
                  <a:txBody>
                    <a:bodyPr/>
                    <a:lstStyle/>
                    <a:p>
                      <a:pPr algn="l"/>
                      <a:r>
                        <a:rPr sz="1200" b="1">
                          <a:solidFill>
                            <a:srgbClr val="FFFFFF"/>
                          </a:solidFill>
                          <a:latin typeface="Calibri"/>
                        </a:rPr>
                        <a:t>Date (2026)</a:t>
                      </a:r>
                    </a:p>
                  </a:txBody>
                  <a:tcPr>
                    <a:solidFill>
                      <a:srgbClr val="1E3A8A"/>
                    </a:solidFill>
                  </a:tcPr>
                </a:tc>
                <a:tc>
                  <a:txBody>
                    <a:bodyPr/>
                    <a:lstStyle/>
                    <a:p>
                      <a:pPr algn="l"/>
                      <a:r>
                        <a:rPr sz="1200" b="1">
                          <a:solidFill>
                            <a:srgbClr val="FFFFFF"/>
                          </a:solidFill>
                          <a:latin typeface="Calibri"/>
                        </a:rPr>
                        <a:t>Event</a:t>
                      </a:r>
                    </a:p>
                  </a:txBody>
                  <a:tcPr>
                    <a:solidFill>
                      <a:srgbClr val="1E3A8A"/>
                    </a:solidFill>
                  </a:tcPr>
                </a:tc>
                <a:extLst>
                  <a:ext uri="{0D108BD9-81ED-4DB2-BD59-A6C34878D82A}">
                    <a16:rowId xmlns:a16="http://schemas.microsoft.com/office/drawing/2014/main" val="10000"/>
                  </a:ext>
                </a:extLst>
              </a:tr>
              <a:tr h="350520">
                <a:tc>
                  <a:txBody>
                    <a:bodyPr/>
                    <a:lstStyle/>
                    <a:p>
                      <a:pPr algn="l"/>
                      <a:r>
                        <a:rPr sz="1100" b="1">
                          <a:solidFill>
                            <a:srgbClr val="1E3A8A"/>
                          </a:solidFill>
                          <a:latin typeface="Calibri"/>
                        </a:rPr>
                        <a:t>17-Mar</a:t>
                      </a:r>
                    </a:p>
                  </a:txBody>
                  <a:tcPr>
                    <a:solidFill>
                      <a:srgbClr val="FFFFFF"/>
                    </a:solidFill>
                  </a:tcPr>
                </a:tc>
                <a:tc>
                  <a:txBody>
                    <a:bodyPr/>
                    <a:lstStyle/>
                    <a:p>
                      <a:pPr algn="l"/>
                      <a:r>
                        <a:rPr sz="1100" b="0">
                          <a:solidFill>
                            <a:srgbClr val="1F2937"/>
                          </a:solidFill>
                          <a:latin typeface="Calibri"/>
                        </a:rPr>
                        <a:t>HMD Data Requirement Sheet shared with Gagan Chopra</a:t>
                      </a:r>
                    </a:p>
                  </a:txBody>
                  <a:tcPr>
                    <a:solidFill>
                      <a:srgbClr val="FFFFFF"/>
                    </a:solidFill>
                  </a:tcPr>
                </a:tc>
                <a:extLst>
                  <a:ext uri="{0D108BD9-81ED-4DB2-BD59-A6C34878D82A}">
                    <a16:rowId xmlns:a16="http://schemas.microsoft.com/office/drawing/2014/main" val="10001"/>
                  </a:ext>
                </a:extLst>
              </a:tr>
              <a:tr h="350520">
                <a:tc>
                  <a:txBody>
                    <a:bodyPr/>
                    <a:lstStyle/>
                    <a:p>
                      <a:pPr algn="l"/>
                      <a:r>
                        <a:rPr sz="1100" b="1">
                          <a:solidFill>
                            <a:srgbClr val="1E3A8A"/>
                          </a:solidFill>
                          <a:latin typeface="Calibri"/>
                        </a:rPr>
                        <a:t>23-Mar</a:t>
                      </a:r>
                    </a:p>
                  </a:txBody>
                  <a:tcPr>
                    <a:solidFill>
                      <a:srgbClr val="F8FAFC"/>
                    </a:solidFill>
                  </a:tcPr>
                </a:tc>
                <a:tc>
                  <a:txBody>
                    <a:bodyPr/>
                    <a:lstStyle/>
                    <a:p>
                      <a:pPr algn="l"/>
                      <a:r>
                        <a:rPr sz="1100" b="0">
                          <a:solidFill>
                            <a:srgbClr val="1F2937"/>
                          </a:solidFill>
                          <a:latin typeface="Calibri"/>
                        </a:rPr>
                        <a:t>Pritam Saha sets up Torpedo data clarification meeting</a:t>
                      </a:r>
                    </a:p>
                  </a:txBody>
                  <a:tcPr>
                    <a:solidFill>
                      <a:srgbClr val="F8FAFC"/>
                    </a:solidFill>
                  </a:tcPr>
                </a:tc>
                <a:extLst>
                  <a:ext uri="{0D108BD9-81ED-4DB2-BD59-A6C34878D82A}">
                    <a16:rowId xmlns:a16="http://schemas.microsoft.com/office/drawing/2014/main" val="10002"/>
                  </a:ext>
                </a:extLst>
              </a:tr>
              <a:tr h="350520">
                <a:tc>
                  <a:txBody>
                    <a:bodyPr/>
                    <a:lstStyle/>
                    <a:p>
                      <a:pPr algn="l"/>
                      <a:r>
                        <a:rPr sz="1100" b="1">
                          <a:solidFill>
                            <a:srgbClr val="1E3A8A"/>
                          </a:solidFill>
                          <a:latin typeface="Calibri"/>
                        </a:rPr>
                        <a:t>25-Mar</a:t>
                      </a:r>
                    </a:p>
                  </a:txBody>
                  <a:tcPr>
                    <a:solidFill>
                      <a:srgbClr val="FFFFFF"/>
                    </a:solidFill>
                  </a:tcPr>
                </a:tc>
                <a:tc>
                  <a:txBody>
                    <a:bodyPr/>
                    <a:lstStyle/>
                    <a:p>
                      <a:pPr algn="l"/>
                      <a:r>
                        <a:rPr sz="1100" b="0">
                          <a:solidFill>
                            <a:srgbClr val="1F2937"/>
                          </a:solidFill>
                          <a:latin typeface="Calibri"/>
                        </a:rPr>
                        <a:t>Updated Data Requirements re-shared after meeting</a:t>
                      </a:r>
                    </a:p>
                  </a:txBody>
                  <a:tcPr>
                    <a:solidFill>
                      <a:srgbClr val="FFFFFF"/>
                    </a:solidFill>
                  </a:tcPr>
                </a:tc>
                <a:extLst>
                  <a:ext uri="{0D108BD9-81ED-4DB2-BD59-A6C34878D82A}">
                    <a16:rowId xmlns:a16="http://schemas.microsoft.com/office/drawing/2014/main" val="10003"/>
                  </a:ext>
                </a:extLst>
              </a:tr>
              <a:tr h="350520">
                <a:tc>
                  <a:txBody>
                    <a:bodyPr/>
                    <a:lstStyle/>
                    <a:p>
                      <a:pPr algn="l"/>
                      <a:r>
                        <a:rPr sz="1100" b="1">
                          <a:solidFill>
                            <a:srgbClr val="1E3A8A"/>
                          </a:solidFill>
                          <a:latin typeface="Calibri"/>
                        </a:rPr>
                        <a:t>31-Mar</a:t>
                      </a:r>
                    </a:p>
                  </a:txBody>
                  <a:tcPr>
                    <a:solidFill>
                      <a:srgbClr val="F8FAFC"/>
                    </a:solidFill>
                  </a:tcPr>
                </a:tc>
                <a:tc>
                  <a:txBody>
                    <a:bodyPr/>
                    <a:lstStyle/>
                    <a:p>
                      <a:pPr algn="l"/>
                      <a:r>
                        <a:rPr sz="1100" b="0">
                          <a:solidFill>
                            <a:srgbClr val="1F2937"/>
                          </a:solidFill>
                          <a:latin typeface="Calibri"/>
                        </a:rPr>
                        <a:t>Gagan Chopra approves SuVeechi integration path</a:t>
                      </a:r>
                    </a:p>
                  </a:txBody>
                  <a:tcPr>
                    <a:solidFill>
                      <a:srgbClr val="F8FAFC"/>
                    </a:solidFill>
                  </a:tcPr>
                </a:tc>
                <a:extLst>
                  <a:ext uri="{0D108BD9-81ED-4DB2-BD59-A6C34878D82A}">
                    <a16:rowId xmlns:a16="http://schemas.microsoft.com/office/drawing/2014/main" val="10004"/>
                  </a:ext>
                </a:extLst>
              </a:tr>
              <a:tr h="350520">
                <a:tc>
                  <a:txBody>
                    <a:bodyPr/>
                    <a:lstStyle/>
                    <a:p>
                      <a:pPr algn="l"/>
                      <a:r>
                        <a:rPr sz="1100" b="1">
                          <a:solidFill>
                            <a:srgbClr val="1E3A8A"/>
                          </a:solidFill>
                          <a:latin typeface="Calibri"/>
                        </a:rPr>
                        <a:t>02-Apr</a:t>
                      </a:r>
                    </a:p>
                  </a:txBody>
                  <a:tcPr>
                    <a:solidFill>
                      <a:srgbClr val="FFFFFF"/>
                    </a:solidFill>
                  </a:tcPr>
                </a:tc>
                <a:tc>
                  <a:txBody>
                    <a:bodyPr/>
                    <a:lstStyle/>
                    <a:p>
                      <a:pPr algn="l"/>
                      <a:r>
                        <a:rPr sz="1100" b="0">
                          <a:solidFill>
                            <a:srgbClr val="1F2937"/>
                          </a:solidFill>
                          <a:latin typeface="Calibri"/>
                        </a:rPr>
                        <a:t>SuVeechi MySQL view (vw_unit_status_ist) shared by Ganesha (vendor)</a:t>
                      </a:r>
                    </a:p>
                  </a:txBody>
                  <a:tcPr>
                    <a:solidFill>
                      <a:srgbClr val="FFFFFF"/>
                    </a:solidFill>
                  </a:tcPr>
                </a:tc>
                <a:extLst>
                  <a:ext uri="{0D108BD9-81ED-4DB2-BD59-A6C34878D82A}">
                    <a16:rowId xmlns:a16="http://schemas.microsoft.com/office/drawing/2014/main" val="10005"/>
                  </a:ext>
                </a:extLst>
              </a:tr>
              <a:tr h="350520">
                <a:tc>
                  <a:txBody>
                    <a:bodyPr/>
                    <a:lstStyle/>
                    <a:p>
                      <a:pPr algn="l"/>
                      <a:r>
                        <a:rPr sz="1100" b="1">
                          <a:solidFill>
                            <a:srgbClr val="1E3A8A"/>
                          </a:solidFill>
                          <a:latin typeface="Calibri"/>
                        </a:rPr>
                        <a:t>03-Apr</a:t>
                      </a:r>
                    </a:p>
                  </a:txBody>
                  <a:tcPr>
                    <a:solidFill>
                      <a:srgbClr val="F8FAFC"/>
                    </a:solidFill>
                  </a:tcPr>
                </a:tc>
                <a:tc>
                  <a:txBody>
                    <a:bodyPr/>
                    <a:lstStyle/>
                    <a:p>
                      <a:pPr algn="l"/>
                      <a:r>
                        <a:rPr sz="1100" b="0">
                          <a:solidFill>
                            <a:srgbClr val="1F2937"/>
                          </a:solidFill>
                          <a:latin typeface="Calibri"/>
                        </a:rPr>
                        <a:t>Oracle HTS view credentials shared by Hari Prasad (JSW IT)</a:t>
                      </a:r>
                    </a:p>
                  </a:txBody>
                  <a:tcPr>
                    <a:solidFill>
                      <a:srgbClr val="F8FAFC"/>
                    </a:solidFill>
                  </a:tcPr>
                </a:tc>
                <a:extLst>
                  <a:ext uri="{0D108BD9-81ED-4DB2-BD59-A6C34878D82A}">
                    <a16:rowId xmlns:a16="http://schemas.microsoft.com/office/drawing/2014/main" val="10006"/>
                  </a:ext>
                </a:extLst>
              </a:tr>
              <a:tr h="350520">
                <a:tc>
                  <a:txBody>
                    <a:bodyPr/>
                    <a:lstStyle/>
                    <a:p>
                      <a:pPr algn="l"/>
                      <a:r>
                        <a:rPr sz="1100" b="1">
                          <a:solidFill>
                            <a:srgbClr val="1E3A8A"/>
                          </a:solidFill>
                          <a:latin typeface="Calibri"/>
                        </a:rPr>
                        <a:t>14-Apr</a:t>
                      </a:r>
                    </a:p>
                  </a:txBody>
                  <a:tcPr>
                    <a:solidFill>
                      <a:srgbClr val="FFFFFF"/>
                    </a:solidFill>
                  </a:tcPr>
                </a:tc>
                <a:tc>
                  <a:txBody>
                    <a:bodyPr/>
                    <a:lstStyle/>
                    <a:p>
                      <a:pPr algn="l"/>
                      <a:r>
                        <a:rPr sz="1100" b="0">
                          <a:solidFill>
                            <a:srgbClr val="1F2937"/>
                          </a:solidFill>
                          <a:latin typeface="Calibri"/>
                        </a:rPr>
                        <a:t>DEP008 closed — Gagan approval propagated; remaining Oracle accesses cleared</a:t>
                      </a:r>
                    </a:p>
                  </a:txBody>
                  <a:tcPr>
                    <a:solidFill>
                      <a:srgbClr val="FFFFFF"/>
                    </a:solidFill>
                  </a:tcPr>
                </a:tc>
                <a:extLst>
                  <a:ext uri="{0D108BD9-81ED-4DB2-BD59-A6C34878D82A}">
                    <a16:rowId xmlns:a16="http://schemas.microsoft.com/office/drawing/2014/main" val="10007"/>
                  </a:ext>
                </a:extLst>
              </a:tr>
              <a:tr h="350520">
                <a:tc>
                  <a:txBody>
                    <a:bodyPr/>
                    <a:lstStyle/>
                    <a:p>
                      <a:pPr algn="l"/>
                      <a:r>
                        <a:rPr sz="1100" b="1">
                          <a:solidFill>
                            <a:srgbClr val="1E3A8A"/>
                          </a:solidFill>
                          <a:latin typeface="Calibri"/>
                        </a:rPr>
                        <a:t>16-Apr</a:t>
                      </a:r>
                    </a:p>
                  </a:txBody>
                  <a:tcPr>
                    <a:solidFill>
                      <a:srgbClr val="F8FAFC"/>
                    </a:solidFill>
                  </a:tcPr>
                </a:tc>
                <a:tc>
                  <a:txBody>
                    <a:bodyPr/>
                    <a:lstStyle/>
                    <a:p>
                      <a:pPr algn="l"/>
                      <a:r>
                        <a:rPr sz="1100" b="0">
                          <a:solidFill>
                            <a:srgbClr val="1F2937"/>
                          </a:solidFill>
                          <a:latin typeface="Calibri"/>
                        </a:rPr>
                        <a:t>Oracle WBATNGL 3rd view shared by Kotaiah (JSW DBA)</a:t>
                      </a:r>
                    </a:p>
                  </a:txBody>
                  <a:tcPr>
                    <a:solidFill>
                      <a:srgbClr val="F8FAFC"/>
                    </a:solidFill>
                  </a:tcPr>
                </a:tc>
                <a:extLst>
                  <a:ext uri="{0D108BD9-81ED-4DB2-BD59-A6C34878D82A}">
                    <a16:rowId xmlns:a16="http://schemas.microsoft.com/office/drawing/2014/main" val="10008"/>
                  </a:ext>
                </a:extLst>
              </a:tr>
              <a:tr h="350520">
                <a:tc>
                  <a:txBody>
                    <a:bodyPr/>
                    <a:lstStyle/>
                    <a:p>
                      <a:pPr algn="l"/>
                      <a:r>
                        <a:rPr sz="1100" b="1">
                          <a:solidFill>
                            <a:srgbClr val="1E3A8A"/>
                          </a:solidFill>
                          <a:latin typeface="Calibri"/>
                        </a:rPr>
                        <a:t>06-May</a:t>
                      </a:r>
                    </a:p>
                  </a:txBody>
                  <a:tcPr>
                    <a:solidFill>
                      <a:srgbClr val="FFFFFF"/>
                    </a:solidFill>
                  </a:tcPr>
                </a:tc>
                <a:tc>
                  <a:txBody>
                    <a:bodyPr/>
                    <a:lstStyle/>
                    <a:p>
                      <a:pPr algn="l"/>
                      <a:r>
                        <a:rPr sz="1100" b="0">
                          <a:solidFill>
                            <a:srgbClr val="1F2937"/>
                          </a:solidFill>
                          <a:latin typeface="Calibri"/>
                        </a:rPr>
                        <a:t>VPN access granted (DEP012 closed); SuVeechi sync live; WBATNGL sync verified</a:t>
                      </a:r>
                    </a:p>
                  </a:txBody>
                  <a:tcPr>
                    <a:solidFill>
                      <a:srgbClr val="FFFFFF"/>
                    </a:solidFill>
                  </a:tcPr>
                </a:tc>
                <a:extLst>
                  <a:ext uri="{0D108BD9-81ED-4DB2-BD59-A6C34878D82A}">
                    <a16:rowId xmlns:a16="http://schemas.microsoft.com/office/drawing/2014/main" val="10009"/>
                  </a:ext>
                </a:extLst>
              </a:tr>
              <a:tr h="350520">
                <a:tc>
                  <a:txBody>
                    <a:bodyPr/>
                    <a:lstStyle/>
                    <a:p>
                      <a:pPr algn="l"/>
                      <a:r>
                        <a:rPr sz="1100" b="1">
                          <a:solidFill>
                            <a:srgbClr val="1E3A8A"/>
                          </a:solidFill>
                          <a:latin typeface="Calibri"/>
                        </a:rPr>
                        <a:t>08-May</a:t>
                      </a:r>
                    </a:p>
                  </a:txBody>
                  <a:tcPr>
                    <a:solidFill>
                      <a:srgbClr val="F8FAFC"/>
                    </a:solidFill>
                  </a:tcPr>
                </a:tc>
                <a:tc>
                  <a:txBody>
                    <a:bodyPr/>
                    <a:lstStyle/>
                    <a:p>
                      <a:pPr algn="l"/>
                      <a:r>
                        <a:rPr sz="1100" b="0">
                          <a:solidFill>
                            <a:srgbClr val="1F2937"/>
                          </a:solidFill>
                          <a:latin typeface="Calibri"/>
                        </a:rPr>
                        <a:t>WBATNGL trip mirror sprint shipped; per-torpedo capacity backfilled</a:t>
                      </a:r>
                    </a:p>
                  </a:txBody>
                  <a:tcPr>
                    <a:solidFill>
                      <a:srgbClr val="F8FAFC"/>
                    </a:solidFill>
                  </a:tcPr>
                </a:tc>
                <a:extLst>
                  <a:ext uri="{0D108BD9-81ED-4DB2-BD59-A6C34878D82A}">
                    <a16:rowId xmlns:a16="http://schemas.microsoft.com/office/drawing/2014/main" val="10010"/>
                  </a:ext>
                </a:extLst>
              </a:tr>
              <a:tr h="350520">
                <a:tc>
                  <a:txBody>
                    <a:bodyPr/>
                    <a:lstStyle/>
                    <a:p>
                      <a:pPr algn="l"/>
                      <a:r>
                        <a:rPr sz="1100" b="1">
                          <a:solidFill>
                            <a:srgbClr val="1E3A8A"/>
                          </a:solidFill>
                          <a:latin typeface="Calibri"/>
                        </a:rPr>
                        <a:t>11-May</a:t>
                      </a:r>
                    </a:p>
                  </a:txBody>
                  <a:tcPr>
                    <a:solidFill>
                      <a:srgbClr val="FFFFFF"/>
                    </a:solidFill>
                  </a:tcPr>
                </a:tc>
                <a:tc>
                  <a:txBody>
                    <a:bodyPr/>
                    <a:lstStyle/>
                    <a:p>
                      <a:pPr algn="l"/>
                      <a:r>
                        <a:rPr sz="1100" b="0">
                          <a:solidFill>
                            <a:srgbClr val="1F2937"/>
                          </a:solidFill>
                          <a:latin typeface="Calibri"/>
                        </a:rPr>
                        <a:t>HTS connectivity unblocked; correct service name + user identified; DEP007 closed</a:t>
                      </a:r>
                    </a:p>
                  </a:txBody>
                  <a:tcPr>
                    <a:solidFill>
                      <a:srgbClr val="FFFFFF"/>
                    </a:solidFill>
                  </a:tcPr>
                </a:tc>
                <a:extLst>
                  <a:ext uri="{0D108BD9-81ED-4DB2-BD59-A6C34878D82A}">
                    <a16:rowId xmlns:a16="http://schemas.microsoft.com/office/drawing/2014/main" val="10011"/>
                  </a:ext>
                </a:extLst>
              </a:tr>
            </a:tbl>
          </a:graphicData>
        </a:graphic>
      </p:graphicFrame>
      <p:sp>
        <p:nvSpPr>
          <p:cNvPr id="9" name="TextBox 8"/>
          <p:cNvSpPr txBox="1"/>
          <p:nvPr/>
        </p:nvSpPr>
        <p:spPr>
          <a:xfrm>
            <a:off x="640080" y="5760720"/>
            <a:ext cx="10972800" cy="640080"/>
          </a:xfrm>
          <a:prstGeom prst="rect">
            <a:avLst/>
          </a:prstGeom>
          <a:noFill/>
        </p:spPr>
        <p:txBody>
          <a:bodyPr wrap="square" lIns="45720" tIns="18288" rIns="45720" bIns="18288" anchor="t">
            <a:spAutoFit/>
          </a:bodyPr>
          <a:lstStyle/>
          <a:p>
            <a:pPr algn="l"/>
            <a:r>
              <a:rPr sz="1100" b="0" i="1">
                <a:solidFill>
                  <a:srgbClr val="4B5563"/>
                </a:solidFill>
                <a:latin typeface="Calibri"/>
              </a:rPr>
              <a:t>Five distinct JSW teams contributed to the integration — Production (Irfan, Gagan), IT Infrastructure (Divakar, Vasagerappa, Pradeep), Oracle DBA (Kotaiah), SMS IT (Hari Prasad), and the SuVeechi vendor (Ganesha, Sanjay). Coordination was the critical-path constraint, not engineering.</a:t>
            </a:r>
          </a:p>
        </p:txBody>
      </p:sp>
      <p:pic>
        <p:nvPicPr>
          <p:cNvPr id="10" name="Picture 9" descr="A purple and orange text&#10;&#10;AI-generated content may be incorrect.">
            <a:extLst>
              <a:ext uri="{FF2B5EF4-FFF2-40B4-BE49-F238E27FC236}">
                <a16:creationId xmlns:a16="http://schemas.microsoft.com/office/drawing/2014/main" id="{A0F7CFCF-BD04-1A22-C0A4-8EF22DAFA855}"/>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D · DATA SOURCES &amp; INTEGRATION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What each source provides — table view</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16</a:t>
            </a:r>
          </a:p>
        </p:txBody>
      </p:sp>
      <p:graphicFrame>
        <p:nvGraphicFramePr>
          <p:cNvPr id="8" name="Table 7"/>
          <p:cNvGraphicFramePr>
            <a:graphicFrameLocks noGrp="1"/>
          </p:cNvGraphicFramePr>
          <p:nvPr/>
        </p:nvGraphicFramePr>
        <p:xfrm>
          <a:off x="640080" y="1463040"/>
          <a:ext cx="10972800" cy="4572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1143000">
                <a:tc>
                  <a:txBody>
                    <a:bodyPr/>
                    <a:lstStyle/>
                    <a:p>
                      <a:pPr algn="l"/>
                      <a:r>
                        <a:rPr sz="1200" b="1">
                          <a:solidFill>
                            <a:srgbClr val="FFFFFF"/>
                          </a:solidFill>
                          <a:latin typeface="Calibri"/>
                        </a:rPr>
                        <a:t>Source</a:t>
                      </a:r>
                    </a:p>
                  </a:txBody>
                  <a:tcPr>
                    <a:solidFill>
                      <a:srgbClr val="1E3A8A"/>
                    </a:solidFill>
                  </a:tcPr>
                </a:tc>
                <a:tc>
                  <a:txBody>
                    <a:bodyPr/>
                    <a:lstStyle/>
                    <a:p>
                      <a:pPr algn="l"/>
                      <a:r>
                        <a:rPr sz="1200" b="1">
                          <a:solidFill>
                            <a:srgbClr val="FFFFFF"/>
                          </a:solidFill>
                          <a:latin typeface="Calibri"/>
                        </a:rPr>
                        <a:t>Fields provided</a:t>
                      </a:r>
                    </a:p>
                  </a:txBody>
                  <a:tcPr>
                    <a:solidFill>
                      <a:srgbClr val="1E3A8A"/>
                    </a:solidFill>
                  </a:tcPr>
                </a:tc>
                <a:extLst>
                  <a:ext uri="{0D108BD9-81ED-4DB2-BD59-A6C34878D82A}">
                    <a16:rowId xmlns:a16="http://schemas.microsoft.com/office/drawing/2014/main" val="10000"/>
                  </a:ext>
                </a:extLst>
              </a:tr>
              <a:tr h="1143000">
                <a:tc>
                  <a:txBody>
                    <a:bodyPr/>
                    <a:lstStyle/>
                    <a:p>
                      <a:pPr algn="l"/>
                      <a:r>
                        <a:rPr sz="1100" b="1">
                          <a:solidFill>
                            <a:srgbClr val="1E3A8A"/>
                          </a:solidFill>
                          <a:latin typeface="Calibri"/>
                        </a:rPr>
                        <a:t>SuVeechi (MySQL)</a:t>
                      </a:r>
                    </a:p>
                  </a:txBody>
                  <a:tcPr>
                    <a:solidFill>
                      <a:srgbClr val="FFFFFF"/>
                    </a:solidFill>
                  </a:tcPr>
                </a:tc>
                <a:tc>
                  <a:txBody>
                    <a:bodyPr/>
                    <a:lstStyle/>
                    <a:p>
                      <a:pPr algn="l"/>
                      <a:r>
                        <a:rPr sz="1100" b="0">
                          <a:solidFill>
                            <a:srgbClr val="1F2937"/>
                          </a:solidFill>
                          <a:latin typeface="Calibri"/>
                        </a:rPr>
                        <a:t>Torpedo identifier (`unitname`)
Latitude / Longitude
Status (Idle / Moving / Ign Off)
Plant location (free text)
Report timestamp</a:t>
                      </a:r>
                    </a:p>
                  </a:txBody>
                  <a:tcPr>
                    <a:solidFill>
                      <a:srgbClr val="FFFFFF"/>
                    </a:solidFill>
                  </a:tcPr>
                </a:tc>
                <a:extLst>
                  <a:ext uri="{0D108BD9-81ED-4DB2-BD59-A6C34878D82A}">
                    <a16:rowId xmlns:a16="http://schemas.microsoft.com/office/drawing/2014/main" val="10001"/>
                  </a:ext>
                </a:extLst>
              </a:tr>
              <a:tr h="1143000">
                <a:tc>
                  <a:txBody>
                    <a:bodyPr/>
                    <a:lstStyle/>
                    <a:p>
                      <a:pPr algn="l"/>
                      <a:r>
                        <a:rPr sz="1100" b="1">
                          <a:solidFill>
                            <a:srgbClr val="1E3A8A"/>
                          </a:solidFill>
                          <a:latin typeface="Calibri"/>
                        </a:rPr>
                        <a:t>WBATNGL (Oracle)</a:t>
                      </a:r>
                    </a:p>
                  </a:txBody>
                  <a:tcPr>
                    <a:solidFill>
                      <a:srgbClr val="F8FAFC"/>
                    </a:solidFill>
                  </a:tcPr>
                </a:tc>
                <a:tc>
                  <a:txBody>
                    <a:bodyPr/>
                    <a:lstStyle/>
                    <a:p>
                      <a:pPr algn="l"/>
                      <a:r>
                        <a:rPr sz="1100" b="0">
                          <a:solidFill>
                            <a:srgbClr val="1F2937"/>
                          </a:solidFill>
                          <a:latin typeface="Calibri"/>
                        </a:rPr>
                        <a:t>Trip identifier
Torpedo (`LADLENO`)
Producer (`SOURCE_LAB`)
Weighbridge weights (tare, gross, net)
Tap data (tap_no, tap_hole, temp, S, Si)
Lifecycle timestamps (first_tare, closetime, out_date, sms_ack)</a:t>
                      </a:r>
                    </a:p>
                  </a:txBody>
                  <a:tcPr>
                    <a:solidFill>
                      <a:srgbClr val="F8FAFC"/>
                    </a:solidFill>
                  </a:tcPr>
                </a:tc>
                <a:extLst>
                  <a:ext uri="{0D108BD9-81ED-4DB2-BD59-A6C34878D82A}">
                    <a16:rowId xmlns:a16="http://schemas.microsoft.com/office/drawing/2014/main" val="10002"/>
                  </a:ext>
                </a:extLst>
              </a:tr>
              <a:tr h="1143000">
                <a:tc>
                  <a:txBody>
                    <a:bodyPr/>
                    <a:lstStyle/>
                    <a:p>
                      <a:pPr algn="l"/>
                      <a:r>
                        <a:rPr sz="1100" b="1">
                          <a:solidFill>
                            <a:srgbClr val="1E3A8A"/>
                          </a:solidFill>
                          <a:latin typeface="Calibri"/>
                        </a:rPr>
                        <a:t>HTS (Oracle)</a:t>
                      </a:r>
                    </a:p>
                  </a:txBody>
                  <a:tcPr>
                    <a:solidFill>
                      <a:srgbClr val="FFFFFF"/>
                    </a:solidFill>
                  </a:tcPr>
                </a:tc>
                <a:tc>
                  <a:txBody>
                    <a:bodyPr/>
                    <a:lstStyle/>
                    <a:p>
                      <a:pPr algn="l"/>
                      <a:r>
                        <a:rPr sz="1100" b="0">
                          <a:solidFill>
                            <a:srgbClr val="1F2937"/>
                          </a:solidFill>
                          <a:latin typeface="Calibri"/>
                        </a:rPr>
                        <a:t>Heat identifier (`HEAT_NO`)
Converter (D/E/F/G/H/I) and SMS unit
Torpedo arrival/release time
Hot-metal quantity received
Caster heat process events (SMS-4 only)
Consumption / yield data (SMS-4 only)</a:t>
                      </a:r>
                    </a:p>
                  </a:txBody>
                  <a:tcPr>
                    <a:solidFill>
                      <a:srgbClr val="FFFFFF"/>
                    </a:solidFill>
                  </a:tcPr>
                </a:tc>
                <a:extLst>
                  <a:ext uri="{0D108BD9-81ED-4DB2-BD59-A6C34878D82A}">
                    <a16:rowId xmlns:a16="http://schemas.microsoft.com/office/drawing/2014/main" val="10003"/>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1FE2B7AE-1532-E2A8-491B-6AC28F3CD0E5}"/>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D · DATA SOURCES &amp; INTEGRATION</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Local HMD database — what HMD stores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17</a:t>
            </a:r>
          </a:p>
        </p:txBody>
      </p:sp>
      <p:sp>
        <p:nvSpPr>
          <p:cNvPr id="8" name="TextBox 7"/>
          <p:cNvSpPr txBox="1"/>
          <p:nvPr/>
        </p:nvSpPr>
        <p:spPr>
          <a:xfrm>
            <a:off x="640080" y="137160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WHY HMD MAINTAINS LOCAL MIRRORS OF EXTERNAL SOURCES</a:t>
            </a:r>
          </a:p>
        </p:txBody>
      </p:sp>
      <p:sp>
        <p:nvSpPr>
          <p:cNvPr id="9" name="TextBox 8"/>
          <p:cNvSpPr txBox="1"/>
          <p:nvPr/>
        </p:nvSpPr>
        <p:spPr>
          <a:xfrm>
            <a:off x="640080" y="1691640"/>
            <a:ext cx="10972800" cy="1645920"/>
          </a:xfrm>
          <a:prstGeom prst="rect">
            <a:avLst/>
          </a:prstGeom>
          <a:noFill/>
        </p:spPr>
        <p:txBody>
          <a:bodyPr wrap="square" lIns="45720">
            <a:spAutoFit/>
          </a:bodyPr>
          <a:lstStyle/>
          <a:p>
            <a:pPr>
              <a:lnSpc>
                <a:spcPct val="115000"/>
              </a:lnSpc>
              <a:spcAft>
                <a:spcPts val="200"/>
              </a:spcAft>
              <a:buChar char="■"/>
            </a:pPr>
            <a:r>
              <a:rPr sz="1200">
                <a:solidFill>
                  <a:srgbClr val="1F2937"/>
                </a:solidFill>
                <a:latin typeface="Calibri"/>
              </a:rPr>
              <a:t>Resilience — if any source database is briefly unreachable, HMD continues to operate from its local mirror.</a:t>
            </a:r>
          </a:p>
          <a:p>
            <a:pPr>
              <a:lnSpc>
                <a:spcPct val="115000"/>
              </a:lnSpc>
              <a:spcAft>
                <a:spcPts val="200"/>
              </a:spcAft>
              <a:buChar char="■"/>
            </a:pPr>
            <a:r>
              <a:rPr sz="1200">
                <a:solidFill>
                  <a:srgbClr val="1F2937"/>
                </a:solidFill>
                <a:latin typeface="Calibri"/>
              </a:rPr>
              <a:t>Performance — HMD-side queries (dashboards, reports) hit local PostgreSQL with sub-second response, not the source.</a:t>
            </a:r>
          </a:p>
          <a:p>
            <a:pPr>
              <a:lnSpc>
                <a:spcPct val="115000"/>
              </a:lnSpc>
              <a:spcAft>
                <a:spcPts val="200"/>
              </a:spcAft>
              <a:buChar char="■"/>
            </a:pPr>
            <a:r>
              <a:rPr sz="1200">
                <a:solidFill>
                  <a:srgbClr val="1F2937"/>
                </a:solidFill>
                <a:latin typeface="Calibri"/>
              </a:rPr>
              <a:t>Reduced load on JSW source systems — HMD pulls deltas at controlled intervals (10s / 60s / 5min) rather than per-user.</a:t>
            </a:r>
          </a:p>
          <a:p>
            <a:pPr>
              <a:lnSpc>
                <a:spcPct val="115000"/>
              </a:lnSpc>
              <a:spcAft>
                <a:spcPts val="200"/>
              </a:spcAft>
              <a:buChar char="■"/>
            </a:pPr>
            <a:r>
              <a:rPr sz="1200">
                <a:solidFill>
                  <a:srgbClr val="1F2937"/>
                </a:solidFill>
                <a:latin typeface="Calibri"/>
              </a:rPr>
              <a:t>Application-owned state stays on HMD side — user accounts, alerts, audit trail, configuration, fleet master, planning data.</a:t>
            </a:r>
          </a:p>
        </p:txBody>
      </p:sp>
      <p:sp>
        <p:nvSpPr>
          <p:cNvPr id="10" name="TextBox 9"/>
          <p:cNvSpPr txBox="1"/>
          <p:nvPr/>
        </p:nvSpPr>
        <p:spPr>
          <a:xfrm>
            <a:off x="640080" y="3566160"/>
            <a:ext cx="10972800" cy="365760"/>
          </a:xfrm>
          <a:prstGeom prst="rect">
            <a:avLst/>
          </a:prstGeom>
          <a:noFill/>
        </p:spPr>
        <p:txBody>
          <a:bodyPr wrap="square" lIns="45720" tIns="18288" rIns="45720" bIns="18288" anchor="t">
            <a:spAutoFit/>
          </a:bodyPr>
          <a:lstStyle/>
          <a:p>
            <a:pPr algn="l"/>
            <a:r>
              <a:rPr sz="1100" b="1" i="0">
                <a:solidFill>
                  <a:srgbClr val="C28B1B"/>
                </a:solidFill>
                <a:latin typeface="Calibri"/>
              </a:rPr>
              <a:t>WHAT'S STORED LOCALLY</a:t>
            </a:r>
          </a:p>
        </p:txBody>
      </p:sp>
      <p:graphicFrame>
        <p:nvGraphicFramePr>
          <p:cNvPr id="11" name="Table 10"/>
          <p:cNvGraphicFramePr>
            <a:graphicFrameLocks noGrp="1"/>
          </p:cNvGraphicFramePr>
          <p:nvPr/>
        </p:nvGraphicFramePr>
        <p:xfrm>
          <a:off x="640080" y="3886200"/>
          <a:ext cx="10972800" cy="21945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438912">
                <a:tc>
                  <a:txBody>
                    <a:bodyPr/>
                    <a:lstStyle/>
                    <a:p>
                      <a:pPr algn="l"/>
                      <a:r>
                        <a:rPr sz="1100" b="1">
                          <a:solidFill>
                            <a:srgbClr val="FFFFFF"/>
                          </a:solidFill>
                          <a:latin typeface="Calibri"/>
                        </a:rPr>
                        <a:t>Category</a:t>
                      </a:r>
                    </a:p>
                  </a:txBody>
                  <a:tcPr>
                    <a:solidFill>
                      <a:srgbClr val="1E3A8A"/>
                    </a:solidFill>
                  </a:tcPr>
                </a:tc>
                <a:tc>
                  <a:txBody>
                    <a:bodyPr/>
                    <a:lstStyle/>
                    <a:p>
                      <a:pPr algn="l"/>
                      <a:r>
                        <a:rPr sz="1100" b="1">
                          <a:solidFill>
                            <a:srgbClr val="FFFFFF"/>
                          </a:solidFill>
                          <a:latin typeface="Calibri"/>
                        </a:rPr>
                        <a:t>Contents</a:t>
                      </a:r>
                    </a:p>
                  </a:txBody>
                  <a:tcPr>
                    <a:solidFill>
                      <a:srgbClr val="1E3A8A"/>
                    </a:solidFill>
                  </a:tcPr>
                </a:tc>
                <a:extLst>
                  <a:ext uri="{0D108BD9-81ED-4DB2-BD59-A6C34878D82A}">
                    <a16:rowId xmlns:a16="http://schemas.microsoft.com/office/drawing/2014/main" val="10000"/>
                  </a:ext>
                </a:extLst>
              </a:tr>
              <a:tr h="438912">
                <a:tc>
                  <a:txBody>
                    <a:bodyPr/>
                    <a:lstStyle/>
                    <a:p>
                      <a:pPr algn="l"/>
                      <a:r>
                        <a:rPr sz="1100" b="1">
                          <a:solidFill>
                            <a:srgbClr val="1E3A8A"/>
                          </a:solidFill>
                          <a:latin typeface="Calibri"/>
                        </a:rPr>
                        <a:t>Application state</a:t>
                      </a:r>
                    </a:p>
                  </a:txBody>
                  <a:tcPr>
                    <a:solidFill>
                      <a:srgbClr val="FFFFFF"/>
                    </a:solidFill>
                  </a:tcPr>
                </a:tc>
                <a:tc>
                  <a:txBody>
                    <a:bodyPr/>
                    <a:lstStyle/>
                    <a:p>
                      <a:pPr algn="l"/>
                      <a:r>
                        <a:rPr sz="1100" b="0">
                          <a:solidFill>
                            <a:srgbClr val="1F2937"/>
                          </a:solidFill>
                          <a:latin typeface="Calibri"/>
                        </a:rPr>
                        <a:t>Users, roles, settings, system configuration, alerts, audit log</a:t>
                      </a:r>
                    </a:p>
                  </a:txBody>
                  <a:tcPr>
                    <a:solidFill>
                      <a:srgbClr val="FFFFFF"/>
                    </a:solidFill>
                  </a:tcPr>
                </a:tc>
                <a:extLst>
                  <a:ext uri="{0D108BD9-81ED-4DB2-BD59-A6C34878D82A}">
                    <a16:rowId xmlns:a16="http://schemas.microsoft.com/office/drawing/2014/main" val="10001"/>
                  </a:ext>
                </a:extLst>
              </a:tr>
              <a:tr h="438912">
                <a:tc>
                  <a:txBody>
                    <a:bodyPr/>
                    <a:lstStyle/>
                    <a:p>
                      <a:pPr algn="l"/>
                      <a:r>
                        <a:rPr sz="1100" b="1">
                          <a:solidFill>
                            <a:srgbClr val="1E3A8A"/>
                          </a:solidFill>
                          <a:latin typeface="Calibri"/>
                        </a:rPr>
                        <a:t>Fleet &amp; nodes</a:t>
                      </a:r>
                    </a:p>
                  </a:txBody>
                  <a:tcPr>
                    <a:solidFill>
                      <a:srgbClr val="F8FAFC"/>
                    </a:solidFill>
                  </a:tcPr>
                </a:tc>
                <a:tc>
                  <a:txBody>
                    <a:bodyPr/>
                    <a:lstStyle/>
                    <a:p>
                      <a:pPr algn="l"/>
                      <a:r>
                        <a:rPr sz="1100" b="0">
                          <a:solidFill>
                            <a:srgbClr val="1F2937"/>
                          </a:solidFill>
                          <a:latin typeface="Calibri"/>
                        </a:rPr>
                        <a:t>53 torpedoes (master), plant nodes, weighbridges, converters</a:t>
                      </a:r>
                    </a:p>
                  </a:txBody>
                  <a:tcPr>
                    <a:solidFill>
                      <a:srgbClr val="F8FAFC"/>
                    </a:solidFill>
                  </a:tcPr>
                </a:tc>
                <a:extLst>
                  <a:ext uri="{0D108BD9-81ED-4DB2-BD59-A6C34878D82A}">
                    <a16:rowId xmlns:a16="http://schemas.microsoft.com/office/drawing/2014/main" val="10002"/>
                  </a:ext>
                </a:extLst>
              </a:tr>
              <a:tr h="438912">
                <a:tc>
                  <a:txBody>
                    <a:bodyPr/>
                    <a:lstStyle/>
                    <a:p>
                      <a:pPr algn="l"/>
                      <a:r>
                        <a:rPr sz="1100" b="1">
                          <a:solidFill>
                            <a:srgbClr val="1E3A8A"/>
                          </a:solidFill>
                          <a:latin typeface="Calibri"/>
                        </a:rPr>
                        <a:t>Planning &amp; trips</a:t>
                      </a:r>
                    </a:p>
                  </a:txBody>
                  <a:tcPr>
                    <a:solidFill>
                      <a:srgbClr val="FFFFFF"/>
                    </a:solidFill>
                  </a:tcPr>
                </a:tc>
                <a:tc>
                  <a:txBody>
                    <a:bodyPr/>
                    <a:lstStyle/>
                    <a:p>
                      <a:pPr algn="l"/>
                      <a:r>
                        <a:rPr sz="1100" b="0">
                          <a:solidFill>
                            <a:srgbClr val="1F2937"/>
                          </a:solidFill>
                          <a:latin typeface="Calibri"/>
                        </a:rPr>
                        <a:t>Daily plans, distribution assignments, trip lifecycle records, route configurations</a:t>
                      </a:r>
                    </a:p>
                  </a:txBody>
                  <a:tcPr>
                    <a:solidFill>
                      <a:srgbClr val="FFFFFF"/>
                    </a:solidFill>
                  </a:tcPr>
                </a:tc>
                <a:extLst>
                  <a:ext uri="{0D108BD9-81ED-4DB2-BD59-A6C34878D82A}">
                    <a16:rowId xmlns:a16="http://schemas.microsoft.com/office/drawing/2014/main" val="10003"/>
                  </a:ext>
                </a:extLst>
              </a:tr>
              <a:tr h="438912">
                <a:tc>
                  <a:txBody>
                    <a:bodyPr/>
                    <a:lstStyle/>
                    <a:p>
                      <a:pPr algn="l"/>
                      <a:r>
                        <a:rPr sz="1100" b="1">
                          <a:solidFill>
                            <a:srgbClr val="1E3A8A"/>
                          </a:solidFill>
                          <a:latin typeface="Calibri"/>
                        </a:rPr>
                        <a:t>Mirrors of source data</a:t>
                      </a:r>
                    </a:p>
                  </a:txBody>
                  <a:tcPr>
                    <a:solidFill>
                      <a:srgbClr val="F8FAFC"/>
                    </a:solidFill>
                  </a:tcPr>
                </a:tc>
                <a:tc>
                  <a:txBody>
                    <a:bodyPr/>
                    <a:lstStyle/>
                    <a:p>
                      <a:pPr algn="l"/>
                      <a:r>
                        <a:rPr sz="1100" b="0">
                          <a:solidFill>
                            <a:srgbClr val="1F2937"/>
                          </a:solidFill>
                          <a:latin typeface="Calibri"/>
                        </a:rPr>
                        <a:t>fleet_live_locations (SuVeechi snapshot), wbatngl_trip_mirror, hts_heat_mirror + caster mirrors</a:t>
                      </a:r>
                    </a:p>
                  </a:txBody>
                  <a:tcPr>
                    <a:solidFill>
                      <a:srgbClr val="F8FAFC"/>
                    </a:solidFill>
                  </a:tcPr>
                </a:tc>
                <a:extLst>
                  <a:ext uri="{0D108BD9-81ED-4DB2-BD59-A6C34878D82A}">
                    <a16:rowId xmlns:a16="http://schemas.microsoft.com/office/drawing/2014/main" val="10004"/>
                  </a:ext>
                </a:extLst>
              </a:tr>
            </a:tbl>
          </a:graphicData>
        </a:graphic>
      </p:graphicFrame>
      <p:pic>
        <p:nvPicPr>
          <p:cNvPr id="12" name="Picture 11" descr="A purple and orange text&#10;&#10;AI-generated content may be incorrect.">
            <a:extLst>
              <a:ext uri="{FF2B5EF4-FFF2-40B4-BE49-F238E27FC236}">
                <a16:creationId xmlns:a16="http://schemas.microsoft.com/office/drawing/2014/main" id="{3FEB49FF-231B-8742-BB21-30A6E239CDB2}"/>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E</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Application Capabilities</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V7 — the production-ready Hot Metal Distribution application.</a:t>
            </a:r>
          </a:p>
        </p:txBody>
      </p:sp>
      <p:pic>
        <p:nvPicPr>
          <p:cNvPr id="6" name="Picture 5">
            <a:extLst>
              <a:ext uri="{FF2B5EF4-FFF2-40B4-BE49-F238E27FC236}">
                <a16:creationId xmlns:a16="http://schemas.microsoft.com/office/drawing/2014/main" id="{866C8709-4CC6-0806-ECDF-37B12F3BB5D3}"/>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Module overview — 12 functional areas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19</a:t>
            </a:r>
          </a:p>
        </p:txBody>
      </p:sp>
      <p:sp>
        <p:nvSpPr>
          <p:cNvPr id="8" name="Rectangle 7"/>
          <p:cNvSpPr/>
          <p:nvPr/>
        </p:nvSpPr>
        <p:spPr>
          <a:xfrm>
            <a:off x="502920" y="141732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41732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58191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Dashboard</a:t>
            </a:r>
          </a:p>
        </p:txBody>
      </p:sp>
      <p:sp>
        <p:nvSpPr>
          <p:cNvPr id="11" name="TextBox 10"/>
          <p:cNvSpPr txBox="1"/>
          <p:nvPr/>
        </p:nvSpPr>
        <p:spPr>
          <a:xfrm>
            <a:off x="640080" y="196596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KPI overview, alerts summary</a:t>
            </a:r>
          </a:p>
        </p:txBody>
      </p:sp>
      <p:sp>
        <p:nvSpPr>
          <p:cNvPr id="12" name="Rectangle 11"/>
          <p:cNvSpPr/>
          <p:nvPr/>
        </p:nvSpPr>
        <p:spPr>
          <a:xfrm>
            <a:off x="3337560" y="141732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37560" y="141732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0" y="158191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Trip Management</a:t>
            </a:r>
          </a:p>
        </p:txBody>
      </p:sp>
      <p:sp>
        <p:nvSpPr>
          <p:cNvPr id="15" name="TextBox 14"/>
          <p:cNvSpPr txBox="1"/>
          <p:nvPr/>
        </p:nvSpPr>
        <p:spPr>
          <a:xfrm>
            <a:off x="3474720" y="196596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16-state lifecycle, manual &amp; assigned trips</a:t>
            </a:r>
          </a:p>
        </p:txBody>
      </p:sp>
      <p:sp>
        <p:nvSpPr>
          <p:cNvPr id="16" name="Rectangle 15"/>
          <p:cNvSpPr/>
          <p:nvPr/>
        </p:nvSpPr>
        <p:spPr>
          <a:xfrm>
            <a:off x="6172200" y="141732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41732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58191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Live Tracking</a:t>
            </a:r>
          </a:p>
        </p:txBody>
      </p:sp>
      <p:sp>
        <p:nvSpPr>
          <p:cNvPr id="19" name="TextBox 18"/>
          <p:cNvSpPr txBox="1"/>
          <p:nvPr/>
        </p:nvSpPr>
        <p:spPr>
          <a:xfrm>
            <a:off x="6309360" y="196596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Real-time torpedo map, status, current trip</a:t>
            </a:r>
          </a:p>
        </p:txBody>
      </p:sp>
      <p:sp>
        <p:nvSpPr>
          <p:cNvPr id="20" name="Rectangle 19"/>
          <p:cNvSpPr/>
          <p:nvPr/>
        </p:nvSpPr>
        <p:spPr>
          <a:xfrm>
            <a:off x="9006840" y="141732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06840" y="141732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0" y="158191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Operations</a:t>
            </a:r>
          </a:p>
        </p:txBody>
      </p:sp>
      <p:sp>
        <p:nvSpPr>
          <p:cNvPr id="23" name="TextBox 22"/>
          <p:cNvSpPr txBox="1"/>
          <p:nvPr/>
        </p:nvSpPr>
        <p:spPr>
          <a:xfrm>
            <a:off x="9144000" y="196596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Per-node operator view (Producer / Consumer)</a:t>
            </a:r>
          </a:p>
        </p:txBody>
      </p:sp>
      <p:sp>
        <p:nvSpPr>
          <p:cNvPr id="24" name="Rectangle 23"/>
          <p:cNvSpPr/>
          <p:nvPr/>
        </p:nvSpPr>
        <p:spPr>
          <a:xfrm>
            <a:off x="502920" y="297180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297180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13639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Daily Planning</a:t>
            </a:r>
          </a:p>
        </p:txBody>
      </p:sp>
      <p:sp>
        <p:nvSpPr>
          <p:cNvPr id="27" name="TextBox 26"/>
          <p:cNvSpPr txBox="1"/>
          <p:nvPr/>
        </p:nvSpPr>
        <p:spPr>
          <a:xfrm>
            <a:off x="640080" y="352044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Capacity, distribution, daily routes</a:t>
            </a:r>
          </a:p>
        </p:txBody>
      </p:sp>
      <p:sp>
        <p:nvSpPr>
          <p:cNvPr id="28" name="Rectangle 27"/>
          <p:cNvSpPr/>
          <p:nvPr/>
        </p:nvSpPr>
        <p:spPr>
          <a:xfrm>
            <a:off x="3337560" y="297180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337560" y="297180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74720" y="313639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Strategic Planning</a:t>
            </a:r>
          </a:p>
        </p:txBody>
      </p:sp>
      <p:sp>
        <p:nvSpPr>
          <p:cNvPr id="31" name="TextBox 30"/>
          <p:cNvSpPr txBox="1"/>
          <p:nvPr/>
        </p:nvSpPr>
        <p:spPr>
          <a:xfrm>
            <a:off x="3474720" y="352044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Monthly plan, HM Matrix, optimization</a:t>
            </a:r>
          </a:p>
        </p:txBody>
      </p:sp>
      <p:sp>
        <p:nvSpPr>
          <p:cNvPr id="32" name="Rectangle 31"/>
          <p:cNvSpPr/>
          <p:nvPr/>
        </p:nvSpPr>
        <p:spPr>
          <a:xfrm>
            <a:off x="6172200" y="297180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2200" y="297180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313639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Torpedo Management</a:t>
            </a:r>
          </a:p>
        </p:txBody>
      </p:sp>
      <p:sp>
        <p:nvSpPr>
          <p:cNvPr id="35" name="TextBox 34"/>
          <p:cNvSpPr txBox="1"/>
          <p:nvPr/>
        </p:nvSpPr>
        <p:spPr>
          <a:xfrm>
            <a:off x="6309360" y="352044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Fleet registry, status, capacity, lifecycle</a:t>
            </a:r>
          </a:p>
        </p:txBody>
      </p:sp>
      <p:sp>
        <p:nvSpPr>
          <p:cNvPr id="36" name="Rectangle 35"/>
          <p:cNvSpPr/>
          <p:nvPr/>
        </p:nvSpPr>
        <p:spPr>
          <a:xfrm>
            <a:off x="9006840" y="297180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06840" y="297180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0" y="313639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Maintenance Scheduling</a:t>
            </a:r>
          </a:p>
        </p:txBody>
      </p:sp>
      <p:sp>
        <p:nvSpPr>
          <p:cNvPr id="39" name="TextBox 38"/>
          <p:cNvSpPr txBox="1"/>
          <p:nvPr/>
        </p:nvSpPr>
        <p:spPr>
          <a:xfrm>
            <a:off x="9144000" y="352044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Calendar view, overlap prevention</a:t>
            </a:r>
          </a:p>
        </p:txBody>
      </p:sp>
      <p:sp>
        <p:nvSpPr>
          <p:cNvPr id="40" name="Rectangle 39"/>
          <p:cNvSpPr/>
          <p:nvPr/>
        </p:nvSpPr>
        <p:spPr>
          <a:xfrm>
            <a:off x="502920" y="452628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02920" y="452628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 y="469087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Statistics</a:t>
            </a:r>
          </a:p>
        </p:txBody>
      </p:sp>
      <p:sp>
        <p:nvSpPr>
          <p:cNvPr id="43" name="TextBox 42"/>
          <p:cNvSpPr txBox="1"/>
          <p:nvPr/>
        </p:nvSpPr>
        <p:spPr>
          <a:xfrm>
            <a:off x="640080" y="507492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KPIs, throughput, deviation analytics</a:t>
            </a:r>
          </a:p>
        </p:txBody>
      </p:sp>
      <p:sp>
        <p:nvSpPr>
          <p:cNvPr id="44" name="Rectangle 43"/>
          <p:cNvSpPr/>
          <p:nvPr/>
        </p:nvSpPr>
        <p:spPr>
          <a:xfrm>
            <a:off x="3337560" y="452628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337560" y="452628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74720" y="469087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Reports</a:t>
            </a:r>
          </a:p>
        </p:txBody>
      </p:sp>
      <p:sp>
        <p:nvSpPr>
          <p:cNvPr id="47" name="TextBox 46"/>
          <p:cNvSpPr txBox="1"/>
          <p:nvPr/>
        </p:nvSpPr>
        <p:spPr>
          <a:xfrm>
            <a:off x="3474720" y="507492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PDF / Excel / CSV exports, 10+ report types</a:t>
            </a:r>
          </a:p>
        </p:txBody>
      </p:sp>
      <p:sp>
        <p:nvSpPr>
          <p:cNvPr id="48" name="Rectangle 47"/>
          <p:cNvSpPr/>
          <p:nvPr/>
        </p:nvSpPr>
        <p:spPr>
          <a:xfrm>
            <a:off x="6172200" y="452628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172200" y="452628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9360" y="469087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Audit Trail</a:t>
            </a:r>
          </a:p>
        </p:txBody>
      </p:sp>
      <p:sp>
        <p:nvSpPr>
          <p:cNvPr id="51" name="TextBox 50"/>
          <p:cNvSpPr txBox="1"/>
          <p:nvPr/>
        </p:nvSpPr>
        <p:spPr>
          <a:xfrm>
            <a:off x="6309360" y="507492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Username, IP, change diff, regulatory log</a:t>
            </a:r>
          </a:p>
        </p:txBody>
      </p:sp>
      <p:sp>
        <p:nvSpPr>
          <p:cNvPr id="52" name="Rectangle 51"/>
          <p:cNvSpPr/>
          <p:nvPr/>
        </p:nvSpPr>
        <p:spPr>
          <a:xfrm>
            <a:off x="9006840" y="4526280"/>
            <a:ext cx="2788920" cy="14173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006840" y="4526280"/>
            <a:ext cx="27889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44000" y="4690872"/>
            <a:ext cx="2514600" cy="365760"/>
          </a:xfrm>
          <a:prstGeom prst="rect">
            <a:avLst/>
          </a:prstGeom>
          <a:noFill/>
        </p:spPr>
        <p:txBody>
          <a:bodyPr wrap="square" lIns="45720" tIns="18288" rIns="45720" bIns="18288" anchor="t">
            <a:spAutoFit/>
          </a:bodyPr>
          <a:lstStyle/>
          <a:p>
            <a:pPr algn="l"/>
            <a:r>
              <a:rPr sz="1400" b="1" i="0">
                <a:solidFill>
                  <a:srgbClr val="1E3A8A"/>
                </a:solidFill>
                <a:latin typeface="Calibri"/>
              </a:rPr>
              <a:t>Settings &amp; Admin</a:t>
            </a:r>
          </a:p>
        </p:txBody>
      </p:sp>
      <p:sp>
        <p:nvSpPr>
          <p:cNvPr id="55" name="TextBox 54"/>
          <p:cNvSpPr txBox="1"/>
          <p:nvPr/>
        </p:nvSpPr>
        <p:spPr>
          <a:xfrm>
            <a:off x="9144000" y="5074920"/>
            <a:ext cx="2514600" cy="777240"/>
          </a:xfrm>
          <a:prstGeom prst="rect">
            <a:avLst/>
          </a:prstGeom>
          <a:noFill/>
        </p:spPr>
        <p:txBody>
          <a:bodyPr wrap="square" lIns="45720" tIns="18288" rIns="45720" bIns="18288" anchor="t">
            <a:spAutoFit/>
          </a:bodyPr>
          <a:lstStyle/>
          <a:p>
            <a:pPr algn="l"/>
            <a:r>
              <a:rPr sz="1000" b="0" i="0">
                <a:solidFill>
                  <a:srgbClr val="4B5563"/>
                </a:solidFill>
                <a:latin typeface="Calibri"/>
              </a:rPr>
              <a:t>Users, roles, configurations</a:t>
            </a:r>
          </a:p>
        </p:txBody>
      </p:sp>
      <p:sp>
        <p:nvSpPr>
          <p:cNvPr id="56" name="TextBox 55"/>
          <p:cNvSpPr txBox="1"/>
          <p:nvPr/>
        </p:nvSpPr>
        <p:spPr>
          <a:xfrm>
            <a:off x="502920" y="5989320"/>
            <a:ext cx="11338560" cy="457200"/>
          </a:xfrm>
          <a:prstGeom prst="rect">
            <a:avLst/>
          </a:prstGeom>
          <a:noFill/>
        </p:spPr>
        <p:txBody>
          <a:bodyPr wrap="square" lIns="45720" tIns="18288" rIns="45720" bIns="18288" anchor="t">
            <a:spAutoFit/>
          </a:bodyPr>
          <a:lstStyle/>
          <a:p>
            <a:pPr algn="ctr"/>
            <a:r>
              <a:rPr sz="1100" b="0" i="1">
                <a:solidFill>
                  <a:srgbClr val="4B5563"/>
                </a:solidFill>
                <a:latin typeface="Calibri"/>
              </a:rPr>
              <a:t>All 12 modules are role-aware. Admin sees everything; Producer / Consumer see their node-relevant views only.</a:t>
            </a:r>
          </a:p>
        </p:txBody>
      </p:sp>
      <p:pic>
        <p:nvPicPr>
          <p:cNvPr id="57" name="Picture 56" descr="A purple and orange text&#10;&#10;AI-generated content may be incorrect.">
            <a:extLst>
              <a:ext uri="{FF2B5EF4-FFF2-40B4-BE49-F238E27FC236}">
                <a16:creationId xmlns:a16="http://schemas.microsoft.com/office/drawing/2014/main" id="{3CB43761-6CD1-FF34-0B87-61AE305CD3B9}"/>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Trip lifecycle management — 16 states from creation to completion</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20</a:t>
            </a:r>
          </a:p>
        </p:txBody>
      </p:sp>
      <p:sp>
        <p:nvSpPr>
          <p:cNvPr id="8" name="Rectangle 7"/>
          <p:cNvSpPr/>
          <p:nvPr/>
        </p:nvSpPr>
        <p:spPr>
          <a:xfrm>
            <a:off x="502920"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0</a:t>
            </a:r>
          </a:p>
        </p:txBody>
      </p:sp>
      <p:sp>
        <p:nvSpPr>
          <p:cNvPr id="10" name="TextBox 9"/>
          <p:cNvSpPr txBox="1"/>
          <p:nvPr/>
        </p:nvSpPr>
        <p:spPr>
          <a:xfrm>
            <a:off x="502920"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Pending</a:t>
            </a:r>
          </a:p>
        </p:txBody>
      </p:sp>
      <p:sp>
        <p:nvSpPr>
          <p:cNvPr id="11" name="Rectangle 10"/>
          <p:cNvSpPr/>
          <p:nvPr/>
        </p:nvSpPr>
        <p:spPr>
          <a:xfrm>
            <a:off x="1947672"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47672"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1</a:t>
            </a:r>
          </a:p>
        </p:txBody>
      </p:sp>
      <p:sp>
        <p:nvSpPr>
          <p:cNvPr id="13" name="TextBox 12"/>
          <p:cNvSpPr txBox="1"/>
          <p:nvPr/>
        </p:nvSpPr>
        <p:spPr>
          <a:xfrm>
            <a:off x="1947672"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Assigned</a:t>
            </a:r>
          </a:p>
        </p:txBody>
      </p:sp>
      <p:sp>
        <p:nvSpPr>
          <p:cNvPr id="14" name="Rectangle 13"/>
          <p:cNvSpPr/>
          <p:nvPr/>
        </p:nvSpPr>
        <p:spPr>
          <a:xfrm>
            <a:off x="3392424"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92424"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2</a:t>
            </a:r>
          </a:p>
        </p:txBody>
      </p:sp>
      <p:sp>
        <p:nvSpPr>
          <p:cNvPr id="16" name="TextBox 15"/>
          <p:cNvSpPr txBox="1"/>
          <p:nvPr/>
        </p:nvSpPr>
        <p:spPr>
          <a:xfrm>
            <a:off x="3392424"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WB Tare Entry</a:t>
            </a:r>
          </a:p>
        </p:txBody>
      </p:sp>
      <p:sp>
        <p:nvSpPr>
          <p:cNvPr id="17" name="Rectangle 16"/>
          <p:cNvSpPr/>
          <p:nvPr/>
        </p:nvSpPr>
        <p:spPr>
          <a:xfrm>
            <a:off x="4837176"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37176"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3</a:t>
            </a:r>
          </a:p>
        </p:txBody>
      </p:sp>
      <p:sp>
        <p:nvSpPr>
          <p:cNvPr id="19" name="TextBox 18"/>
          <p:cNvSpPr txBox="1"/>
          <p:nvPr/>
        </p:nvSpPr>
        <p:spPr>
          <a:xfrm>
            <a:off x="4837176"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WB Tare Recorded</a:t>
            </a:r>
          </a:p>
        </p:txBody>
      </p:sp>
      <p:sp>
        <p:nvSpPr>
          <p:cNvPr id="20" name="Rectangle 19"/>
          <p:cNvSpPr/>
          <p:nvPr/>
        </p:nvSpPr>
        <p:spPr>
          <a:xfrm>
            <a:off x="6281928"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81928"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4</a:t>
            </a:r>
          </a:p>
        </p:txBody>
      </p:sp>
      <p:sp>
        <p:nvSpPr>
          <p:cNvPr id="22" name="TextBox 21"/>
          <p:cNvSpPr txBox="1"/>
          <p:nvPr/>
        </p:nvSpPr>
        <p:spPr>
          <a:xfrm>
            <a:off x="6281928"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Producer Entered</a:t>
            </a:r>
          </a:p>
        </p:txBody>
      </p:sp>
      <p:sp>
        <p:nvSpPr>
          <p:cNvPr id="23" name="Rectangle 22"/>
          <p:cNvSpPr/>
          <p:nvPr/>
        </p:nvSpPr>
        <p:spPr>
          <a:xfrm>
            <a:off x="7726680"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26680"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5</a:t>
            </a:r>
          </a:p>
        </p:txBody>
      </p:sp>
      <p:sp>
        <p:nvSpPr>
          <p:cNvPr id="25" name="TextBox 24"/>
          <p:cNvSpPr txBox="1"/>
          <p:nvPr/>
        </p:nvSpPr>
        <p:spPr>
          <a:xfrm>
            <a:off x="7726680"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Loading Started</a:t>
            </a:r>
          </a:p>
        </p:txBody>
      </p:sp>
      <p:sp>
        <p:nvSpPr>
          <p:cNvPr id="26" name="Rectangle 25"/>
          <p:cNvSpPr/>
          <p:nvPr/>
        </p:nvSpPr>
        <p:spPr>
          <a:xfrm>
            <a:off x="9171432"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71432"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6</a:t>
            </a:r>
          </a:p>
        </p:txBody>
      </p:sp>
      <p:sp>
        <p:nvSpPr>
          <p:cNvPr id="28" name="TextBox 27"/>
          <p:cNvSpPr txBox="1"/>
          <p:nvPr/>
        </p:nvSpPr>
        <p:spPr>
          <a:xfrm>
            <a:off x="9171432"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Loading Ended</a:t>
            </a:r>
          </a:p>
        </p:txBody>
      </p:sp>
      <p:sp>
        <p:nvSpPr>
          <p:cNvPr id="29" name="Rectangle 28"/>
          <p:cNvSpPr/>
          <p:nvPr/>
        </p:nvSpPr>
        <p:spPr>
          <a:xfrm>
            <a:off x="10616184" y="141732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616184" y="146304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7</a:t>
            </a:r>
          </a:p>
        </p:txBody>
      </p:sp>
      <p:sp>
        <p:nvSpPr>
          <p:cNvPr id="31" name="TextBox 30"/>
          <p:cNvSpPr txBox="1"/>
          <p:nvPr/>
        </p:nvSpPr>
        <p:spPr>
          <a:xfrm>
            <a:off x="10616184" y="173736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Producer Exited</a:t>
            </a:r>
          </a:p>
        </p:txBody>
      </p:sp>
      <p:sp>
        <p:nvSpPr>
          <p:cNvPr id="32" name="Rectangle 31"/>
          <p:cNvSpPr/>
          <p:nvPr/>
        </p:nvSpPr>
        <p:spPr>
          <a:xfrm>
            <a:off x="502920" y="237744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242316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8</a:t>
            </a:r>
          </a:p>
        </p:txBody>
      </p:sp>
      <p:sp>
        <p:nvSpPr>
          <p:cNvPr id="34" name="TextBox 33"/>
          <p:cNvSpPr txBox="1"/>
          <p:nvPr/>
        </p:nvSpPr>
        <p:spPr>
          <a:xfrm>
            <a:off x="502920" y="269748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WB Gross Entry</a:t>
            </a:r>
          </a:p>
        </p:txBody>
      </p:sp>
      <p:sp>
        <p:nvSpPr>
          <p:cNvPr id="35" name="Rectangle 34"/>
          <p:cNvSpPr/>
          <p:nvPr/>
        </p:nvSpPr>
        <p:spPr>
          <a:xfrm>
            <a:off x="1947672" y="237744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47672" y="242316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9</a:t>
            </a:r>
          </a:p>
        </p:txBody>
      </p:sp>
      <p:sp>
        <p:nvSpPr>
          <p:cNvPr id="37" name="TextBox 36"/>
          <p:cNvSpPr txBox="1"/>
          <p:nvPr/>
        </p:nvSpPr>
        <p:spPr>
          <a:xfrm>
            <a:off x="1947672" y="269748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WB Gross Recorded</a:t>
            </a:r>
          </a:p>
        </p:txBody>
      </p:sp>
      <p:sp>
        <p:nvSpPr>
          <p:cNvPr id="38" name="Rectangle 37"/>
          <p:cNvSpPr/>
          <p:nvPr/>
        </p:nvSpPr>
        <p:spPr>
          <a:xfrm>
            <a:off x="3392424" y="237744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392424" y="242316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10</a:t>
            </a:r>
          </a:p>
        </p:txBody>
      </p:sp>
      <p:sp>
        <p:nvSpPr>
          <p:cNvPr id="40" name="TextBox 39"/>
          <p:cNvSpPr txBox="1"/>
          <p:nvPr/>
        </p:nvSpPr>
        <p:spPr>
          <a:xfrm>
            <a:off x="3392424" y="269748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Consumer Entered</a:t>
            </a:r>
          </a:p>
        </p:txBody>
      </p:sp>
      <p:sp>
        <p:nvSpPr>
          <p:cNvPr id="41" name="Rectangle 40"/>
          <p:cNvSpPr/>
          <p:nvPr/>
        </p:nvSpPr>
        <p:spPr>
          <a:xfrm>
            <a:off x="4837176" y="237744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37176" y="242316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11</a:t>
            </a:r>
          </a:p>
        </p:txBody>
      </p:sp>
      <p:sp>
        <p:nvSpPr>
          <p:cNvPr id="43" name="TextBox 42"/>
          <p:cNvSpPr txBox="1"/>
          <p:nvPr/>
        </p:nvSpPr>
        <p:spPr>
          <a:xfrm>
            <a:off x="4837176" y="269748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Unloading Started</a:t>
            </a:r>
          </a:p>
        </p:txBody>
      </p:sp>
      <p:sp>
        <p:nvSpPr>
          <p:cNvPr id="44" name="Rectangle 43"/>
          <p:cNvSpPr/>
          <p:nvPr/>
        </p:nvSpPr>
        <p:spPr>
          <a:xfrm>
            <a:off x="6281928" y="2377440"/>
            <a:ext cx="13716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81928" y="2423160"/>
            <a:ext cx="1371600" cy="274320"/>
          </a:xfrm>
          <a:prstGeom prst="rect">
            <a:avLst/>
          </a:prstGeom>
          <a:noFill/>
        </p:spPr>
        <p:txBody>
          <a:bodyPr wrap="square" lIns="45720" tIns="18288" rIns="45720" bIns="18288" anchor="ctr">
            <a:spAutoFit/>
          </a:bodyPr>
          <a:lstStyle/>
          <a:p>
            <a:pPr algn="ctr"/>
            <a:r>
              <a:rPr sz="1000" b="1" i="0">
                <a:solidFill>
                  <a:srgbClr val="1F2937"/>
                </a:solidFill>
                <a:latin typeface="Calibri"/>
              </a:rPr>
              <a:t>12</a:t>
            </a:r>
          </a:p>
        </p:txBody>
      </p:sp>
      <p:sp>
        <p:nvSpPr>
          <p:cNvPr id="46" name="TextBox 45"/>
          <p:cNvSpPr txBox="1"/>
          <p:nvPr/>
        </p:nvSpPr>
        <p:spPr>
          <a:xfrm>
            <a:off x="6281928" y="2697480"/>
            <a:ext cx="1371600" cy="457200"/>
          </a:xfrm>
          <a:prstGeom prst="rect">
            <a:avLst/>
          </a:prstGeom>
          <a:noFill/>
        </p:spPr>
        <p:txBody>
          <a:bodyPr wrap="square" lIns="45720" tIns="18288" rIns="45720" bIns="18288" anchor="ctr">
            <a:spAutoFit/>
          </a:bodyPr>
          <a:lstStyle/>
          <a:p>
            <a:pPr algn="ctr"/>
            <a:r>
              <a:rPr sz="900" b="0" i="0">
                <a:solidFill>
                  <a:srgbClr val="1F2937"/>
                </a:solidFill>
                <a:latin typeface="Calibri"/>
              </a:rPr>
              <a:t>Unloading Ended</a:t>
            </a:r>
          </a:p>
        </p:txBody>
      </p:sp>
      <p:sp>
        <p:nvSpPr>
          <p:cNvPr id="47" name="Rectangle 46"/>
          <p:cNvSpPr/>
          <p:nvPr/>
        </p:nvSpPr>
        <p:spPr>
          <a:xfrm>
            <a:off x="7726680" y="2377440"/>
            <a:ext cx="1371600" cy="82296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26680" y="2423160"/>
            <a:ext cx="1371600" cy="274320"/>
          </a:xfrm>
          <a:prstGeom prst="rect">
            <a:avLst/>
          </a:prstGeom>
          <a:noFill/>
        </p:spPr>
        <p:txBody>
          <a:bodyPr wrap="square" lIns="45720" tIns="18288" rIns="45720" bIns="18288" anchor="ctr">
            <a:spAutoFit/>
          </a:bodyPr>
          <a:lstStyle/>
          <a:p>
            <a:pPr algn="ctr"/>
            <a:r>
              <a:rPr sz="1000" b="1" i="0">
                <a:solidFill>
                  <a:srgbClr val="FFFFFF"/>
                </a:solidFill>
                <a:latin typeface="Calibri"/>
              </a:rPr>
              <a:t>13</a:t>
            </a:r>
          </a:p>
        </p:txBody>
      </p:sp>
      <p:sp>
        <p:nvSpPr>
          <p:cNvPr id="49" name="TextBox 48"/>
          <p:cNvSpPr txBox="1"/>
          <p:nvPr/>
        </p:nvSpPr>
        <p:spPr>
          <a:xfrm>
            <a:off x="7726680" y="2697480"/>
            <a:ext cx="1371600" cy="457200"/>
          </a:xfrm>
          <a:prstGeom prst="rect">
            <a:avLst/>
          </a:prstGeom>
          <a:noFill/>
        </p:spPr>
        <p:txBody>
          <a:bodyPr wrap="square" lIns="45720" tIns="18288" rIns="45720" bIns="18288" anchor="ctr">
            <a:spAutoFit/>
          </a:bodyPr>
          <a:lstStyle/>
          <a:p>
            <a:pPr algn="ctr"/>
            <a:r>
              <a:rPr sz="900" b="0" i="0">
                <a:solidFill>
                  <a:srgbClr val="FFFFFF"/>
                </a:solidFill>
                <a:latin typeface="Calibri"/>
              </a:rPr>
              <a:t>Completed</a:t>
            </a:r>
          </a:p>
        </p:txBody>
      </p:sp>
      <p:sp>
        <p:nvSpPr>
          <p:cNvPr id="50" name="Rectangle 49"/>
          <p:cNvSpPr/>
          <p:nvPr/>
        </p:nvSpPr>
        <p:spPr>
          <a:xfrm>
            <a:off x="9171432" y="2377440"/>
            <a:ext cx="1371600" cy="8229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171432" y="2423160"/>
            <a:ext cx="1371600" cy="274320"/>
          </a:xfrm>
          <a:prstGeom prst="rect">
            <a:avLst/>
          </a:prstGeom>
          <a:noFill/>
        </p:spPr>
        <p:txBody>
          <a:bodyPr wrap="square" lIns="45720" tIns="18288" rIns="45720" bIns="18288" anchor="ctr">
            <a:spAutoFit/>
          </a:bodyPr>
          <a:lstStyle/>
          <a:p>
            <a:pPr algn="ctr"/>
            <a:r>
              <a:rPr sz="1000" b="1" i="0">
                <a:solidFill>
                  <a:srgbClr val="FFFFFF"/>
                </a:solidFill>
                <a:latin typeface="Calibri"/>
              </a:rPr>
              <a:t>14</a:t>
            </a:r>
          </a:p>
        </p:txBody>
      </p:sp>
      <p:sp>
        <p:nvSpPr>
          <p:cNvPr id="52" name="TextBox 51"/>
          <p:cNvSpPr txBox="1"/>
          <p:nvPr/>
        </p:nvSpPr>
        <p:spPr>
          <a:xfrm>
            <a:off x="9171432" y="2697480"/>
            <a:ext cx="1371600" cy="457200"/>
          </a:xfrm>
          <a:prstGeom prst="rect">
            <a:avLst/>
          </a:prstGeom>
          <a:noFill/>
        </p:spPr>
        <p:txBody>
          <a:bodyPr wrap="square" lIns="45720" tIns="18288" rIns="45720" bIns="18288" anchor="ctr">
            <a:spAutoFit/>
          </a:bodyPr>
          <a:lstStyle/>
          <a:p>
            <a:pPr algn="ctr"/>
            <a:r>
              <a:rPr sz="900" b="0" i="0">
                <a:solidFill>
                  <a:srgbClr val="FFFFFF"/>
                </a:solidFill>
                <a:latin typeface="Calibri"/>
              </a:rPr>
              <a:t>Canceled</a:t>
            </a:r>
          </a:p>
        </p:txBody>
      </p:sp>
      <p:sp>
        <p:nvSpPr>
          <p:cNvPr id="53" name="Rectangle 52"/>
          <p:cNvSpPr/>
          <p:nvPr/>
        </p:nvSpPr>
        <p:spPr>
          <a:xfrm>
            <a:off x="10616184" y="2377440"/>
            <a:ext cx="1371600" cy="8229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616184" y="2423160"/>
            <a:ext cx="1371600" cy="274320"/>
          </a:xfrm>
          <a:prstGeom prst="rect">
            <a:avLst/>
          </a:prstGeom>
          <a:noFill/>
        </p:spPr>
        <p:txBody>
          <a:bodyPr wrap="square" lIns="45720" tIns="18288" rIns="45720" bIns="18288" anchor="ctr">
            <a:spAutoFit/>
          </a:bodyPr>
          <a:lstStyle/>
          <a:p>
            <a:pPr algn="ctr"/>
            <a:r>
              <a:rPr sz="1000" b="1" i="0">
                <a:solidFill>
                  <a:srgbClr val="FFFFFF"/>
                </a:solidFill>
                <a:latin typeface="Calibri"/>
              </a:rPr>
              <a:t>15</a:t>
            </a:r>
          </a:p>
        </p:txBody>
      </p:sp>
      <p:sp>
        <p:nvSpPr>
          <p:cNvPr id="55" name="TextBox 54"/>
          <p:cNvSpPr txBox="1"/>
          <p:nvPr/>
        </p:nvSpPr>
        <p:spPr>
          <a:xfrm>
            <a:off x="10616184" y="2697480"/>
            <a:ext cx="1371600" cy="457200"/>
          </a:xfrm>
          <a:prstGeom prst="rect">
            <a:avLst/>
          </a:prstGeom>
          <a:noFill/>
        </p:spPr>
        <p:txBody>
          <a:bodyPr wrap="square" lIns="45720" tIns="18288" rIns="45720" bIns="18288" anchor="ctr">
            <a:spAutoFit/>
          </a:bodyPr>
          <a:lstStyle/>
          <a:p>
            <a:pPr algn="ctr"/>
            <a:r>
              <a:rPr sz="900" b="0" i="0">
                <a:solidFill>
                  <a:srgbClr val="FFFFFF"/>
                </a:solidFill>
                <a:latin typeface="Calibri"/>
              </a:rPr>
              <a:t>Aborted</a:t>
            </a:r>
          </a:p>
        </p:txBody>
      </p:sp>
      <p:sp>
        <p:nvSpPr>
          <p:cNvPr id="56" name="TextBox 55"/>
          <p:cNvSpPr txBox="1"/>
          <p:nvPr/>
        </p:nvSpPr>
        <p:spPr>
          <a:xfrm>
            <a:off x="502920" y="352044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FEATURES</a:t>
            </a:r>
          </a:p>
        </p:txBody>
      </p:sp>
      <p:sp>
        <p:nvSpPr>
          <p:cNvPr id="57" name="TextBox 56"/>
          <p:cNvSpPr txBox="1"/>
          <p:nvPr/>
        </p:nvSpPr>
        <p:spPr>
          <a:xfrm>
            <a:off x="502920" y="3840480"/>
            <a:ext cx="11338560" cy="2468880"/>
          </a:xfrm>
          <a:prstGeom prst="rect">
            <a:avLst/>
          </a:prstGeom>
          <a:noFill/>
        </p:spPr>
        <p:txBody>
          <a:bodyPr wrap="square" lIns="45720">
            <a:spAutoFit/>
          </a:bodyPr>
          <a:lstStyle/>
          <a:p>
            <a:pPr>
              <a:lnSpc>
                <a:spcPct val="115000"/>
              </a:lnSpc>
              <a:spcAft>
                <a:spcPts val="200"/>
              </a:spcAft>
              <a:buChar char="■"/>
            </a:pPr>
            <a:r>
              <a:rPr sz="1200">
                <a:solidFill>
                  <a:srgbClr val="1F2937"/>
                </a:solidFill>
                <a:latin typeface="Calibri"/>
              </a:rPr>
              <a:t>Status transitions are validated server-side — invalid jumps blocked by a state-machine.</a:t>
            </a:r>
          </a:p>
          <a:p>
            <a:pPr>
              <a:lnSpc>
                <a:spcPct val="115000"/>
              </a:lnSpc>
              <a:spcAft>
                <a:spcPts val="200"/>
              </a:spcAft>
              <a:buChar char="■"/>
            </a:pPr>
            <a:r>
              <a:rPr sz="1200">
                <a:solidFill>
                  <a:srgbClr val="1F2937"/>
                </a:solidFill>
                <a:latin typeface="Calibri"/>
              </a:rPr>
              <a:t>Each transition is timestamped and audit-logged with the user who performed it.</a:t>
            </a:r>
          </a:p>
          <a:p>
            <a:pPr>
              <a:lnSpc>
                <a:spcPct val="115000"/>
              </a:lnSpc>
              <a:spcAft>
                <a:spcPts val="200"/>
              </a:spcAft>
              <a:buChar char="■"/>
            </a:pPr>
            <a:r>
              <a:rPr sz="1200">
                <a:solidFill>
                  <a:srgbClr val="1F2937"/>
                </a:solidFill>
                <a:latin typeface="Calibri"/>
              </a:rPr>
              <a:t>Live deviation tracking compares expected times (from HM Matrix) against actuals; threshold alerts fire at 10, 20, 30 minute deltas.</a:t>
            </a:r>
          </a:p>
          <a:p>
            <a:pPr>
              <a:lnSpc>
                <a:spcPct val="115000"/>
              </a:lnSpc>
              <a:spcAft>
                <a:spcPts val="200"/>
              </a:spcAft>
              <a:buChar char="■"/>
            </a:pPr>
            <a:r>
              <a:rPr sz="1200">
                <a:solidFill>
                  <a:srgbClr val="1F2937"/>
                </a:solidFill>
                <a:latin typeface="Calibri"/>
              </a:rPr>
              <a:t>Trips can be created automatically by the assignment engine, manually by Admin, or auto-detected from upstream weighbridge data (WBATNGL mirror).</a:t>
            </a:r>
          </a:p>
          <a:p>
            <a:pPr>
              <a:lnSpc>
                <a:spcPct val="115000"/>
              </a:lnSpc>
              <a:spcAft>
                <a:spcPts val="200"/>
              </a:spcAft>
              <a:buChar char="■"/>
            </a:pPr>
            <a:r>
              <a:rPr sz="1200">
                <a:solidFill>
                  <a:srgbClr val="1F2937"/>
                </a:solidFill>
                <a:latin typeface="Calibri"/>
              </a:rPr>
              <a:t>Trip cancellation is governed by role permissions; abortion mid-execution requires admin override.</a:t>
            </a:r>
          </a:p>
        </p:txBody>
      </p:sp>
      <p:pic>
        <p:nvPicPr>
          <p:cNvPr id="58" name="Picture 57" descr="A purple and orange text&#10;&#10;AI-generated content may be incorrect.">
            <a:extLst>
              <a:ext uri="{FF2B5EF4-FFF2-40B4-BE49-F238E27FC236}">
                <a16:creationId xmlns:a16="http://schemas.microsoft.com/office/drawing/2014/main" id="{FC6CE2E6-A143-DC2F-4EE1-E289F3926BAD}"/>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Planning — daily, monthly, and optimised distribution</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21</a:t>
            </a:r>
          </a:p>
        </p:txBody>
      </p:sp>
      <p:sp>
        <p:nvSpPr>
          <p:cNvPr id="8" name="Rectangle 7"/>
          <p:cNvSpPr/>
          <p:nvPr/>
        </p:nvSpPr>
        <p:spPr>
          <a:xfrm>
            <a:off x="502920" y="1417320"/>
            <a:ext cx="370332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417320"/>
            <a:ext cx="3520440" cy="457200"/>
          </a:xfrm>
          <a:prstGeom prst="rect">
            <a:avLst/>
          </a:prstGeom>
          <a:noFill/>
        </p:spPr>
        <p:txBody>
          <a:bodyPr wrap="square" lIns="45720" tIns="18288" rIns="45720" bIns="18288" anchor="ctr">
            <a:spAutoFit/>
          </a:bodyPr>
          <a:lstStyle/>
          <a:p>
            <a:pPr algn="l"/>
            <a:r>
              <a:rPr sz="1200" b="1" i="0">
                <a:solidFill>
                  <a:srgbClr val="FFFFFF"/>
                </a:solidFill>
                <a:latin typeface="Calibri"/>
              </a:rPr>
              <a:t>DAILY PLANNING</a:t>
            </a:r>
          </a:p>
        </p:txBody>
      </p:sp>
      <p:sp>
        <p:nvSpPr>
          <p:cNvPr id="10" name="Rectangle 9"/>
          <p:cNvSpPr/>
          <p:nvPr/>
        </p:nvSpPr>
        <p:spPr>
          <a:xfrm>
            <a:off x="502920" y="1874519"/>
            <a:ext cx="3703320" cy="41148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65960"/>
            <a:ext cx="3429000" cy="39319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Per-day capacity entry by Producer / Consumer roles</a:t>
            </a:r>
          </a:p>
          <a:p>
            <a:pPr>
              <a:lnSpc>
                <a:spcPct val="115000"/>
              </a:lnSpc>
              <a:spcAft>
                <a:spcPts val="200"/>
              </a:spcAft>
              <a:buChar char="■"/>
            </a:pPr>
            <a:r>
              <a:rPr sz="1100">
                <a:solidFill>
                  <a:srgbClr val="1F2937"/>
                </a:solidFill>
                <a:latin typeface="Calibri"/>
              </a:rPr>
              <a:t>Status workflow: Primary → Revised → Confirmed</a:t>
            </a:r>
          </a:p>
          <a:p>
            <a:pPr>
              <a:lnSpc>
                <a:spcPct val="115000"/>
              </a:lnSpc>
              <a:spcAft>
                <a:spcPts val="200"/>
              </a:spcAft>
              <a:buChar char="■"/>
            </a:pPr>
            <a:r>
              <a:rPr sz="1100">
                <a:solidFill>
                  <a:srgbClr val="1F2937"/>
                </a:solidFill>
                <a:latin typeface="Calibri"/>
              </a:rPr>
              <a:t>Auto-computed daily plan rolls into monthly view</a:t>
            </a:r>
          </a:p>
          <a:p>
            <a:pPr>
              <a:lnSpc>
                <a:spcPct val="115000"/>
              </a:lnSpc>
              <a:spcAft>
                <a:spcPts val="200"/>
              </a:spcAft>
              <a:buChar char="■"/>
            </a:pPr>
            <a:r>
              <a:rPr sz="1100">
                <a:solidFill>
                  <a:srgbClr val="1F2937"/>
                </a:solidFill>
                <a:latin typeface="Calibri"/>
              </a:rPr>
              <a:t>Cache-backed for instant operator response</a:t>
            </a:r>
          </a:p>
        </p:txBody>
      </p:sp>
      <p:sp>
        <p:nvSpPr>
          <p:cNvPr id="12" name="Rectangle 11"/>
          <p:cNvSpPr/>
          <p:nvPr/>
        </p:nvSpPr>
        <p:spPr>
          <a:xfrm>
            <a:off x="4297680" y="1417320"/>
            <a:ext cx="370332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417320"/>
            <a:ext cx="3520440" cy="457200"/>
          </a:xfrm>
          <a:prstGeom prst="rect">
            <a:avLst/>
          </a:prstGeom>
          <a:noFill/>
        </p:spPr>
        <p:txBody>
          <a:bodyPr wrap="square" lIns="45720" tIns="18288" rIns="45720" bIns="18288" anchor="ctr">
            <a:spAutoFit/>
          </a:bodyPr>
          <a:lstStyle/>
          <a:p>
            <a:pPr algn="l"/>
            <a:r>
              <a:rPr sz="1200" b="1" i="0">
                <a:solidFill>
                  <a:srgbClr val="FFFFFF"/>
                </a:solidFill>
                <a:latin typeface="Calibri"/>
              </a:rPr>
              <a:t>MONTHLY / STRATEGIC PLANNING</a:t>
            </a:r>
          </a:p>
        </p:txBody>
      </p:sp>
      <p:sp>
        <p:nvSpPr>
          <p:cNvPr id="14" name="Rectangle 13"/>
          <p:cNvSpPr/>
          <p:nvPr/>
        </p:nvSpPr>
        <p:spPr>
          <a:xfrm>
            <a:off x="4297680" y="1874519"/>
            <a:ext cx="3703320" cy="41148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1965960"/>
            <a:ext cx="3429000" cy="39319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Admin-only monthly capacity calendar</a:t>
            </a:r>
          </a:p>
          <a:p>
            <a:pPr>
              <a:lnSpc>
                <a:spcPct val="115000"/>
              </a:lnSpc>
              <a:spcAft>
                <a:spcPts val="200"/>
              </a:spcAft>
              <a:buChar char="■"/>
            </a:pPr>
            <a:r>
              <a:rPr sz="1100">
                <a:solidFill>
                  <a:srgbClr val="1F2937"/>
                </a:solidFill>
                <a:latin typeface="Calibri"/>
              </a:rPr>
              <a:t>Five planning tabs: Executive, Configuration, Maintenance, Strategic, Weighbridge</a:t>
            </a:r>
          </a:p>
          <a:p>
            <a:pPr>
              <a:lnSpc>
                <a:spcPct val="115000"/>
              </a:lnSpc>
              <a:spcAft>
                <a:spcPts val="200"/>
              </a:spcAft>
              <a:buChar char="■"/>
            </a:pPr>
            <a:r>
              <a:rPr sz="1100">
                <a:solidFill>
                  <a:srgbClr val="1F2937"/>
                </a:solidFill>
                <a:latin typeface="Calibri"/>
              </a:rPr>
              <a:t>Distribution Assignment with Committed / Proposed / Superseded states</a:t>
            </a:r>
          </a:p>
          <a:p>
            <a:pPr>
              <a:lnSpc>
                <a:spcPct val="115000"/>
              </a:lnSpc>
              <a:spcAft>
                <a:spcPts val="200"/>
              </a:spcAft>
              <a:buChar char="■"/>
            </a:pPr>
            <a:r>
              <a:rPr sz="1100">
                <a:solidFill>
                  <a:srgbClr val="1F2937"/>
                </a:solidFill>
                <a:latin typeface="Calibri"/>
              </a:rPr>
              <a:t>Historical comparison and forecast view</a:t>
            </a:r>
          </a:p>
        </p:txBody>
      </p:sp>
      <p:sp>
        <p:nvSpPr>
          <p:cNvPr id="16" name="Rectangle 15"/>
          <p:cNvSpPr/>
          <p:nvPr/>
        </p:nvSpPr>
        <p:spPr>
          <a:xfrm>
            <a:off x="8092440" y="1417320"/>
            <a:ext cx="370332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417320"/>
            <a:ext cx="3520440" cy="457200"/>
          </a:xfrm>
          <a:prstGeom prst="rect">
            <a:avLst/>
          </a:prstGeom>
          <a:noFill/>
        </p:spPr>
        <p:txBody>
          <a:bodyPr wrap="square" lIns="45720" tIns="18288" rIns="45720" bIns="18288" anchor="ctr">
            <a:spAutoFit/>
          </a:bodyPr>
          <a:lstStyle/>
          <a:p>
            <a:pPr algn="l"/>
            <a:r>
              <a:rPr sz="1200" b="1" i="0">
                <a:solidFill>
                  <a:srgbClr val="FFFFFF"/>
                </a:solidFill>
                <a:latin typeface="Calibri"/>
              </a:rPr>
              <a:t>HM MATRIX &amp; OPTIMISATION</a:t>
            </a:r>
          </a:p>
        </p:txBody>
      </p:sp>
      <p:sp>
        <p:nvSpPr>
          <p:cNvPr id="18" name="Rectangle 17"/>
          <p:cNvSpPr/>
          <p:nvPr/>
        </p:nvSpPr>
        <p:spPr>
          <a:xfrm>
            <a:off x="8092440" y="1874519"/>
            <a:ext cx="3703320" cy="41148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965960"/>
            <a:ext cx="3429000" cy="39319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Hot-Metal Matrix — bidirectional travel time table per producer-consumer pair</a:t>
            </a:r>
          </a:p>
          <a:p>
            <a:pPr>
              <a:lnSpc>
                <a:spcPct val="115000"/>
              </a:lnSpc>
              <a:spcAft>
                <a:spcPts val="200"/>
              </a:spcAft>
              <a:buChar char="■"/>
            </a:pPr>
            <a:r>
              <a:rPr sz="1100">
                <a:solidFill>
                  <a:srgbClr val="1F2937"/>
                </a:solidFill>
                <a:latin typeface="Calibri"/>
              </a:rPr>
              <a:t>Fill, Unload, Wait time configuration per node</a:t>
            </a:r>
          </a:p>
          <a:p>
            <a:pPr>
              <a:lnSpc>
                <a:spcPct val="115000"/>
              </a:lnSpc>
              <a:spcAft>
                <a:spcPts val="200"/>
              </a:spcAft>
              <a:buChar char="■"/>
            </a:pPr>
            <a:r>
              <a:rPr sz="1100">
                <a:solidFill>
                  <a:srgbClr val="1F2937"/>
                </a:solidFill>
                <a:latin typeface="Calibri"/>
              </a:rPr>
              <a:t>Linear-programming optimiser (PuLP) generates day-optimal allocation</a:t>
            </a:r>
          </a:p>
          <a:p>
            <a:pPr>
              <a:lnSpc>
                <a:spcPct val="115000"/>
              </a:lnSpc>
              <a:spcAft>
                <a:spcPts val="200"/>
              </a:spcAft>
              <a:buChar char="■"/>
            </a:pPr>
            <a:r>
              <a:rPr sz="1100">
                <a:solidFill>
                  <a:srgbClr val="1F2937"/>
                </a:solidFill>
                <a:latin typeface="Calibri"/>
              </a:rPr>
              <a:t>Optimisation considers: capacity, distance, dwell, queue, and torpedo availability</a:t>
            </a:r>
          </a:p>
        </p:txBody>
      </p:sp>
      <p:pic>
        <p:nvPicPr>
          <p:cNvPr id="20" name="Picture 19" descr="A purple and orange text&#10;&#10;AI-generated content may be incorrect.">
            <a:extLst>
              <a:ext uri="{FF2B5EF4-FFF2-40B4-BE49-F238E27FC236}">
                <a16:creationId xmlns:a16="http://schemas.microsoft.com/office/drawing/2014/main" id="{B6F991E1-4F73-CC66-35AC-9BEB165FAB34}"/>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Operations · Statistics · Deviation Analytics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22</a:t>
            </a:r>
          </a:p>
        </p:txBody>
      </p:sp>
      <p:sp>
        <p:nvSpPr>
          <p:cNvPr id="8" name="Rectangle 7"/>
          <p:cNvSpPr/>
          <p:nvPr/>
        </p:nvSpPr>
        <p:spPr>
          <a:xfrm>
            <a:off x="502920" y="1417320"/>
            <a:ext cx="11338560" cy="45720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417320"/>
            <a:ext cx="3200400" cy="457200"/>
          </a:xfrm>
          <a:prstGeom prst="rect">
            <a:avLst/>
          </a:prstGeom>
          <a:noFill/>
        </p:spPr>
        <p:txBody>
          <a:bodyPr wrap="square" lIns="45720" tIns="18288" rIns="45720" bIns="18288" anchor="ctr">
            <a:spAutoFit/>
          </a:bodyPr>
          <a:lstStyle/>
          <a:p>
            <a:pPr algn="l"/>
            <a:r>
              <a:rPr sz="1200" b="1" i="0">
                <a:solidFill>
                  <a:srgbClr val="FFFFFF"/>
                </a:solidFill>
                <a:latin typeface="Calibri"/>
              </a:rPr>
              <a:t>OPERATIONS</a:t>
            </a:r>
          </a:p>
        </p:txBody>
      </p:sp>
      <p:sp>
        <p:nvSpPr>
          <p:cNvPr id="10" name="TextBox 9"/>
          <p:cNvSpPr txBox="1"/>
          <p:nvPr/>
        </p:nvSpPr>
        <p:spPr>
          <a:xfrm>
            <a:off x="4023360" y="1417320"/>
            <a:ext cx="7680960" cy="457200"/>
          </a:xfrm>
          <a:prstGeom prst="rect">
            <a:avLst/>
          </a:prstGeom>
          <a:noFill/>
        </p:spPr>
        <p:txBody>
          <a:bodyPr wrap="square" lIns="45720" tIns="18288" rIns="45720" bIns="18288" anchor="ctr">
            <a:spAutoFit/>
          </a:bodyPr>
          <a:lstStyle/>
          <a:p>
            <a:pPr algn="l"/>
            <a:r>
              <a:rPr sz="1100" b="0" i="1">
                <a:solidFill>
                  <a:srgbClr val="FFFFFF"/>
                </a:solidFill>
                <a:latin typeface="Calibri"/>
              </a:rPr>
              <a:t>Real-time node-specific control surface</a:t>
            </a:r>
          </a:p>
        </p:txBody>
      </p:sp>
      <p:sp>
        <p:nvSpPr>
          <p:cNvPr id="11" name="TextBox 10"/>
          <p:cNvSpPr txBox="1"/>
          <p:nvPr/>
        </p:nvSpPr>
        <p:spPr>
          <a:xfrm>
            <a:off x="640080" y="1920240"/>
            <a:ext cx="11155680" cy="11887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Per-producer and per-consumer dashboards</a:t>
            </a:r>
          </a:p>
          <a:p>
            <a:pPr>
              <a:lnSpc>
                <a:spcPct val="115000"/>
              </a:lnSpc>
              <a:spcAft>
                <a:spcPts val="200"/>
              </a:spcAft>
              <a:buChar char="■"/>
            </a:pPr>
            <a:r>
              <a:rPr sz="1100">
                <a:solidFill>
                  <a:srgbClr val="1F2937"/>
                </a:solidFill>
                <a:latin typeface="Calibri"/>
              </a:rPr>
              <a:t>Admin sees tabbed view across all producers / consumers</a:t>
            </a:r>
          </a:p>
          <a:p>
            <a:pPr>
              <a:lnSpc>
                <a:spcPct val="115000"/>
              </a:lnSpc>
              <a:spcAft>
                <a:spcPts val="200"/>
              </a:spcAft>
              <a:buChar char="■"/>
            </a:pPr>
            <a:r>
              <a:rPr sz="1100">
                <a:solidFill>
                  <a:srgbClr val="1F2937"/>
                </a:solidFill>
                <a:latin typeface="Calibri"/>
              </a:rPr>
              <a:t>Live status of each node, current torpedo, in-progress trips</a:t>
            </a:r>
          </a:p>
          <a:p>
            <a:pPr>
              <a:lnSpc>
                <a:spcPct val="115000"/>
              </a:lnSpc>
              <a:spcAft>
                <a:spcPts val="200"/>
              </a:spcAft>
              <a:buChar char="■"/>
            </a:pPr>
            <a:r>
              <a:rPr sz="1100">
                <a:solidFill>
                  <a:srgbClr val="1F2937"/>
                </a:solidFill>
                <a:latin typeface="Calibri"/>
              </a:rPr>
              <a:t>Configurable thresholds — warning (10 min), alert (20 min), critical (30 min)</a:t>
            </a:r>
          </a:p>
          <a:p>
            <a:pPr>
              <a:lnSpc>
                <a:spcPct val="115000"/>
              </a:lnSpc>
              <a:spcAft>
                <a:spcPts val="200"/>
              </a:spcAft>
              <a:buChar char="■"/>
            </a:pPr>
            <a:r>
              <a:rPr sz="1100">
                <a:solidFill>
                  <a:srgbClr val="1F2937"/>
                </a:solidFill>
                <a:latin typeface="Calibri"/>
              </a:rPr>
              <a:t>Trip-stage progression with phase-level deviation tracking</a:t>
            </a:r>
          </a:p>
        </p:txBody>
      </p:sp>
      <p:sp>
        <p:nvSpPr>
          <p:cNvPr id="12" name="Rectangle 11"/>
          <p:cNvSpPr/>
          <p:nvPr/>
        </p:nvSpPr>
        <p:spPr>
          <a:xfrm>
            <a:off x="502920" y="3108960"/>
            <a:ext cx="11338560" cy="45720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108960"/>
            <a:ext cx="3200400" cy="457200"/>
          </a:xfrm>
          <a:prstGeom prst="rect">
            <a:avLst/>
          </a:prstGeom>
          <a:noFill/>
        </p:spPr>
        <p:txBody>
          <a:bodyPr wrap="square" lIns="45720" tIns="18288" rIns="45720" bIns="18288" anchor="ctr">
            <a:spAutoFit/>
          </a:bodyPr>
          <a:lstStyle/>
          <a:p>
            <a:pPr algn="l"/>
            <a:r>
              <a:rPr sz="1200" b="1" i="0">
                <a:solidFill>
                  <a:srgbClr val="FFFFFF"/>
                </a:solidFill>
                <a:latin typeface="Calibri"/>
              </a:rPr>
              <a:t>STATISTICS</a:t>
            </a:r>
          </a:p>
        </p:txBody>
      </p:sp>
      <p:sp>
        <p:nvSpPr>
          <p:cNvPr id="14" name="TextBox 13"/>
          <p:cNvSpPr txBox="1"/>
          <p:nvPr/>
        </p:nvSpPr>
        <p:spPr>
          <a:xfrm>
            <a:off x="4023360" y="3108960"/>
            <a:ext cx="7680960" cy="457200"/>
          </a:xfrm>
          <a:prstGeom prst="rect">
            <a:avLst/>
          </a:prstGeom>
          <a:noFill/>
        </p:spPr>
        <p:txBody>
          <a:bodyPr wrap="square" lIns="45720" tIns="18288" rIns="45720" bIns="18288" anchor="ctr">
            <a:spAutoFit/>
          </a:bodyPr>
          <a:lstStyle/>
          <a:p>
            <a:pPr algn="l"/>
            <a:r>
              <a:rPr sz="1100" b="0" i="1">
                <a:solidFill>
                  <a:srgbClr val="FFFFFF"/>
                </a:solidFill>
                <a:latin typeface="Calibri"/>
              </a:rPr>
              <a:t>Multi-dimensional KPI dashboard</a:t>
            </a:r>
          </a:p>
        </p:txBody>
      </p:sp>
      <p:sp>
        <p:nvSpPr>
          <p:cNvPr id="15" name="TextBox 14"/>
          <p:cNvSpPr txBox="1"/>
          <p:nvPr/>
        </p:nvSpPr>
        <p:spPr>
          <a:xfrm>
            <a:off x="640080" y="3611880"/>
            <a:ext cx="11155680" cy="11887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Producer-specific, Consumer-specific, and global views</a:t>
            </a:r>
          </a:p>
          <a:p>
            <a:pPr>
              <a:lnSpc>
                <a:spcPct val="115000"/>
              </a:lnSpc>
              <a:spcAft>
                <a:spcPts val="200"/>
              </a:spcAft>
              <a:buChar char="■"/>
            </a:pPr>
            <a:r>
              <a:rPr sz="1100">
                <a:solidFill>
                  <a:srgbClr val="1F2937"/>
                </a:solidFill>
                <a:latin typeface="Calibri"/>
              </a:rPr>
              <a:t>Headline KPIs: trips today, tonnes today, average cycle, on-time %</a:t>
            </a:r>
          </a:p>
          <a:p>
            <a:pPr>
              <a:lnSpc>
                <a:spcPct val="115000"/>
              </a:lnSpc>
              <a:spcAft>
                <a:spcPts val="200"/>
              </a:spcAft>
              <a:buChar char="■"/>
            </a:pPr>
            <a:r>
              <a:rPr sz="1100">
                <a:solidFill>
                  <a:srgbClr val="1F2937"/>
                </a:solidFill>
                <a:latin typeface="Calibri"/>
              </a:rPr>
              <a:t>Throughput trends (hourly / daily / monthly)</a:t>
            </a:r>
          </a:p>
          <a:p>
            <a:pPr>
              <a:lnSpc>
                <a:spcPct val="115000"/>
              </a:lnSpc>
              <a:spcAft>
                <a:spcPts val="200"/>
              </a:spcAft>
              <a:buChar char="■"/>
            </a:pPr>
            <a:r>
              <a:rPr sz="1100">
                <a:solidFill>
                  <a:srgbClr val="1F2937"/>
                </a:solidFill>
                <a:latin typeface="Calibri"/>
              </a:rPr>
              <a:t>Fleet utilisation, torpedo cycle distribution, route comparison</a:t>
            </a:r>
          </a:p>
          <a:p>
            <a:pPr>
              <a:lnSpc>
                <a:spcPct val="115000"/>
              </a:lnSpc>
              <a:spcAft>
                <a:spcPts val="200"/>
              </a:spcAft>
              <a:buChar char="■"/>
            </a:pPr>
            <a:r>
              <a:rPr sz="1100">
                <a:solidFill>
                  <a:srgbClr val="1F2937"/>
                </a:solidFill>
                <a:latin typeface="Calibri"/>
              </a:rPr>
              <a:t>All filtered by date range, producer, consumer, or grade</a:t>
            </a:r>
          </a:p>
        </p:txBody>
      </p:sp>
      <p:sp>
        <p:nvSpPr>
          <p:cNvPr id="16" name="Rectangle 15"/>
          <p:cNvSpPr/>
          <p:nvPr/>
        </p:nvSpPr>
        <p:spPr>
          <a:xfrm>
            <a:off x="502920" y="4800600"/>
            <a:ext cx="11338560" cy="457200"/>
          </a:xfrm>
          <a:prstGeom prst="rect">
            <a:avLst/>
          </a:prstGeom>
          <a:solidFill>
            <a:srgbClr val="3B5B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4800600"/>
            <a:ext cx="3200400" cy="457200"/>
          </a:xfrm>
          <a:prstGeom prst="rect">
            <a:avLst/>
          </a:prstGeom>
          <a:noFill/>
        </p:spPr>
        <p:txBody>
          <a:bodyPr wrap="square" lIns="45720" tIns="18288" rIns="45720" bIns="18288" anchor="ctr">
            <a:spAutoFit/>
          </a:bodyPr>
          <a:lstStyle/>
          <a:p>
            <a:pPr algn="l"/>
            <a:r>
              <a:rPr sz="1200" b="1" i="0">
                <a:solidFill>
                  <a:srgbClr val="FFFFFF"/>
                </a:solidFill>
                <a:latin typeface="Calibri"/>
              </a:rPr>
              <a:t>DEVIATION ANALYTICS</a:t>
            </a:r>
          </a:p>
        </p:txBody>
      </p:sp>
      <p:sp>
        <p:nvSpPr>
          <p:cNvPr id="18" name="TextBox 17"/>
          <p:cNvSpPr txBox="1"/>
          <p:nvPr/>
        </p:nvSpPr>
        <p:spPr>
          <a:xfrm>
            <a:off x="4023360" y="4800600"/>
            <a:ext cx="7680960" cy="457200"/>
          </a:xfrm>
          <a:prstGeom prst="rect">
            <a:avLst/>
          </a:prstGeom>
          <a:noFill/>
        </p:spPr>
        <p:txBody>
          <a:bodyPr wrap="square" lIns="45720" tIns="18288" rIns="45720" bIns="18288" anchor="ctr">
            <a:spAutoFit/>
          </a:bodyPr>
          <a:lstStyle/>
          <a:p>
            <a:pPr algn="l"/>
            <a:r>
              <a:rPr sz="1100" b="0" i="1">
                <a:solidFill>
                  <a:srgbClr val="FFFFFF"/>
                </a:solidFill>
                <a:latin typeface="Calibri"/>
              </a:rPr>
              <a:t>Six analytical lenses on schedule adherence</a:t>
            </a:r>
          </a:p>
        </p:txBody>
      </p:sp>
      <p:sp>
        <p:nvSpPr>
          <p:cNvPr id="19" name="TextBox 18"/>
          <p:cNvSpPr txBox="1"/>
          <p:nvPr/>
        </p:nvSpPr>
        <p:spPr>
          <a:xfrm>
            <a:off x="640080" y="5303520"/>
            <a:ext cx="11155680" cy="1188720"/>
          </a:xfrm>
          <a:prstGeom prst="rect">
            <a:avLst/>
          </a:prstGeom>
          <a:noFill/>
        </p:spPr>
        <p:txBody>
          <a:bodyPr wrap="square" lIns="45720">
            <a:spAutoFit/>
          </a:bodyPr>
          <a:lstStyle/>
          <a:p>
            <a:pPr>
              <a:lnSpc>
                <a:spcPct val="115000"/>
              </a:lnSpc>
              <a:spcAft>
                <a:spcPts val="200"/>
              </a:spcAft>
              <a:buChar char="■"/>
            </a:pPr>
            <a:r>
              <a:rPr sz="1100">
                <a:solidFill>
                  <a:srgbClr val="1F2937"/>
                </a:solidFill>
                <a:latin typeface="Calibri"/>
              </a:rPr>
              <a:t>Deviation summary by category (Early / On-Time / Warning / Alert / Critical)</a:t>
            </a:r>
          </a:p>
          <a:p>
            <a:pPr>
              <a:lnSpc>
                <a:spcPct val="115000"/>
              </a:lnSpc>
              <a:spcAft>
                <a:spcPts val="200"/>
              </a:spcAft>
              <a:buChar char="■"/>
            </a:pPr>
            <a:r>
              <a:rPr sz="1100">
                <a:solidFill>
                  <a:srgbClr val="1F2937"/>
                </a:solidFill>
                <a:latin typeface="Calibri"/>
              </a:rPr>
              <a:t>By node — per-producer and per-consumer breakdown</a:t>
            </a:r>
          </a:p>
          <a:p>
            <a:pPr>
              <a:lnSpc>
                <a:spcPct val="115000"/>
              </a:lnSpc>
              <a:spcAft>
                <a:spcPts val="200"/>
              </a:spcAft>
              <a:buChar char="■"/>
            </a:pPr>
            <a:r>
              <a:rPr sz="1100">
                <a:solidFill>
                  <a:srgbClr val="1F2937"/>
                </a:solidFill>
                <a:latin typeface="Calibri"/>
              </a:rPr>
              <a:t>By phase — Loading / Transit / Unloading split</a:t>
            </a:r>
          </a:p>
          <a:p>
            <a:pPr>
              <a:lnSpc>
                <a:spcPct val="115000"/>
              </a:lnSpc>
              <a:spcAft>
                <a:spcPts val="200"/>
              </a:spcAft>
              <a:buChar char="■"/>
            </a:pPr>
            <a:r>
              <a:rPr sz="1100">
                <a:solidFill>
                  <a:srgbClr val="1F2937"/>
                </a:solidFill>
                <a:latin typeface="Calibri"/>
              </a:rPr>
              <a:t>Trends — daily and monthly time-series</a:t>
            </a:r>
          </a:p>
          <a:p>
            <a:pPr>
              <a:lnSpc>
                <a:spcPct val="115000"/>
              </a:lnSpc>
              <a:spcAft>
                <a:spcPts val="200"/>
              </a:spcAft>
              <a:buChar char="■"/>
            </a:pPr>
            <a:r>
              <a:rPr sz="1100">
                <a:solidFill>
                  <a:srgbClr val="1F2937"/>
                </a:solidFill>
                <a:latin typeface="Calibri"/>
              </a:rPr>
              <a:t>Period-over-period comparison</a:t>
            </a:r>
          </a:p>
          <a:p>
            <a:pPr>
              <a:lnSpc>
                <a:spcPct val="115000"/>
              </a:lnSpc>
              <a:spcAft>
                <a:spcPts val="200"/>
              </a:spcAft>
              <a:buChar char="■"/>
            </a:pPr>
            <a:r>
              <a:rPr sz="1100">
                <a:solidFill>
                  <a:srgbClr val="1F2937"/>
                </a:solidFill>
                <a:latin typeface="Calibri"/>
              </a:rPr>
              <a:t>Root cause analysis: shift, day-of-week, worst routes</a:t>
            </a:r>
          </a:p>
        </p:txBody>
      </p:sp>
      <p:pic>
        <p:nvPicPr>
          <p:cNvPr id="20" name="Picture 19" descr="A purple and orange text&#10;&#10;AI-generated content may be incorrect.">
            <a:extLst>
              <a:ext uri="{FF2B5EF4-FFF2-40B4-BE49-F238E27FC236}">
                <a16:creationId xmlns:a16="http://schemas.microsoft.com/office/drawing/2014/main" id="{5344FFB1-7EBB-8E07-7709-3DA212524BE4}"/>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Live Tracking · Torpedo Management · Maintenance</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23</a:t>
            </a:r>
          </a:p>
        </p:txBody>
      </p:sp>
      <p:sp>
        <p:nvSpPr>
          <p:cNvPr id="8" name="Rectangle 7"/>
          <p:cNvSpPr/>
          <p:nvPr/>
        </p:nvSpPr>
        <p:spPr>
          <a:xfrm>
            <a:off x="502920" y="1417320"/>
            <a:ext cx="3703320" cy="777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463040"/>
            <a:ext cx="3429000" cy="365760"/>
          </a:xfrm>
          <a:prstGeom prst="rect">
            <a:avLst/>
          </a:prstGeom>
          <a:noFill/>
        </p:spPr>
        <p:txBody>
          <a:bodyPr wrap="square" lIns="45720" tIns="18288" rIns="45720" bIns="18288" anchor="t">
            <a:spAutoFit/>
          </a:bodyPr>
          <a:lstStyle/>
          <a:p>
            <a:pPr algn="l"/>
            <a:r>
              <a:rPr sz="1200" b="1" i="0">
                <a:solidFill>
                  <a:srgbClr val="FFFFFF"/>
                </a:solidFill>
                <a:latin typeface="Calibri"/>
              </a:rPr>
              <a:t>LIVE TRACKING</a:t>
            </a:r>
          </a:p>
        </p:txBody>
      </p:sp>
      <p:sp>
        <p:nvSpPr>
          <p:cNvPr id="10" name="TextBox 9"/>
          <p:cNvSpPr txBox="1"/>
          <p:nvPr/>
        </p:nvSpPr>
        <p:spPr>
          <a:xfrm>
            <a:off x="640080" y="1783080"/>
            <a:ext cx="3429000" cy="365760"/>
          </a:xfrm>
          <a:prstGeom prst="rect">
            <a:avLst/>
          </a:prstGeom>
          <a:noFill/>
        </p:spPr>
        <p:txBody>
          <a:bodyPr wrap="square" lIns="45720" tIns="18288" rIns="45720" bIns="18288" anchor="t">
            <a:spAutoFit/>
          </a:bodyPr>
          <a:lstStyle/>
          <a:p>
            <a:pPr algn="l"/>
            <a:r>
              <a:rPr sz="1000" b="0" i="1">
                <a:solidFill>
                  <a:srgbClr val="C7D2FE"/>
                </a:solidFill>
                <a:latin typeface="Calibri"/>
              </a:rPr>
              <a:t>Real-time map of every torpedo's position</a:t>
            </a:r>
          </a:p>
        </p:txBody>
      </p:sp>
      <p:sp>
        <p:nvSpPr>
          <p:cNvPr id="11" name="Rectangle 10"/>
          <p:cNvSpPr/>
          <p:nvPr/>
        </p:nvSpPr>
        <p:spPr>
          <a:xfrm>
            <a:off x="502920" y="2194560"/>
            <a:ext cx="3703320" cy="4206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286000"/>
            <a:ext cx="3429000" cy="4023360"/>
          </a:xfrm>
          <a:prstGeom prst="rect">
            <a:avLst/>
          </a:prstGeom>
          <a:noFill/>
        </p:spPr>
        <p:txBody>
          <a:bodyPr wrap="square" lIns="45720">
            <a:spAutoFit/>
          </a:bodyPr>
          <a:lstStyle/>
          <a:p>
            <a:pPr>
              <a:lnSpc>
                <a:spcPct val="115000"/>
              </a:lnSpc>
              <a:spcAft>
                <a:spcPts val="200"/>
              </a:spcAft>
              <a:buChar char="■"/>
            </a:pPr>
            <a:r>
              <a:rPr sz="1050">
                <a:solidFill>
                  <a:srgbClr val="1F2937"/>
                </a:solidFill>
                <a:latin typeface="Calibri"/>
              </a:rPr>
              <a:t>Leaflet-based interactive map of plant area</a:t>
            </a:r>
          </a:p>
          <a:p>
            <a:pPr>
              <a:lnSpc>
                <a:spcPct val="115000"/>
              </a:lnSpc>
              <a:spcAft>
                <a:spcPts val="200"/>
              </a:spcAft>
              <a:buChar char="■"/>
            </a:pPr>
            <a:r>
              <a:rPr sz="1050">
                <a:solidFill>
                  <a:srgbClr val="1F2937"/>
                </a:solidFill>
                <a:latin typeface="Calibri"/>
              </a:rPr>
              <a:t>53 torpedoes shown with status-coloured markers (Idle / Moving / Ign Off)</a:t>
            </a:r>
          </a:p>
          <a:p>
            <a:pPr>
              <a:lnSpc>
                <a:spcPct val="115000"/>
              </a:lnSpc>
              <a:spcAft>
                <a:spcPts val="200"/>
              </a:spcAft>
              <a:buChar char="■"/>
            </a:pPr>
            <a:r>
              <a:rPr sz="1050">
                <a:solidFill>
                  <a:srgbClr val="1F2937"/>
                </a:solidFill>
                <a:latin typeface="Calibri"/>
              </a:rPr>
              <a:t>Click any torpedo → Torpedo Drawer slides in with:</a:t>
            </a:r>
          </a:p>
          <a:p>
            <a:pPr>
              <a:lnSpc>
                <a:spcPct val="115000"/>
              </a:lnSpc>
              <a:spcAft>
                <a:spcPts val="200"/>
              </a:spcAft>
              <a:buChar char="■"/>
            </a:pPr>
            <a:r>
              <a:rPr sz="1050">
                <a:solidFill>
                  <a:srgbClr val="1F2937"/>
                </a:solidFill>
                <a:latin typeface="Calibri"/>
              </a:rPr>
              <a:t>  • Live latitude / longitude and last update time</a:t>
            </a:r>
          </a:p>
          <a:p>
            <a:pPr>
              <a:lnSpc>
                <a:spcPct val="115000"/>
              </a:lnSpc>
              <a:spcAft>
                <a:spcPts val="200"/>
              </a:spcAft>
              <a:buChar char="■"/>
            </a:pPr>
            <a:r>
              <a:rPr sz="1050">
                <a:solidFill>
                  <a:srgbClr val="1F2937"/>
                </a:solidFill>
                <a:latin typeface="Calibri"/>
              </a:rPr>
              <a:t>  • Current trip details + recent trip history</a:t>
            </a:r>
          </a:p>
          <a:p>
            <a:pPr>
              <a:lnSpc>
                <a:spcPct val="115000"/>
              </a:lnSpc>
              <a:spcAft>
                <a:spcPts val="200"/>
              </a:spcAft>
              <a:buChar char="■"/>
            </a:pPr>
            <a:r>
              <a:rPr sz="1050">
                <a:solidFill>
                  <a:srgbClr val="1F2937"/>
                </a:solidFill>
                <a:latin typeface="Calibri"/>
              </a:rPr>
              <a:t>  • Per-torpedo capacity (from WBATNGL backfill)</a:t>
            </a:r>
          </a:p>
          <a:p>
            <a:pPr>
              <a:lnSpc>
                <a:spcPct val="115000"/>
              </a:lnSpc>
              <a:spcAft>
                <a:spcPts val="200"/>
              </a:spcAft>
              <a:buChar char="■"/>
            </a:pPr>
            <a:r>
              <a:rPr sz="1050">
                <a:solidFill>
                  <a:srgbClr val="1F2937"/>
                </a:solidFill>
                <a:latin typeface="Calibri"/>
              </a:rPr>
              <a:t>  • Maintenance schedule and ladle attributes</a:t>
            </a:r>
          </a:p>
        </p:txBody>
      </p:sp>
      <p:sp>
        <p:nvSpPr>
          <p:cNvPr id="13" name="Rectangle 12"/>
          <p:cNvSpPr/>
          <p:nvPr/>
        </p:nvSpPr>
        <p:spPr>
          <a:xfrm>
            <a:off x="4297680" y="1417320"/>
            <a:ext cx="3703320" cy="777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1463040"/>
            <a:ext cx="3429000" cy="365760"/>
          </a:xfrm>
          <a:prstGeom prst="rect">
            <a:avLst/>
          </a:prstGeom>
          <a:noFill/>
        </p:spPr>
        <p:txBody>
          <a:bodyPr wrap="square" lIns="45720" tIns="18288" rIns="45720" bIns="18288" anchor="t">
            <a:spAutoFit/>
          </a:bodyPr>
          <a:lstStyle/>
          <a:p>
            <a:pPr algn="l"/>
            <a:r>
              <a:rPr sz="1200" b="1" i="0">
                <a:solidFill>
                  <a:srgbClr val="FFFFFF"/>
                </a:solidFill>
                <a:latin typeface="Calibri"/>
              </a:rPr>
              <a:t>TORPEDO MANAGEMENT</a:t>
            </a:r>
          </a:p>
        </p:txBody>
      </p:sp>
      <p:sp>
        <p:nvSpPr>
          <p:cNvPr id="15" name="TextBox 14"/>
          <p:cNvSpPr txBox="1"/>
          <p:nvPr/>
        </p:nvSpPr>
        <p:spPr>
          <a:xfrm>
            <a:off x="4434840" y="1783080"/>
            <a:ext cx="3429000" cy="365760"/>
          </a:xfrm>
          <a:prstGeom prst="rect">
            <a:avLst/>
          </a:prstGeom>
          <a:noFill/>
        </p:spPr>
        <p:txBody>
          <a:bodyPr wrap="square" lIns="45720" tIns="18288" rIns="45720" bIns="18288" anchor="t">
            <a:spAutoFit/>
          </a:bodyPr>
          <a:lstStyle/>
          <a:p>
            <a:pPr algn="l"/>
            <a:r>
              <a:rPr sz="1000" b="0" i="1">
                <a:solidFill>
                  <a:srgbClr val="C7D2FE"/>
                </a:solidFill>
                <a:latin typeface="Calibri"/>
              </a:rPr>
              <a:t>Fleet registry — 53 torpedoes</a:t>
            </a:r>
          </a:p>
        </p:txBody>
      </p:sp>
      <p:sp>
        <p:nvSpPr>
          <p:cNvPr id="16" name="Rectangle 15"/>
          <p:cNvSpPr/>
          <p:nvPr/>
        </p:nvSpPr>
        <p:spPr>
          <a:xfrm>
            <a:off x="4297680" y="2194560"/>
            <a:ext cx="3703320" cy="4206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2286000"/>
            <a:ext cx="3429000" cy="4023360"/>
          </a:xfrm>
          <a:prstGeom prst="rect">
            <a:avLst/>
          </a:prstGeom>
          <a:noFill/>
        </p:spPr>
        <p:txBody>
          <a:bodyPr wrap="square" lIns="45720">
            <a:spAutoFit/>
          </a:bodyPr>
          <a:lstStyle/>
          <a:p>
            <a:pPr>
              <a:lnSpc>
                <a:spcPct val="115000"/>
              </a:lnSpc>
              <a:spcAft>
                <a:spcPts val="200"/>
              </a:spcAft>
              <a:buChar char="■"/>
            </a:pPr>
            <a:r>
              <a:rPr sz="1050">
                <a:solidFill>
                  <a:srgbClr val="1F2937"/>
                </a:solidFill>
                <a:latin typeface="Calibri"/>
              </a:rPr>
              <a:t>Master list of every torpedo (TLC-01 through TLC-53)</a:t>
            </a:r>
          </a:p>
          <a:p>
            <a:pPr>
              <a:lnSpc>
                <a:spcPct val="115000"/>
              </a:lnSpc>
              <a:spcAft>
                <a:spcPts val="200"/>
              </a:spcAft>
              <a:buChar char="■"/>
            </a:pPr>
            <a:r>
              <a:rPr sz="1050">
                <a:solidFill>
                  <a:srgbClr val="1F2937"/>
                </a:solidFill>
                <a:latin typeface="Calibri"/>
              </a:rPr>
              <a:t>Status workflow: Operating / Maintenance / Moving</a:t>
            </a:r>
          </a:p>
          <a:p>
            <a:pPr>
              <a:lnSpc>
                <a:spcPct val="115000"/>
              </a:lnSpc>
              <a:spcAft>
                <a:spcPts val="200"/>
              </a:spcAft>
              <a:buChar char="■"/>
            </a:pPr>
            <a:r>
              <a:rPr sz="1050">
                <a:solidFill>
                  <a:srgbClr val="1F2937"/>
                </a:solidFill>
                <a:latin typeface="Calibri"/>
              </a:rPr>
              <a:t>Per-torpedo capacity (range observed: 425–485 MT)</a:t>
            </a:r>
          </a:p>
          <a:p>
            <a:pPr>
              <a:lnSpc>
                <a:spcPct val="115000"/>
              </a:lnSpc>
              <a:spcAft>
                <a:spcPts val="200"/>
              </a:spcAft>
              <a:buChar char="■"/>
            </a:pPr>
            <a:r>
              <a:rPr sz="1050">
                <a:solidFill>
                  <a:srgbClr val="1F2937"/>
                </a:solidFill>
                <a:latin typeface="Calibri"/>
              </a:rPr>
              <a:t>Capacity auto-refreshed nightly from WBATNGL historical weighbridge data</a:t>
            </a:r>
          </a:p>
          <a:p>
            <a:pPr>
              <a:lnSpc>
                <a:spcPct val="115000"/>
              </a:lnSpc>
              <a:spcAft>
                <a:spcPts val="200"/>
              </a:spcAft>
              <a:buChar char="■"/>
            </a:pPr>
            <a:r>
              <a:rPr sz="1050">
                <a:solidFill>
                  <a:srgbClr val="1F2937"/>
                </a:solidFill>
                <a:latin typeface="Calibri"/>
              </a:rPr>
              <a:t>Soft-delete (retired torpedoes preserved for audit)</a:t>
            </a:r>
          </a:p>
        </p:txBody>
      </p:sp>
      <p:sp>
        <p:nvSpPr>
          <p:cNvPr id="18" name="Rectangle 17"/>
          <p:cNvSpPr/>
          <p:nvPr/>
        </p:nvSpPr>
        <p:spPr>
          <a:xfrm>
            <a:off x="8092440" y="1417320"/>
            <a:ext cx="3703320" cy="777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463040"/>
            <a:ext cx="3429000" cy="365760"/>
          </a:xfrm>
          <a:prstGeom prst="rect">
            <a:avLst/>
          </a:prstGeom>
          <a:noFill/>
        </p:spPr>
        <p:txBody>
          <a:bodyPr wrap="square" lIns="45720" tIns="18288" rIns="45720" bIns="18288" anchor="t">
            <a:spAutoFit/>
          </a:bodyPr>
          <a:lstStyle/>
          <a:p>
            <a:pPr algn="l"/>
            <a:r>
              <a:rPr sz="1200" b="1" i="0">
                <a:solidFill>
                  <a:srgbClr val="FFFFFF"/>
                </a:solidFill>
                <a:latin typeface="Calibri"/>
              </a:rPr>
              <a:t>MAINTENANCE SCHEDULING</a:t>
            </a:r>
          </a:p>
        </p:txBody>
      </p:sp>
      <p:sp>
        <p:nvSpPr>
          <p:cNvPr id="20" name="TextBox 19"/>
          <p:cNvSpPr txBox="1"/>
          <p:nvPr/>
        </p:nvSpPr>
        <p:spPr>
          <a:xfrm>
            <a:off x="8229600" y="1783080"/>
            <a:ext cx="3429000" cy="365760"/>
          </a:xfrm>
          <a:prstGeom prst="rect">
            <a:avLst/>
          </a:prstGeom>
          <a:noFill/>
        </p:spPr>
        <p:txBody>
          <a:bodyPr wrap="square" lIns="45720" tIns="18288" rIns="45720" bIns="18288" anchor="t">
            <a:spAutoFit/>
          </a:bodyPr>
          <a:lstStyle/>
          <a:p>
            <a:pPr algn="l"/>
            <a:r>
              <a:rPr sz="1000" b="0" i="1">
                <a:solidFill>
                  <a:srgbClr val="C7D2FE"/>
                </a:solidFill>
                <a:latin typeface="Calibri"/>
              </a:rPr>
              <a:t>Calendar-based maintenance planning</a:t>
            </a:r>
          </a:p>
        </p:txBody>
      </p:sp>
      <p:sp>
        <p:nvSpPr>
          <p:cNvPr id="21" name="Rectangle 20"/>
          <p:cNvSpPr/>
          <p:nvPr/>
        </p:nvSpPr>
        <p:spPr>
          <a:xfrm>
            <a:off x="8092440" y="2194560"/>
            <a:ext cx="3703320" cy="4206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0" y="2286000"/>
            <a:ext cx="3429000" cy="4023360"/>
          </a:xfrm>
          <a:prstGeom prst="rect">
            <a:avLst/>
          </a:prstGeom>
          <a:noFill/>
        </p:spPr>
        <p:txBody>
          <a:bodyPr wrap="square" lIns="45720">
            <a:spAutoFit/>
          </a:bodyPr>
          <a:lstStyle/>
          <a:p>
            <a:pPr>
              <a:lnSpc>
                <a:spcPct val="115000"/>
              </a:lnSpc>
              <a:spcAft>
                <a:spcPts val="200"/>
              </a:spcAft>
              <a:buChar char="■"/>
            </a:pPr>
            <a:r>
              <a:rPr sz="1050">
                <a:solidFill>
                  <a:srgbClr val="1F2937"/>
                </a:solidFill>
                <a:latin typeface="Calibri"/>
              </a:rPr>
              <a:t>Schedule maintenance windows per node or torpedo</a:t>
            </a:r>
          </a:p>
          <a:p>
            <a:pPr>
              <a:lnSpc>
                <a:spcPct val="115000"/>
              </a:lnSpc>
              <a:spcAft>
                <a:spcPts val="200"/>
              </a:spcAft>
              <a:buChar char="■"/>
            </a:pPr>
            <a:r>
              <a:rPr sz="1050">
                <a:solidFill>
                  <a:srgbClr val="1F2937"/>
                </a:solidFill>
                <a:latin typeface="Calibri"/>
              </a:rPr>
              <a:t>Overlap prevention to avoid scheduling conflicts</a:t>
            </a:r>
          </a:p>
          <a:p>
            <a:pPr>
              <a:lnSpc>
                <a:spcPct val="115000"/>
              </a:lnSpc>
              <a:spcAft>
                <a:spcPts val="200"/>
              </a:spcAft>
              <a:buChar char="■"/>
            </a:pPr>
            <a:r>
              <a:rPr sz="1050">
                <a:solidFill>
                  <a:srgbClr val="1F2937"/>
                </a:solidFill>
                <a:latin typeface="Calibri"/>
              </a:rPr>
              <a:t>Status tracking: Ongoing / Scheduled / Completed</a:t>
            </a:r>
          </a:p>
          <a:p>
            <a:pPr>
              <a:lnSpc>
                <a:spcPct val="115000"/>
              </a:lnSpc>
              <a:spcAft>
                <a:spcPts val="200"/>
              </a:spcAft>
              <a:buChar char="■"/>
            </a:pPr>
            <a:r>
              <a:rPr sz="1050">
                <a:solidFill>
                  <a:srgbClr val="1F2937"/>
                </a:solidFill>
                <a:latin typeface="Calibri"/>
              </a:rPr>
              <a:t>Modal-based create / edit with role permissions</a:t>
            </a:r>
          </a:p>
          <a:p>
            <a:pPr>
              <a:lnSpc>
                <a:spcPct val="115000"/>
              </a:lnSpc>
              <a:spcAft>
                <a:spcPts val="200"/>
              </a:spcAft>
              <a:buChar char="■"/>
            </a:pPr>
            <a:r>
              <a:rPr sz="1050">
                <a:solidFill>
                  <a:srgbClr val="1F2937"/>
                </a:solidFill>
                <a:latin typeface="Calibri"/>
              </a:rPr>
              <a:t>Duration auto-calculated</a:t>
            </a:r>
          </a:p>
        </p:txBody>
      </p:sp>
      <p:pic>
        <p:nvPicPr>
          <p:cNvPr id="23" name="Picture 22" descr="A purple and orange text&#10;&#10;AI-generated content may be incorrect.">
            <a:extLst>
              <a:ext uri="{FF2B5EF4-FFF2-40B4-BE49-F238E27FC236}">
                <a16:creationId xmlns:a16="http://schemas.microsoft.com/office/drawing/2014/main" id="{EC4999CB-83D0-15E9-24F0-712C5B13D878}"/>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E · APPLICATION CAPABILITIES — V7</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Reports · Audit Trail · Settings &amp; Security</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24</a:t>
            </a:r>
          </a:p>
        </p:txBody>
      </p:sp>
      <p:sp>
        <p:nvSpPr>
          <p:cNvPr id="8" name="Rectangle 7"/>
          <p:cNvSpPr/>
          <p:nvPr/>
        </p:nvSpPr>
        <p:spPr>
          <a:xfrm>
            <a:off x="502920" y="1417320"/>
            <a:ext cx="562356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417320"/>
            <a:ext cx="5349240" cy="411480"/>
          </a:xfrm>
          <a:prstGeom prst="rect">
            <a:avLst/>
          </a:prstGeom>
          <a:noFill/>
        </p:spPr>
        <p:txBody>
          <a:bodyPr wrap="square" lIns="45720" tIns="18288" rIns="45720" bIns="18288" anchor="ctr">
            <a:spAutoFit/>
          </a:bodyPr>
          <a:lstStyle/>
          <a:p>
            <a:pPr algn="l"/>
            <a:r>
              <a:rPr sz="1200" b="1" i="0">
                <a:solidFill>
                  <a:srgbClr val="FFFFFF"/>
                </a:solidFill>
                <a:latin typeface="Calibri"/>
              </a:rPr>
              <a:t>REPORTS</a:t>
            </a:r>
          </a:p>
        </p:txBody>
      </p:sp>
      <p:sp>
        <p:nvSpPr>
          <p:cNvPr id="10" name="Rectangle 9"/>
          <p:cNvSpPr/>
          <p:nvPr/>
        </p:nvSpPr>
        <p:spPr>
          <a:xfrm>
            <a:off x="502920" y="1828800"/>
            <a:ext cx="5623560" cy="1920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20240"/>
            <a:ext cx="5349240" cy="1783080"/>
          </a:xfrm>
          <a:prstGeom prst="rect">
            <a:avLst/>
          </a:prstGeom>
          <a:noFill/>
        </p:spPr>
        <p:txBody>
          <a:bodyPr wrap="square" lIns="45720">
            <a:spAutoFit/>
          </a:bodyPr>
          <a:lstStyle/>
          <a:p>
            <a:pPr>
              <a:lnSpc>
                <a:spcPct val="115000"/>
              </a:lnSpc>
              <a:spcAft>
                <a:spcPts val="200"/>
              </a:spcAft>
              <a:buChar char="■"/>
            </a:pPr>
            <a:r>
              <a:rPr sz="1000">
                <a:solidFill>
                  <a:srgbClr val="1F2937"/>
                </a:solidFill>
                <a:latin typeface="Calibri"/>
              </a:rPr>
              <a:t>10+ predefined report types — trip history, planning vs actual, deviation summary, fleet utilisation, throughput, etc.</a:t>
            </a:r>
          </a:p>
          <a:p>
            <a:pPr>
              <a:lnSpc>
                <a:spcPct val="115000"/>
              </a:lnSpc>
              <a:spcAft>
                <a:spcPts val="200"/>
              </a:spcAft>
              <a:buChar char="■"/>
            </a:pPr>
            <a:r>
              <a:rPr sz="1000">
                <a:solidFill>
                  <a:srgbClr val="1F2937"/>
                </a:solidFill>
                <a:latin typeface="Calibri"/>
              </a:rPr>
              <a:t>Export formats: PDF (with branding), Excel, CSV</a:t>
            </a:r>
          </a:p>
          <a:p>
            <a:pPr>
              <a:lnSpc>
                <a:spcPct val="115000"/>
              </a:lnSpc>
              <a:spcAft>
                <a:spcPts val="200"/>
              </a:spcAft>
              <a:buChar char="■"/>
            </a:pPr>
            <a:r>
              <a:rPr sz="1000">
                <a:solidFill>
                  <a:srgbClr val="1F2937"/>
                </a:solidFill>
                <a:latin typeface="Calibri"/>
              </a:rPr>
              <a:t>Filterable by date range, producer, consumer, grade, role</a:t>
            </a:r>
          </a:p>
          <a:p>
            <a:pPr>
              <a:lnSpc>
                <a:spcPct val="115000"/>
              </a:lnSpc>
              <a:spcAft>
                <a:spcPts val="200"/>
              </a:spcAft>
              <a:buChar char="■"/>
            </a:pPr>
            <a:r>
              <a:rPr sz="1000">
                <a:solidFill>
                  <a:srgbClr val="1F2937"/>
                </a:solidFill>
                <a:latin typeface="Calibri"/>
              </a:rPr>
              <a:t>Scheduled reports with history retention</a:t>
            </a:r>
          </a:p>
          <a:p>
            <a:pPr>
              <a:lnSpc>
                <a:spcPct val="115000"/>
              </a:lnSpc>
              <a:spcAft>
                <a:spcPts val="200"/>
              </a:spcAft>
              <a:buChar char="■"/>
            </a:pPr>
            <a:r>
              <a:rPr sz="1000">
                <a:solidFill>
                  <a:srgbClr val="1F2937"/>
                </a:solidFill>
                <a:latin typeface="Calibri"/>
              </a:rPr>
              <a:t>Saved-report configurations for repeat exports</a:t>
            </a:r>
          </a:p>
        </p:txBody>
      </p:sp>
      <p:sp>
        <p:nvSpPr>
          <p:cNvPr id="12" name="Rectangle 11"/>
          <p:cNvSpPr/>
          <p:nvPr/>
        </p:nvSpPr>
        <p:spPr>
          <a:xfrm>
            <a:off x="6263640" y="1417320"/>
            <a:ext cx="562356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417320"/>
            <a:ext cx="5349240" cy="411480"/>
          </a:xfrm>
          <a:prstGeom prst="rect">
            <a:avLst/>
          </a:prstGeom>
          <a:noFill/>
        </p:spPr>
        <p:txBody>
          <a:bodyPr wrap="square" lIns="45720" tIns="18288" rIns="45720" bIns="18288" anchor="ctr">
            <a:spAutoFit/>
          </a:bodyPr>
          <a:lstStyle/>
          <a:p>
            <a:pPr algn="l"/>
            <a:r>
              <a:rPr sz="1200" b="1" i="0">
                <a:solidFill>
                  <a:srgbClr val="FFFFFF"/>
                </a:solidFill>
                <a:latin typeface="Calibri"/>
              </a:rPr>
              <a:t>AUDIT TRAIL</a:t>
            </a:r>
          </a:p>
        </p:txBody>
      </p:sp>
      <p:sp>
        <p:nvSpPr>
          <p:cNvPr id="14" name="Rectangle 13"/>
          <p:cNvSpPr/>
          <p:nvPr/>
        </p:nvSpPr>
        <p:spPr>
          <a:xfrm>
            <a:off x="6263640" y="1828800"/>
            <a:ext cx="5623560" cy="1920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920240"/>
            <a:ext cx="5349240" cy="1783080"/>
          </a:xfrm>
          <a:prstGeom prst="rect">
            <a:avLst/>
          </a:prstGeom>
          <a:noFill/>
        </p:spPr>
        <p:txBody>
          <a:bodyPr wrap="square" lIns="45720">
            <a:spAutoFit/>
          </a:bodyPr>
          <a:lstStyle/>
          <a:p>
            <a:pPr>
              <a:lnSpc>
                <a:spcPct val="115000"/>
              </a:lnSpc>
              <a:spcAft>
                <a:spcPts val="200"/>
              </a:spcAft>
              <a:buChar char="■"/>
            </a:pPr>
            <a:r>
              <a:rPr sz="1000">
                <a:solidFill>
                  <a:srgbClr val="1F2937"/>
                </a:solidFill>
                <a:latin typeface="Calibri"/>
              </a:rPr>
              <a:t>Every action by every user logged</a:t>
            </a:r>
          </a:p>
          <a:p>
            <a:pPr>
              <a:lnSpc>
                <a:spcPct val="115000"/>
              </a:lnSpc>
              <a:spcAft>
                <a:spcPts val="200"/>
              </a:spcAft>
              <a:buChar char="■"/>
            </a:pPr>
            <a:r>
              <a:rPr sz="1000">
                <a:solidFill>
                  <a:srgbClr val="1F2937"/>
                </a:solidFill>
                <a:latin typeface="Calibri"/>
              </a:rPr>
              <a:t>Username, IP address, user agent, action, before/after diff</a:t>
            </a:r>
          </a:p>
          <a:p>
            <a:pPr>
              <a:lnSpc>
                <a:spcPct val="115000"/>
              </a:lnSpc>
              <a:spcAft>
                <a:spcPts val="200"/>
              </a:spcAft>
              <a:buChar char="■"/>
            </a:pPr>
            <a:r>
              <a:rPr sz="1000">
                <a:solidFill>
                  <a:srgbClr val="1F2937"/>
                </a:solidFill>
                <a:latin typeface="Calibri"/>
              </a:rPr>
              <a:t>Filterable, searchable, exportable</a:t>
            </a:r>
          </a:p>
          <a:p>
            <a:pPr>
              <a:lnSpc>
                <a:spcPct val="115000"/>
              </a:lnSpc>
              <a:spcAft>
                <a:spcPts val="200"/>
              </a:spcAft>
              <a:buChar char="■"/>
            </a:pPr>
            <a:r>
              <a:rPr sz="1000">
                <a:solidFill>
                  <a:srgbClr val="1F2937"/>
                </a:solidFill>
                <a:latin typeface="Calibri"/>
              </a:rPr>
              <a:t>Atomic / transaction-safe with retry logic</a:t>
            </a:r>
          </a:p>
          <a:p>
            <a:pPr>
              <a:lnSpc>
                <a:spcPct val="115000"/>
              </a:lnSpc>
              <a:spcAft>
                <a:spcPts val="200"/>
              </a:spcAft>
              <a:buChar char="■"/>
            </a:pPr>
            <a:r>
              <a:rPr sz="1000">
                <a:solidFill>
                  <a:srgbClr val="1F2937"/>
                </a:solidFill>
                <a:latin typeface="Calibri"/>
              </a:rPr>
              <a:t>Regulatory compliance posture</a:t>
            </a:r>
          </a:p>
        </p:txBody>
      </p:sp>
      <p:sp>
        <p:nvSpPr>
          <p:cNvPr id="16" name="Rectangle 15"/>
          <p:cNvSpPr/>
          <p:nvPr/>
        </p:nvSpPr>
        <p:spPr>
          <a:xfrm>
            <a:off x="502920" y="3886200"/>
            <a:ext cx="562356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886200"/>
            <a:ext cx="5349240" cy="411480"/>
          </a:xfrm>
          <a:prstGeom prst="rect">
            <a:avLst/>
          </a:prstGeom>
          <a:noFill/>
        </p:spPr>
        <p:txBody>
          <a:bodyPr wrap="square" lIns="45720" tIns="18288" rIns="45720" bIns="18288" anchor="ctr">
            <a:spAutoFit/>
          </a:bodyPr>
          <a:lstStyle/>
          <a:p>
            <a:pPr algn="l"/>
            <a:r>
              <a:rPr sz="1200" b="1" i="0">
                <a:solidFill>
                  <a:srgbClr val="FFFFFF"/>
                </a:solidFill>
                <a:latin typeface="Calibri"/>
              </a:rPr>
              <a:t>SETTINGS &amp; ADMIN</a:t>
            </a:r>
          </a:p>
        </p:txBody>
      </p:sp>
      <p:sp>
        <p:nvSpPr>
          <p:cNvPr id="18" name="Rectangle 17"/>
          <p:cNvSpPr/>
          <p:nvPr/>
        </p:nvSpPr>
        <p:spPr>
          <a:xfrm>
            <a:off x="502920" y="4297680"/>
            <a:ext cx="5623560" cy="1920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389120"/>
            <a:ext cx="5349240" cy="1783080"/>
          </a:xfrm>
          <a:prstGeom prst="rect">
            <a:avLst/>
          </a:prstGeom>
          <a:noFill/>
        </p:spPr>
        <p:txBody>
          <a:bodyPr wrap="square" lIns="45720">
            <a:spAutoFit/>
          </a:bodyPr>
          <a:lstStyle/>
          <a:p>
            <a:pPr>
              <a:lnSpc>
                <a:spcPct val="115000"/>
              </a:lnSpc>
              <a:spcAft>
                <a:spcPts val="200"/>
              </a:spcAft>
              <a:buChar char="■"/>
            </a:pPr>
            <a:r>
              <a:rPr sz="1000">
                <a:solidFill>
                  <a:srgbClr val="1F2937"/>
                </a:solidFill>
                <a:latin typeface="Calibri"/>
              </a:rPr>
              <a:t>User management — create, role-assign, lock, unlock, soft-delete</a:t>
            </a:r>
          </a:p>
          <a:p>
            <a:pPr>
              <a:lnSpc>
                <a:spcPct val="115000"/>
              </a:lnSpc>
              <a:spcAft>
                <a:spcPts val="200"/>
              </a:spcAft>
              <a:buChar char="■"/>
            </a:pPr>
            <a:r>
              <a:rPr sz="1000">
                <a:solidFill>
                  <a:srgbClr val="1F2937"/>
                </a:solidFill>
                <a:latin typeface="Calibri"/>
              </a:rPr>
              <a:t>System configuration — travel times, fill times, wait times, default capacities</a:t>
            </a:r>
          </a:p>
          <a:p>
            <a:pPr>
              <a:lnSpc>
                <a:spcPct val="115000"/>
              </a:lnSpc>
              <a:spcAft>
                <a:spcPts val="200"/>
              </a:spcAft>
              <a:buChar char="■"/>
            </a:pPr>
            <a:r>
              <a:rPr sz="1000">
                <a:solidFill>
                  <a:srgbClr val="1F2937"/>
                </a:solidFill>
                <a:latin typeface="Calibri"/>
              </a:rPr>
              <a:t>Deviation threshold configuration</a:t>
            </a:r>
          </a:p>
          <a:p>
            <a:pPr>
              <a:lnSpc>
                <a:spcPct val="115000"/>
              </a:lnSpc>
              <a:spcAft>
                <a:spcPts val="200"/>
              </a:spcAft>
              <a:buChar char="■"/>
            </a:pPr>
            <a:r>
              <a:rPr sz="1000">
                <a:solidFill>
                  <a:srgbClr val="1F2937"/>
                </a:solidFill>
                <a:latin typeface="Calibri"/>
              </a:rPr>
              <a:t>Notification preferences</a:t>
            </a:r>
          </a:p>
          <a:p>
            <a:pPr>
              <a:lnSpc>
                <a:spcPct val="115000"/>
              </a:lnSpc>
              <a:spcAft>
                <a:spcPts val="200"/>
              </a:spcAft>
              <a:buChar char="■"/>
            </a:pPr>
            <a:r>
              <a:rPr sz="1000">
                <a:solidFill>
                  <a:srgbClr val="1F2937"/>
                </a:solidFill>
                <a:latin typeface="Calibri"/>
              </a:rPr>
              <a:t>Centralised admin control panel</a:t>
            </a:r>
          </a:p>
        </p:txBody>
      </p:sp>
      <p:sp>
        <p:nvSpPr>
          <p:cNvPr id="20" name="Rectangle 19"/>
          <p:cNvSpPr/>
          <p:nvPr/>
        </p:nvSpPr>
        <p:spPr>
          <a:xfrm>
            <a:off x="6263640" y="3886200"/>
            <a:ext cx="562356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886200"/>
            <a:ext cx="5349240" cy="411480"/>
          </a:xfrm>
          <a:prstGeom prst="rect">
            <a:avLst/>
          </a:prstGeom>
          <a:noFill/>
        </p:spPr>
        <p:txBody>
          <a:bodyPr wrap="square" lIns="45720" tIns="18288" rIns="45720" bIns="18288" anchor="ctr">
            <a:spAutoFit/>
          </a:bodyPr>
          <a:lstStyle/>
          <a:p>
            <a:pPr algn="l"/>
            <a:r>
              <a:rPr sz="1200" b="1" i="0">
                <a:solidFill>
                  <a:srgbClr val="FFFFFF"/>
                </a:solidFill>
                <a:latin typeface="Calibri"/>
              </a:rPr>
              <a:t>SECURITY POSTURE</a:t>
            </a:r>
          </a:p>
        </p:txBody>
      </p:sp>
      <p:sp>
        <p:nvSpPr>
          <p:cNvPr id="22" name="Rectangle 21"/>
          <p:cNvSpPr/>
          <p:nvPr/>
        </p:nvSpPr>
        <p:spPr>
          <a:xfrm>
            <a:off x="6263640" y="4297680"/>
            <a:ext cx="5623560" cy="1920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4389120"/>
            <a:ext cx="5349240" cy="1783080"/>
          </a:xfrm>
          <a:prstGeom prst="rect">
            <a:avLst/>
          </a:prstGeom>
          <a:noFill/>
        </p:spPr>
        <p:txBody>
          <a:bodyPr wrap="square" lIns="45720">
            <a:spAutoFit/>
          </a:bodyPr>
          <a:lstStyle/>
          <a:p>
            <a:pPr>
              <a:lnSpc>
                <a:spcPct val="115000"/>
              </a:lnSpc>
              <a:spcAft>
                <a:spcPts val="200"/>
              </a:spcAft>
              <a:buChar char="■"/>
            </a:pPr>
            <a:r>
              <a:rPr sz="1000">
                <a:solidFill>
                  <a:srgbClr val="1F2937"/>
                </a:solidFill>
                <a:latin typeface="Calibri"/>
              </a:rPr>
              <a:t>JWT authentication with 480-min token expiry (configurable)</a:t>
            </a:r>
          </a:p>
          <a:p>
            <a:pPr>
              <a:lnSpc>
                <a:spcPct val="115000"/>
              </a:lnSpc>
              <a:spcAft>
                <a:spcPts val="200"/>
              </a:spcAft>
              <a:buChar char="■"/>
            </a:pPr>
            <a:r>
              <a:rPr sz="1000">
                <a:solidFill>
                  <a:srgbClr val="1F2937"/>
                </a:solidFill>
                <a:latin typeface="Calibri"/>
              </a:rPr>
              <a:t>bcrypt password hashing</a:t>
            </a:r>
          </a:p>
          <a:p>
            <a:pPr>
              <a:lnSpc>
                <a:spcPct val="115000"/>
              </a:lnSpc>
              <a:spcAft>
                <a:spcPts val="200"/>
              </a:spcAft>
              <a:buChar char="■"/>
            </a:pPr>
            <a:r>
              <a:rPr sz="1000">
                <a:solidFill>
                  <a:srgbClr val="1F2937"/>
                </a:solidFill>
                <a:latin typeface="Calibri"/>
              </a:rPr>
              <a:t>Account lockout after 5 failed attempts (15-min window)</a:t>
            </a:r>
          </a:p>
          <a:p>
            <a:pPr>
              <a:lnSpc>
                <a:spcPct val="115000"/>
              </a:lnSpc>
              <a:spcAft>
                <a:spcPts val="200"/>
              </a:spcAft>
              <a:buChar char="■"/>
            </a:pPr>
            <a:r>
              <a:rPr sz="1000">
                <a:solidFill>
                  <a:srgbClr val="1F2937"/>
                </a:solidFill>
                <a:latin typeface="Calibri"/>
              </a:rPr>
              <a:t>CSRF protection (double-submit cookie pattern)</a:t>
            </a:r>
          </a:p>
          <a:p>
            <a:pPr>
              <a:lnSpc>
                <a:spcPct val="115000"/>
              </a:lnSpc>
              <a:spcAft>
                <a:spcPts val="200"/>
              </a:spcAft>
              <a:buChar char="■"/>
            </a:pPr>
            <a:r>
              <a:rPr sz="1000">
                <a:solidFill>
                  <a:srgbClr val="1F2937"/>
                </a:solidFill>
                <a:latin typeface="Calibri"/>
              </a:rPr>
              <a:t>Rate limiting (tiered: auth, high, medium, low)</a:t>
            </a:r>
          </a:p>
          <a:p>
            <a:pPr>
              <a:lnSpc>
                <a:spcPct val="115000"/>
              </a:lnSpc>
              <a:spcAft>
                <a:spcPts val="200"/>
              </a:spcAft>
              <a:buChar char="■"/>
            </a:pPr>
            <a:r>
              <a:rPr sz="1000">
                <a:solidFill>
                  <a:srgbClr val="1F2937"/>
                </a:solidFill>
                <a:latin typeface="Calibri"/>
              </a:rPr>
              <a:t>Security headers (X-Content-Type-Options, CSP, etc.)</a:t>
            </a:r>
          </a:p>
        </p:txBody>
      </p:sp>
      <p:pic>
        <p:nvPicPr>
          <p:cNvPr id="24" name="Picture 23" descr="A purple and orange text&#10;&#10;AI-generated content may be incorrect.">
            <a:extLst>
              <a:ext uri="{FF2B5EF4-FFF2-40B4-BE49-F238E27FC236}">
                <a16:creationId xmlns:a16="http://schemas.microsoft.com/office/drawing/2014/main" id="{1E035766-91E5-AE91-170C-05A93A9CD80F}"/>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F</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Current Operations Status</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What's live today, what data is flowing, and what's been verified end-to-end.</a:t>
            </a:r>
          </a:p>
        </p:txBody>
      </p:sp>
      <p:pic>
        <p:nvPicPr>
          <p:cNvPr id="6" name="Picture 5">
            <a:extLst>
              <a:ext uri="{FF2B5EF4-FFF2-40B4-BE49-F238E27FC236}">
                <a16:creationId xmlns:a16="http://schemas.microsoft.com/office/drawing/2014/main" id="{24C5EC00-BAF0-EBB8-8381-DAF86DD476CD}"/>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F · CURRENT OPERATIONS STATUS</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What's running on the BF4 PC today</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26</a:t>
            </a:r>
          </a:p>
        </p:txBody>
      </p:sp>
      <p:graphicFrame>
        <p:nvGraphicFramePr>
          <p:cNvPr id="8" name="Table 7"/>
          <p:cNvGraphicFramePr>
            <a:graphicFrameLocks noGrp="1"/>
          </p:cNvGraphicFramePr>
          <p:nvPr/>
        </p:nvGraphicFramePr>
        <p:xfrm>
          <a:off x="502920" y="1417320"/>
          <a:ext cx="11338560" cy="44805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497840">
                <a:tc>
                  <a:txBody>
                    <a:bodyPr/>
                    <a:lstStyle/>
                    <a:p>
                      <a:pPr algn="l"/>
                      <a:r>
                        <a:rPr sz="1200" b="1">
                          <a:solidFill>
                            <a:srgbClr val="FFFFFF"/>
                          </a:solidFill>
                          <a:latin typeface="Calibri"/>
                        </a:rPr>
                        <a:t>Service / Job</a:t>
                      </a:r>
                    </a:p>
                  </a:txBody>
                  <a:tcPr>
                    <a:solidFill>
                      <a:srgbClr val="1E3A8A"/>
                    </a:solidFill>
                  </a:tcPr>
                </a:tc>
                <a:tc>
                  <a:txBody>
                    <a:bodyPr/>
                    <a:lstStyle/>
                    <a:p>
                      <a:pPr algn="l"/>
                      <a:r>
                        <a:rPr sz="1200" b="1">
                          <a:solidFill>
                            <a:srgbClr val="FFFFFF"/>
                          </a:solidFill>
                          <a:latin typeface="Calibri"/>
                        </a:rPr>
                        <a:t>Frequency</a:t>
                      </a:r>
                    </a:p>
                  </a:txBody>
                  <a:tcPr>
                    <a:solidFill>
                      <a:srgbClr val="1E3A8A"/>
                    </a:solidFill>
                  </a:tcPr>
                </a:tc>
                <a:tc>
                  <a:txBody>
                    <a:bodyPr/>
                    <a:lstStyle/>
                    <a:p>
                      <a:pPr algn="l"/>
                      <a:r>
                        <a:rPr sz="1200" b="1">
                          <a:solidFill>
                            <a:srgbClr val="FFFFFF"/>
                          </a:solidFill>
                          <a:latin typeface="Calibri"/>
                        </a:rPr>
                        <a:t>Status</a:t>
                      </a:r>
                    </a:p>
                  </a:txBody>
                  <a:tcPr>
                    <a:solidFill>
                      <a:srgbClr val="1E3A8A"/>
                    </a:solidFill>
                  </a:tcPr>
                </a:tc>
                <a:tc>
                  <a:txBody>
                    <a:bodyPr/>
                    <a:lstStyle/>
                    <a:p>
                      <a:pPr algn="l"/>
                      <a:r>
                        <a:rPr sz="1200" b="1">
                          <a:solidFill>
                            <a:srgbClr val="FFFFFF"/>
                          </a:solidFill>
                          <a:latin typeface="Calibri"/>
                        </a:rPr>
                        <a:t>Notes</a:t>
                      </a:r>
                    </a:p>
                  </a:txBody>
                  <a:tcPr>
                    <a:solidFill>
                      <a:srgbClr val="1E3A8A"/>
                    </a:solidFill>
                  </a:tcPr>
                </a:tc>
                <a:extLst>
                  <a:ext uri="{0D108BD9-81ED-4DB2-BD59-A6C34878D82A}">
                    <a16:rowId xmlns:a16="http://schemas.microsoft.com/office/drawing/2014/main" val="10000"/>
                  </a:ext>
                </a:extLst>
              </a:tr>
              <a:tr h="497840">
                <a:tc>
                  <a:txBody>
                    <a:bodyPr/>
                    <a:lstStyle/>
                    <a:p>
                      <a:pPr algn="l"/>
                      <a:r>
                        <a:rPr sz="1100" b="1">
                          <a:solidFill>
                            <a:srgbClr val="1E3A8A"/>
                          </a:solidFill>
                          <a:latin typeface="Calibri"/>
                        </a:rPr>
                        <a:t>HMD backend (FastAPI)</a:t>
                      </a:r>
                    </a:p>
                  </a:txBody>
                  <a:tcPr>
                    <a:solidFill>
                      <a:srgbClr val="FFFFFF"/>
                    </a:solidFill>
                  </a:tcPr>
                </a:tc>
                <a:tc>
                  <a:txBody>
                    <a:bodyPr/>
                    <a:lstStyle/>
                    <a:p>
                      <a:pPr algn="l"/>
                      <a:r>
                        <a:rPr sz="1100" b="0">
                          <a:solidFill>
                            <a:srgbClr val="1F2937"/>
                          </a:solidFill>
                          <a:latin typeface="Calibri"/>
                        </a:rPr>
                        <a:t>Port 8000</a:t>
                      </a:r>
                    </a:p>
                  </a:txBody>
                  <a:tcPr>
                    <a:solidFill>
                      <a:srgbClr val="FFFFFF"/>
                    </a:solidFill>
                  </a:tcPr>
                </a:tc>
                <a:tc>
                  <a:txBody>
                    <a:bodyPr/>
                    <a:lstStyle/>
                    <a:p>
                      <a:pPr algn="l"/>
                      <a:r>
                        <a:rPr sz="1100" b="1">
                          <a:solidFill>
                            <a:srgbClr val="15803D"/>
                          </a:solidFill>
                          <a:latin typeface="Calibri"/>
                        </a:rPr>
                        <a:t>Running</a:t>
                      </a:r>
                    </a:p>
                  </a:txBody>
                  <a:tcPr>
                    <a:solidFill>
                      <a:srgbClr val="FFFFFF"/>
                    </a:solidFill>
                  </a:tcPr>
                </a:tc>
                <a:tc>
                  <a:txBody>
                    <a:bodyPr/>
                    <a:lstStyle/>
                    <a:p>
                      <a:pPr algn="l"/>
                      <a:r>
                        <a:rPr sz="1100" b="0">
                          <a:solidFill>
                            <a:srgbClr val="1F2937"/>
                          </a:solidFill>
                          <a:latin typeface="Calibri"/>
                        </a:rPr>
                        <a:t>Always-on; service-managed</a:t>
                      </a:r>
                    </a:p>
                  </a:txBody>
                  <a:tcPr>
                    <a:solidFill>
                      <a:srgbClr val="FFFFFF"/>
                    </a:solidFill>
                  </a:tcPr>
                </a:tc>
                <a:extLst>
                  <a:ext uri="{0D108BD9-81ED-4DB2-BD59-A6C34878D82A}">
                    <a16:rowId xmlns:a16="http://schemas.microsoft.com/office/drawing/2014/main" val="10001"/>
                  </a:ext>
                </a:extLst>
              </a:tr>
              <a:tr h="497840">
                <a:tc>
                  <a:txBody>
                    <a:bodyPr/>
                    <a:lstStyle/>
                    <a:p>
                      <a:pPr algn="l"/>
                      <a:r>
                        <a:rPr sz="1100" b="1">
                          <a:solidFill>
                            <a:srgbClr val="1E3A8A"/>
                          </a:solidFill>
                          <a:latin typeface="Calibri"/>
                        </a:rPr>
                        <a:t>HMD frontend (React)</a:t>
                      </a:r>
                    </a:p>
                  </a:txBody>
                  <a:tcPr>
                    <a:solidFill>
                      <a:srgbClr val="F8FAFC"/>
                    </a:solidFill>
                  </a:tcPr>
                </a:tc>
                <a:tc>
                  <a:txBody>
                    <a:bodyPr/>
                    <a:lstStyle/>
                    <a:p>
                      <a:pPr algn="l"/>
                      <a:r>
                        <a:rPr sz="1100" b="0">
                          <a:solidFill>
                            <a:srgbClr val="1F2937"/>
                          </a:solidFill>
                          <a:latin typeface="Calibri"/>
                        </a:rPr>
                        <a:t>Port 5173 (dev) / built static</a:t>
                      </a:r>
                    </a:p>
                  </a:txBody>
                  <a:tcPr>
                    <a:solidFill>
                      <a:srgbClr val="F8FAFC"/>
                    </a:solidFill>
                  </a:tcPr>
                </a:tc>
                <a:tc>
                  <a:txBody>
                    <a:bodyPr/>
                    <a:lstStyle/>
                    <a:p>
                      <a:pPr algn="l"/>
                      <a:r>
                        <a:rPr sz="1100" b="1">
                          <a:solidFill>
                            <a:srgbClr val="15803D"/>
                          </a:solidFill>
                          <a:latin typeface="Calibri"/>
                        </a:rPr>
                        <a:t>Running</a:t>
                      </a:r>
                    </a:p>
                  </a:txBody>
                  <a:tcPr>
                    <a:solidFill>
                      <a:srgbClr val="F8FAFC"/>
                    </a:solidFill>
                  </a:tcPr>
                </a:tc>
                <a:tc>
                  <a:txBody>
                    <a:bodyPr/>
                    <a:lstStyle/>
                    <a:p>
                      <a:pPr algn="l"/>
                      <a:r>
                        <a:rPr sz="1100" b="0">
                          <a:solidFill>
                            <a:srgbClr val="1F2937"/>
                          </a:solidFill>
                          <a:latin typeface="Calibri"/>
                        </a:rPr>
                        <a:t>Served to JSW intranet browsers</a:t>
                      </a:r>
                    </a:p>
                  </a:txBody>
                  <a:tcPr>
                    <a:solidFill>
                      <a:srgbClr val="F8FAFC"/>
                    </a:solidFill>
                  </a:tcPr>
                </a:tc>
                <a:extLst>
                  <a:ext uri="{0D108BD9-81ED-4DB2-BD59-A6C34878D82A}">
                    <a16:rowId xmlns:a16="http://schemas.microsoft.com/office/drawing/2014/main" val="10002"/>
                  </a:ext>
                </a:extLst>
              </a:tr>
              <a:tr h="497840">
                <a:tc>
                  <a:txBody>
                    <a:bodyPr/>
                    <a:lstStyle/>
                    <a:p>
                      <a:pPr algn="l"/>
                      <a:r>
                        <a:rPr sz="1100" b="1">
                          <a:solidFill>
                            <a:srgbClr val="1E3A8A"/>
                          </a:solidFill>
                          <a:latin typeface="Calibri"/>
                        </a:rPr>
                        <a:t>PostgreSQL</a:t>
                      </a:r>
                    </a:p>
                  </a:txBody>
                  <a:tcPr>
                    <a:solidFill>
                      <a:srgbClr val="FFFFFF"/>
                    </a:solidFill>
                  </a:tcPr>
                </a:tc>
                <a:tc>
                  <a:txBody>
                    <a:bodyPr/>
                    <a:lstStyle/>
                    <a:p>
                      <a:pPr algn="l"/>
                      <a:r>
                        <a:rPr sz="1100" b="0">
                          <a:solidFill>
                            <a:srgbClr val="1F2937"/>
                          </a:solidFill>
                          <a:latin typeface="Calibri"/>
                        </a:rPr>
                        <a:t>Port 5432 (localhost)</a:t>
                      </a:r>
                    </a:p>
                  </a:txBody>
                  <a:tcPr>
                    <a:solidFill>
                      <a:srgbClr val="FFFFFF"/>
                    </a:solidFill>
                  </a:tcPr>
                </a:tc>
                <a:tc>
                  <a:txBody>
                    <a:bodyPr/>
                    <a:lstStyle/>
                    <a:p>
                      <a:pPr algn="l"/>
                      <a:r>
                        <a:rPr sz="1100" b="1">
                          <a:solidFill>
                            <a:srgbClr val="15803D"/>
                          </a:solidFill>
                          <a:latin typeface="Calibri"/>
                        </a:rPr>
                        <a:t>Running</a:t>
                      </a:r>
                    </a:p>
                  </a:txBody>
                  <a:tcPr>
                    <a:solidFill>
                      <a:srgbClr val="FFFFFF"/>
                    </a:solidFill>
                  </a:tcPr>
                </a:tc>
                <a:tc>
                  <a:txBody>
                    <a:bodyPr/>
                    <a:lstStyle/>
                    <a:p>
                      <a:pPr algn="l"/>
                      <a:r>
                        <a:rPr sz="1100" b="0">
                          <a:solidFill>
                            <a:srgbClr val="1F2937"/>
                          </a:solidFill>
                          <a:latin typeface="Calibri"/>
                        </a:rPr>
                        <a:t>Local DB for HMD application state + source mirrors</a:t>
                      </a:r>
                    </a:p>
                  </a:txBody>
                  <a:tcPr>
                    <a:solidFill>
                      <a:srgbClr val="FFFFFF"/>
                    </a:solidFill>
                  </a:tcPr>
                </a:tc>
                <a:extLst>
                  <a:ext uri="{0D108BD9-81ED-4DB2-BD59-A6C34878D82A}">
                    <a16:rowId xmlns:a16="http://schemas.microsoft.com/office/drawing/2014/main" val="10003"/>
                  </a:ext>
                </a:extLst>
              </a:tr>
              <a:tr h="497840">
                <a:tc>
                  <a:txBody>
                    <a:bodyPr/>
                    <a:lstStyle/>
                    <a:p>
                      <a:pPr algn="l"/>
                      <a:r>
                        <a:rPr sz="1100" b="1">
                          <a:solidFill>
                            <a:srgbClr val="1E3A8A"/>
                          </a:solidFill>
                          <a:latin typeface="Calibri"/>
                        </a:rPr>
                        <a:t>Redis</a:t>
                      </a:r>
                    </a:p>
                  </a:txBody>
                  <a:tcPr>
                    <a:solidFill>
                      <a:srgbClr val="F8FAFC"/>
                    </a:solidFill>
                  </a:tcPr>
                </a:tc>
                <a:tc>
                  <a:txBody>
                    <a:bodyPr/>
                    <a:lstStyle/>
                    <a:p>
                      <a:pPr algn="l"/>
                      <a:r>
                        <a:rPr sz="1100" b="0">
                          <a:solidFill>
                            <a:srgbClr val="1F2937"/>
                          </a:solidFill>
                          <a:latin typeface="Calibri"/>
                        </a:rPr>
                        <a:t>Port 6379 (localhost)</a:t>
                      </a:r>
                    </a:p>
                  </a:txBody>
                  <a:tcPr>
                    <a:solidFill>
                      <a:srgbClr val="F8FAFC"/>
                    </a:solidFill>
                  </a:tcPr>
                </a:tc>
                <a:tc>
                  <a:txBody>
                    <a:bodyPr/>
                    <a:lstStyle/>
                    <a:p>
                      <a:pPr algn="l"/>
                      <a:r>
                        <a:rPr sz="1100" b="1">
                          <a:solidFill>
                            <a:srgbClr val="15803D"/>
                          </a:solidFill>
                          <a:latin typeface="Calibri"/>
                        </a:rPr>
                        <a:t>Running</a:t>
                      </a:r>
                    </a:p>
                  </a:txBody>
                  <a:tcPr>
                    <a:solidFill>
                      <a:srgbClr val="F8FAFC"/>
                    </a:solidFill>
                  </a:tcPr>
                </a:tc>
                <a:tc>
                  <a:txBody>
                    <a:bodyPr/>
                    <a:lstStyle/>
                    <a:p>
                      <a:pPr algn="l"/>
                      <a:r>
                        <a:rPr sz="1100" b="0">
                          <a:solidFill>
                            <a:srgbClr val="1F2937"/>
                          </a:solidFill>
                          <a:latin typeface="Calibri"/>
                        </a:rPr>
                        <a:t>Cache; auto-fallback to in-memory if unavailable</a:t>
                      </a:r>
                    </a:p>
                  </a:txBody>
                  <a:tcPr>
                    <a:solidFill>
                      <a:srgbClr val="F8FAFC"/>
                    </a:solidFill>
                  </a:tcPr>
                </a:tc>
                <a:extLst>
                  <a:ext uri="{0D108BD9-81ED-4DB2-BD59-A6C34878D82A}">
                    <a16:rowId xmlns:a16="http://schemas.microsoft.com/office/drawing/2014/main" val="10004"/>
                  </a:ext>
                </a:extLst>
              </a:tr>
              <a:tr h="497840">
                <a:tc>
                  <a:txBody>
                    <a:bodyPr/>
                    <a:lstStyle/>
                    <a:p>
                      <a:pPr algn="l"/>
                      <a:r>
                        <a:rPr sz="1100" b="1">
                          <a:solidFill>
                            <a:srgbClr val="1E3A8A"/>
                          </a:solidFill>
                          <a:latin typeface="Calibri"/>
                        </a:rPr>
                        <a:t>SuVeechi sync job</a:t>
                      </a:r>
                    </a:p>
                  </a:txBody>
                  <a:tcPr>
                    <a:solidFill>
                      <a:srgbClr val="FFFFFF"/>
                    </a:solidFill>
                  </a:tcPr>
                </a:tc>
                <a:tc>
                  <a:txBody>
                    <a:bodyPr/>
                    <a:lstStyle/>
                    <a:p>
                      <a:pPr algn="l"/>
                      <a:r>
                        <a:rPr sz="1100" b="0">
                          <a:solidFill>
                            <a:srgbClr val="1F2937"/>
                          </a:solidFill>
                          <a:latin typeface="Calibri"/>
                        </a:rPr>
                        <a:t>Every 10 seconds</a:t>
                      </a:r>
                    </a:p>
                  </a:txBody>
                  <a:tcPr>
                    <a:solidFill>
                      <a:srgbClr val="FFFFFF"/>
                    </a:solidFill>
                  </a:tcPr>
                </a:tc>
                <a:tc>
                  <a:txBody>
                    <a:bodyPr/>
                    <a:lstStyle/>
                    <a:p>
                      <a:pPr algn="l"/>
                      <a:r>
                        <a:rPr sz="1100" b="1">
                          <a:solidFill>
                            <a:srgbClr val="15803D"/>
                          </a:solidFill>
                          <a:latin typeface="Calibri"/>
                        </a:rPr>
                        <a:t>Live</a:t>
                      </a:r>
                    </a:p>
                  </a:txBody>
                  <a:tcPr>
                    <a:solidFill>
                      <a:srgbClr val="FFFFFF"/>
                    </a:solidFill>
                  </a:tcPr>
                </a:tc>
                <a:tc>
                  <a:txBody>
                    <a:bodyPr/>
                    <a:lstStyle/>
                    <a:p>
                      <a:pPr algn="l"/>
                      <a:r>
                        <a:rPr sz="1100" b="0">
                          <a:solidFill>
                            <a:srgbClr val="1F2937"/>
                          </a:solidFill>
                          <a:latin typeface="Calibri"/>
                        </a:rPr>
                        <a:t>53 torpedoes — GPS + status snapshot</a:t>
                      </a:r>
                    </a:p>
                  </a:txBody>
                  <a:tcPr>
                    <a:solidFill>
                      <a:srgbClr val="FFFFFF"/>
                    </a:solidFill>
                  </a:tcPr>
                </a:tc>
                <a:extLst>
                  <a:ext uri="{0D108BD9-81ED-4DB2-BD59-A6C34878D82A}">
                    <a16:rowId xmlns:a16="http://schemas.microsoft.com/office/drawing/2014/main" val="10005"/>
                  </a:ext>
                </a:extLst>
              </a:tr>
              <a:tr h="497840">
                <a:tc>
                  <a:txBody>
                    <a:bodyPr/>
                    <a:lstStyle/>
                    <a:p>
                      <a:pPr algn="l"/>
                      <a:r>
                        <a:rPr sz="1100" b="1">
                          <a:solidFill>
                            <a:srgbClr val="1E3A8A"/>
                          </a:solidFill>
                          <a:latin typeface="Calibri"/>
                        </a:rPr>
                        <a:t>WBATNGL trip sync job</a:t>
                      </a:r>
                    </a:p>
                  </a:txBody>
                  <a:tcPr>
                    <a:solidFill>
                      <a:srgbClr val="F8FAFC"/>
                    </a:solidFill>
                  </a:tcPr>
                </a:tc>
                <a:tc>
                  <a:txBody>
                    <a:bodyPr/>
                    <a:lstStyle/>
                    <a:p>
                      <a:pPr algn="l"/>
                      <a:r>
                        <a:rPr sz="1100" b="0">
                          <a:solidFill>
                            <a:srgbClr val="1F2937"/>
                          </a:solidFill>
                          <a:latin typeface="Calibri"/>
                        </a:rPr>
                        <a:t>Every 60 seconds</a:t>
                      </a:r>
                    </a:p>
                  </a:txBody>
                  <a:tcPr>
                    <a:solidFill>
                      <a:srgbClr val="F8FAFC"/>
                    </a:solidFill>
                  </a:tcPr>
                </a:tc>
                <a:tc>
                  <a:txBody>
                    <a:bodyPr/>
                    <a:lstStyle/>
                    <a:p>
                      <a:pPr algn="l"/>
                      <a:r>
                        <a:rPr sz="1100" b="1">
                          <a:solidFill>
                            <a:srgbClr val="15803D"/>
                          </a:solidFill>
                          <a:latin typeface="Calibri"/>
                        </a:rPr>
                        <a:t>Live</a:t>
                      </a:r>
                    </a:p>
                  </a:txBody>
                  <a:tcPr>
                    <a:solidFill>
                      <a:srgbClr val="F8FAFC"/>
                    </a:solidFill>
                  </a:tcPr>
                </a:tc>
                <a:tc>
                  <a:txBody>
                    <a:bodyPr/>
                    <a:lstStyle/>
                    <a:p>
                      <a:pPr algn="l"/>
                      <a:r>
                        <a:rPr sz="1100" b="0">
                          <a:solidFill>
                            <a:srgbClr val="1F2937"/>
                          </a:solidFill>
                          <a:latin typeface="Calibri"/>
                        </a:rPr>
                        <a:t>BF-side trip transactions</a:t>
                      </a:r>
                    </a:p>
                  </a:txBody>
                  <a:tcPr>
                    <a:solidFill>
                      <a:srgbClr val="F8FAFC"/>
                    </a:solidFill>
                  </a:tcPr>
                </a:tc>
                <a:extLst>
                  <a:ext uri="{0D108BD9-81ED-4DB2-BD59-A6C34878D82A}">
                    <a16:rowId xmlns:a16="http://schemas.microsoft.com/office/drawing/2014/main" val="10006"/>
                  </a:ext>
                </a:extLst>
              </a:tr>
              <a:tr h="497840">
                <a:tc>
                  <a:txBody>
                    <a:bodyPr/>
                    <a:lstStyle/>
                    <a:p>
                      <a:pPr algn="l"/>
                      <a:r>
                        <a:rPr sz="1100" b="1">
                          <a:solidFill>
                            <a:srgbClr val="1E3A8A"/>
                          </a:solidFill>
                          <a:latin typeface="Calibri"/>
                        </a:rPr>
                        <a:t>HTS sync job</a:t>
                      </a:r>
                    </a:p>
                  </a:txBody>
                  <a:tcPr>
                    <a:solidFill>
                      <a:srgbClr val="FFFFFF"/>
                    </a:solidFill>
                  </a:tcPr>
                </a:tc>
                <a:tc>
                  <a:txBody>
                    <a:bodyPr/>
                    <a:lstStyle/>
                    <a:p>
                      <a:pPr algn="l"/>
                      <a:r>
                        <a:rPr sz="1100" b="0">
                          <a:solidFill>
                            <a:srgbClr val="1F2937"/>
                          </a:solidFill>
                          <a:latin typeface="Calibri"/>
                        </a:rPr>
                        <a:t>Every 5 minutes</a:t>
                      </a:r>
                    </a:p>
                  </a:txBody>
                  <a:tcPr>
                    <a:solidFill>
                      <a:srgbClr val="FFFFFF"/>
                    </a:solidFill>
                  </a:tcPr>
                </a:tc>
                <a:tc>
                  <a:txBody>
                    <a:bodyPr/>
                    <a:lstStyle/>
                    <a:p>
                      <a:pPr algn="l"/>
                      <a:r>
                        <a:rPr sz="1100" b="1">
                          <a:solidFill>
                            <a:srgbClr val="15803D"/>
                          </a:solidFill>
                          <a:latin typeface="Calibri"/>
                        </a:rPr>
                        <a:t>Live</a:t>
                      </a:r>
                    </a:p>
                  </a:txBody>
                  <a:tcPr>
                    <a:solidFill>
                      <a:srgbClr val="FFFFFF"/>
                    </a:solidFill>
                  </a:tcPr>
                </a:tc>
                <a:tc>
                  <a:txBody>
                    <a:bodyPr/>
                    <a:lstStyle/>
                    <a:p>
                      <a:pPr algn="l"/>
                      <a:r>
                        <a:rPr sz="1100" b="0">
                          <a:solidFill>
                            <a:srgbClr val="1F2937"/>
                          </a:solidFill>
                          <a:latin typeface="Calibri"/>
                        </a:rPr>
                        <a:t>SMS-side heat records (recently established)</a:t>
                      </a:r>
                    </a:p>
                  </a:txBody>
                  <a:tcPr>
                    <a:solidFill>
                      <a:srgbClr val="FFFFFF"/>
                    </a:solidFill>
                  </a:tcPr>
                </a:tc>
                <a:extLst>
                  <a:ext uri="{0D108BD9-81ED-4DB2-BD59-A6C34878D82A}">
                    <a16:rowId xmlns:a16="http://schemas.microsoft.com/office/drawing/2014/main" val="10007"/>
                  </a:ext>
                </a:extLst>
              </a:tr>
              <a:tr h="497840">
                <a:tc>
                  <a:txBody>
                    <a:bodyPr/>
                    <a:lstStyle/>
                    <a:p>
                      <a:pPr algn="l"/>
                      <a:r>
                        <a:rPr sz="1100" b="1">
                          <a:solidFill>
                            <a:srgbClr val="1E3A8A"/>
                          </a:solidFill>
                          <a:latin typeface="Calibri"/>
                        </a:rPr>
                        <a:t>WBATNGL capacity backfill</a:t>
                      </a:r>
                    </a:p>
                  </a:txBody>
                  <a:tcPr>
                    <a:solidFill>
                      <a:srgbClr val="F8FAFC"/>
                    </a:solidFill>
                  </a:tcPr>
                </a:tc>
                <a:tc>
                  <a:txBody>
                    <a:bodyPr/>
                    <a:lstStyle/>
                    <a:p>
                      <a:pPr algn="l"/>
                      <a:r>
                        <a:rPr sz="1100" b="0">
                          <a:solidFill>
                            <a:srgbClr val="1F2937"/>
                          </a:solidFill>
                          <a:latin typeface="Calibri"/>
                        </a:rPr>
                        <a:t>Daily at 03:00 IST</a:t>
                      </a:r>
                    </a:p>
                  </a:txBody>
                  <a:tcPr>
                    <a:solidFill>
                      <a:srgbClr val="F8FAFC"/>
                    </a:solidFill>
                  </a:tcPr>
                </a:tc>
                <a:tc>
                  <a:txBody>
                    <a:bodyPr/>
                    <a:lstStyle/>
                    <a:p>
                      <a:pPr algn="l"/>
                      <a:r>
                        <a:rPr sz="1100" b="1">
                          <a:solidFill>
                            <a:srgbClr val="15803D"/>
                          </a:solidFill>
                          <a:latin typeface="Calibri"/>
                        </a:rPr>
                        <a:t>Live</a:t>
                      </a:r>
                    </a:p>
                  </a:txBody>
                  <a:tcPr>
                    <a:solidFill>
                      <a:srgbClr val="F8FAFC"/>
                    </a:solidFill>
                  </a:tcPr>
                </a:tc>
                <a:tc>
                  <a:txBody>
                    <a:bodyPr/>
                    <a:lstStyle/>
                    <a:p>
                      <a:pPr algn="l"/>
                      <a:r>
                        <a:rPr sz="1100" b="0">
                          <a:solidFill>
                            <a:srgbClr val="1F2937"/>
                          </a:solidFill>
                          <a:latin typeface="Calibri"/>
                        </a:rPr>
                        <a:t>Refreshes per-torpedo capacity from historical net weights</a:t>
                      </a:r>
                    </a:p>
                  </a:txBody>
                  <a:tcPr>
                    <a:solidFill>
                      <a:srgbClr val="F8FAFC"/>
                    </a:solidFill>
                  </a:tcPr>
                </a:tc>
                <a:extLst>
                  <a:ext uri="{0D108BD9-81ED-4DB2-BD59-A6C34878D82A}">
                    <a16:rowId xmlns:a16="http://schemas.microsoft.com/office/drawing/2014/main" val="10008"/>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4C992FF1-D46C-D5A8-4A85-59D30D6B83FE}"/>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F · CURRENT OPERATIONS STATUS</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Live data flowing into HMD</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27</a:t>
            </a:r>
          </a:p>
        </p:txBody>
      </p:sp>
      <p:sp>
        <p:nvSpPr>
          <p:cNvPr id="8" name="Rectangle 7"/>
          <p:cNvSpPr/>
          <p:nvPr/>
        </p:nvSpPr>
        <p:spPr>
          <a:xfrm>
            <a:off x="502920" y="1417320"/>
            <a:ext cx="3703320" cy="2011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417320"/>
            <a:ext cx="3703320" cy="45720"/>
          </a:xfrm>
          <a:prstGeom prst="rect">
            <a:avLst/>
          </a:prstGeom>
          <a:solidFill>
            <a:srgbClr val="C2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554480"/>
            <a:ext cx="3337560" cy="320040"/>
          </a:xfrm>
          <a:prstGeom prst="rect">
            <a:avLst/>
          </a:prstGeom>
          <a:noFill/>
        </p:spPr>
        <p:txBody>
          <a:bodyPr wrap="square" lIns="45720" tIns="18288" rIns="45720" bIns="18288" anchor="t">
            <a:spAutoFit/>
          </a:bodyPr>
          <a:lstStyle/>
          <a:p>
            <a:pPr algn="l"/>
            <a:r>
              <a:rPr sz="1100" b="1" i="0">
                <a:solidFill>
                  <a:srgbClr val="1E3A8A"/>
                </a:solidFill>
                <a:latin typeface="Calibri"/>
              </a:rPr>
              <a:t>SuVeechi GPS</a:t>
            </a:r>
          </a:p>
        </p:txBody>
      </p:sp>
      <p:sp>
        <p:nvSpPr>
          <p:cNvPr id="11" name="TextBox 10"/>
          <p:cNvSpPr txBox="1"/>
          <p:nvPr/>
        </p:nvSpPr>
        <p:spPr>
          <a:xfrm>
            <a:off x="685800" y="1874519"/>
            <a:ext cx="3337560" cy="731520"/>
          </a:xfrm>
          <a:prstGeom prst="rect">
            <a:avLst/>
          </a:prstGeom>
          <a:noFill/>
        </p:spPr>
        <p:txBody>
          <a:bodyPr wrap="square" lIns="45720" tIns="18288" rIns="45720" bIns="18288" anchor="t">
            <a:spAutoFit/>
          </a:bodyPr>
          <a:lstStyle/>
          <a:p>
            <a:pPr algn="l"/>
            <a:r>
              <a:rPr sz="3600" b="1" i="0">
                <a:solidFill>
                  <a:srgbClr val="1E3A8A"/>
                </a:solidFill>
                <a:latin typeface="Calibri"/>
              </a:rPr>
              <a:t>53</a:t>
            </a:r>
          </a:p>
        </p:txBody>
      </p:sp>
      <p:sp>
        <p:nvSpPr>
          <p:cNvPr id="12" name="TextBox 11"/>
          <p:cNvSpPr txBox="1"/>
          <p:nvPr/>
        </p:nvSpPr>
        <p:spPr>
          <a:xfrm>
            <a:off x="685800" y="2697480"/>
            <a:ext cx="3337560" cy="365760"/>
          </a:xfrm>
          <a:prstGeom prst="rect">
            <a:avLst/>
          </a:prstGeom>
          <a:noFill/>
        </p:spPr>
        <p:txBody>
          <a:bodyPr wrap="square" lIns="45720" tIns="18288" rIns="45720" bIns="18288" anchor="t">
            <a:spAutoFit/>
          </a:bodyPr>
          <a:lstStyle/>
          <a:p>
            <a:pPr algn="l"/>
            <a:r>
              <a:rPr sz="1100" b="0" i="1">
                <a:solidFill>
                  <a:srgbClr val="4B5563"/>
                </a:solidFill>
                <a:latin typeface="Calibri"/>
              </a:rPr>
              <a:t>torpedoes streaming</a:t>
            </a:r>
          </a:p>
        </p:txBody>
      </p:sp>
      <p:sp>
        <p:nvSpPr>
          <p:cNvPr id="13" name="TextBox 12"/>
          <p:cNvSpPr txBox="1"/>
          <p:nvPr/>
        </p:nvSpPr>
        <p:spPr>
          <a:xfrm>
            <a:off x="685800" y="3108960"/>
            <a:ext cx="3337560" cy="365760"/>
          </a:xfrm>
          <a:prstGeom prst="rect">
            <a:avLst/>
          </a:prstGeom>
          <a:noFill/>
        </p:spPr>
        <p:txBody>
          <a:bodyPr wrap="square" lIns="45720" tIns="18288" rIns="45720" bIns="18288" anchor="t">
            <a:spAutoFit/>
          </a:bodyPr>
          <a:lstStyle/>
          <a:p>
            <a:pPr algn="l"/>
            <a:r>
              <a:rPr sz="1000" b="0" i="0">
                <a:solidFill>
                  <a:srgbClr val="1F2937"/>
                </a:solidFill>
                <a:latin typeface="Calibri"/>
              </a:rPr>
              <a:t>Refreshed every 10 seconds.
Delivers latitude, longitude, ignition status, and free-text plant location for every active torpedo.</a:t>
            </a:r>
          </a:p>
        </p:txBody>
      </p:sp>
      <p:sp>
        <p:nvSpPr>
          <p:cNvPr id="14" name="Rectangle 13"/>
          <p:cNvSpPr/>
          <p:nvPr/>
        </p:nvSpPr>
        <p:spPr>
          <a:xfrm>
            <a:off x="4297680" y="1417320"/>
            <a:ext cx="3703320" cy="2011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80" y="1417320"/>
            <a:ext cx="3703320" cy="45720"/>
          </a:xfrm>
          <a:prstGeom prst="rect">
            <a:avLst/>
          </a:prstGeom>
          <a:solidFill>
            <a:srgbClr val="C2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554480"/>
            <a:ext cx="3337560" cy="320040"/>
          </a:xfrm>
          <a:prstGeom prst="rect">
            <a:avLst/>
          </a:prstGeom>
          <a:noFill/>
        </p:spPr>
        <p:txBody>
          <a:bodyPr wrap="square" lIns="45720" tIns="18288" rIns="45720" bIns="18288" anchor="t">
            <a:spAutoFit/>
          </a:bodyPr>
          <a:lstStyle/>
          <a:p>
            <a:pPr algn="l"/>
            <a:r>
              <a:rPr sz="1100" b="1" i="0">
                <a:solidFill>
                  <a:srgbClr val="1E3A8A"/>
                </a:solidFill>
                <a:latin typeface="Calibri"/>
              </a:rPr>
              <a:t>WBATNGL trips</a:t>
            </a:r>
          </a:p>
        </p:txBody>
      </p:sp>
      <p:sp>
        <p:nvSpPr>
          <p:cNvPr id="17" name="TextBox 16"/>
          <p:cNvSpPr txBox="1"/>
          <p:nvPr/>
        </p:nvSpPr>
        <p:spPr>
          <a:xfrm>
            <a:off x="4480560" y="1874519"/>
            <a:ext cx="3337560" cy="731520"/>
          </a:xfrm>
          <a:prstGeom prst="rect">
            <a:avLst/>
          </a:prstGeom>
          <a:noFill/>
        </p:spPr>
        <p:txBody>
          <a:bodyPr wrap="square" lIns="45720" tIns="18288" rIns="45720" bIns="18288" anchor="t">
            <a:spAutoFit/>
          </a:bodyPr>
          <a:lstStyle/>
          <a:p>
            <a:pPr algn="l"/>
            <a:r>
              <a:rPr sz="3600" b="1" i="0">
                <a:solidFill>
                  <a:srgbClr val="1E3A8A"/>
                </a:solidFill>
                <a:latin typeface="Calibri"/>
              </a:rPr>
              <a:t>~3,300</a:t>
            </a:r>
          </a:p>
        </p:txBody>
      </p:sp>
      <p:sp>
        <p:nvSpPr>
          <p:cNvPr id="18" name="TextBox 17"/>
          <p:cNvSpPr txBox="1"/>
          <p:nvPr/>
        </p:nvSpPr>
        <p:spPr>
          <a:xfrm>
            <a:off x="4480560" y="2697480"/>
            <a:ext cx="3337560" cy="365760"/>
          </a:xfrm>
          <a:prstGeom prst="rect">
            <a:avLst/>
          </a:prstGeom>
          <a:noFill/>
        </p:spPr>
        <p:txBody>
          <a:bodyPr wrap="square" lIns="45720" tIns="18288" rIns="45720" bIns="18288" anchor="t">
            <a:spAutoFit/>
          </a:bodyPr>
          <a:lstStyle/>
          <a:p>
            <a:pPr algn="l"/>
            <a:r>
              <a:rPr sz="1100" b="0" i="1">
                <a:solidFill>
                  <a:srgbClr val="4B5563"/>
                </a:solidFill>
                <a:latin typeface="Calibri"/>
              </a:rPr>
              <a:t>trip records / 30 days</a:t>
            </a:r>
          </a:p>
        </p:txBody>
      </p:sp>
      <p:sp>
        <p:nvSpPr>
          <p:cNvPr id="19" name="TextBox 18"/>
          <p:cNvSpPr txBox="1"/>
          <p:nvPr/>
        </p:nvSpPr>
        <p:spPr>
          <a:xfrm>
            <a:off x="4480560" y="3108960"/>
            <a:ext cx="3337560" cy="365760"/>
          </a:xfrm>
          <a:prstGeom prst="rect">
            <a:avLst/>
          </a:prstGeom>
          <a:noFill/>
        </p:spPr>
        <p:txBody>
          <a:bodyPr wrap="square" lIns="45720" tIns="18288" rIns="45720" bIns="18288" anchor="t">
            <a:spAutoFit/>
          </a:bodyPr>
          <a:lstStyle/>
          <a:p>
            <a:pPr algn="l"/>
            <a:r>
              <a:rPr sz="1000" b="0" i="0">
                <a:solidFill>
                  <a:srgbClr val="1F2937"/>
                </a:solidFill>
                <a:latin typeface="Calibri"/>
              </a:rPr>
              <a:t>BF3 + BF5 schemas, union view BF3.WB_TRANS_DATA_ITRO.
Daily volume: tens to hundreds of trips, depending on production rate.</a:t>
            </a:r>
          </a:p>
        </p:txBody>
      </p:sp>
      <p:sp>
        <p:nvSpPr>
          <p:cNvPr id="20" name="Rectangle 19"/>
          <p:cNvSpPr/>
          <p:nvPr/>
        </p:nvSpPr>
        <p:spPr>
          <a:xfrm>
            <a:off x="8092440" y="1417320"/>
            <a:ext cx="3703320" cy="2011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92440" y="1417320"/>
            <a:ext cx="3703320" cy="45720"/>
          </a:xfrm>
          <a:prstGeom prst="rect">
            <a:avLst/>
          </a:prstGeom>
          <a:solidFill>
            <a:srgbClr val="C2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5320" y="1554480"/>
            <a:ext cx="3337560" cy="320040"/>
          </a:xfrm>
          <a:prstGeom prst="rect">
            <a:avLst/>
          </a:prstGeom>
          <a:noFill/>
        </p:spPr>
        <p:txBody>
          <a:bodyPr wrap="square" lIns="45720" tIns="18288" rIns="45720" bIns="18288" anchor="t">
            <a:spAutoFit/>
          </a:bodyPr>
          <a:lstStyle/>
          <a:p>
            <a:pPr algn="l"/>
            <a:r>
              <a:rPr sz="1100" b="1" i="0">
                <a:solidFill>
                  <a:srgbClr val="1E3A8A"/>
                </a:solidFill>
                <a:latin typeface="Calibri"/>
              </a:rPr>
              <a:t>HTS heats</a:t>
            </a:r>
          </a:p>
        </p:txBody>
      </p:sp>
      <p:sp>
        <p:nvSpPr>
          <p:cNvPr id="23" name="TextBox 22"/>
          <p:cNvSpPr txBox="1"/>
          <p:nvPr/>
        </p:nvSpPr>
        <p:spPr>
          <a:xfrm>
            <a:off x="8275320" y="1874519"/>
            <a:ext cx="3337560" cy="731520"/>
          </a:xfrm>
          <a:prstGeom prst="rect">
            <a:avLst/>
          </a:prstGeom>
          <a:noFill/>
        </p:spPr>
        <p:txBody>
          <a:bodyPr wrap="square" lIns="45720" tIns="18288" rIns="45720" bIns="18288" anchor="t">
            <a:spAutoFit/>
          </a:bodyPr>
          <a:lstStyle/>
          <a:p>
            <a:pPr algn="l"/>
            <a:r>
              <a:rPr sz="3600" b="1" i="0">
                <a:solidFill>
                  <a:srgbClr val="1E3A8A"/>
                </a:solidFill>
                <a:latin typeface="Calibri"/>
              </a:rPr>
              <a:t>~35,000</a:t>
            </a:r>
          </a:p>
        </p:txBody>
      </p:sp>
      <p:sp>
        <p:nvSpPr>
          <p:cNvPr id="24" name="TextBox 23"/>
          <p:cNvSpPr txBox="1"/>
          <p:nvPr/>
        </p:nvSpPr>
        <p:spPr>
          <a:xfrm>
            <a:off x="8275320" y="2697480"/>
            <a:ext cx="3337560" cy="365760"/>
          </a:xfrm>
          <a:prstGeom prst="rect">
            <a:avLst/>
          </a:prstGeom>
          <a:noFill/>
        </p:spPr>
        <p:txBody>
          <a:bodyPr wrap="square" lIns="45720" tIns="18288" rIns="45720" bIns="18288" anchor="t">
            <a:spAutoFit/>
          </a:bodyPr>
          <a:lstStyle/>
          <a:p>
            <a:pPr algn="l"/>
            <a:r>
              <a:rPr sz="1100" b="0" i="1">
                <a:solidFill>
                  <a:srgbClr val="4B5563"/>
                </a:solidFill>
                <a:latin typeface="Calibri"/>
              </a:rPr>
              <a:t>heat records (historical)</a:t>
            </a:r>
          </a:p>
        </p:txBody>
      </p:sp>
      <p:sp>
        <p:nvSpPr>
          <p:cNvPr id="25" name="TextBox 24"/>
          <p:cNvSpPr txBox="1"/>
          <p:nvPr/>
        </p:nvSpPr>
        <p:spPr>
          <a:xfrm>
            <a:off x="8275320" y="3108960"/>
            <a:ext cx="3337560" cy="365760"/>
          </a:xfrm>
          <a:prstGeom prst="rect">
            <a:avLst/>
          </a:prstGeom>
          <a:noFill/>
        </p:spPr>
        <p:txBody>
          <a:bodyPr wrap="square" lIns="45720" tIns="18288" rIns="45720" bIns="18288" anchor="t">
            <a:spAutoFit/>
          </a:bodyPr>
          <a:lstStyle/>
          <a:p>
            <a:pPr algn="l"/>
            <a:r>
              <a:rPr sz="1000" b="0" i="0">
                <a:solidFill>
                  <a:srgbClr val="1F2937"/>
                </a:solidFill>
                <a:latin typeface="Calibri"/>
              </a:rPr>
              <a:t>Full 10-year history available; current rate steady. SMS-2 and SMS-4 converters represented.</a:t>
            </a:r>
          </a:p>
        </p:txBody>
      </p:sp>
      <p:sp>
        <p:nvSpPr>
          <p:cNvPr id="26" name="TextBox 25"/>
          <p:cNvSpPr txBox="1"/>
          <p:nvPr/>
        </p:nvSpPr>
        <p:spPr>
          <a:xfrm>
            <a:off x="502920" y="393192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OBSERVATIONS</a:t>
            </a:r>
          </a:p>
        </p:txBody>
      </p:sp>
      <p:sp>
        <p:nvSpPr>
          <p:cNvPr id="27" name="TextBox 26"/>
          <p:cNvSpPr txBox="1"/>
          <p:nvPr/>
        </p:nvSpPr>
        <p:spPr>
          <a:xfrm>
            <a:off x="502920" y="4251960"/>
            <a:ext cx="11338560" cy="2194560"/>
          </a:xfrm>
          <a:prstGeom prst="rect">
            <a:avLst/>
          </a:prstGeom>
          <a:noFill/>
        </p:spPr>
        <p:txBody>
          <a:bodyPr wrap="square" lIns="45720">
            <a:spAutoFit/>
          </a:bodyPr>
          <a:lstStyle/>
          <a:p>
            <a:pPr>
              <a:lnSpc>
                <a:spcPct val="115000"/>
              </a:lnSpc>
              <a:spcAft>
                <a:spcPts val="200"/>
              </a:spcAft>
              <a:buChar char="■"/>
            </a:pPr>
            <a:r>
              <a:rPr sz="1200">
                <a:solidFill>
                  <a:srgbClr val="1F2937"/>
                </a:solidFill>
                <a:latin typeface="Calibri"/>
              </a:rPr>
              <a:t>Data flow is steady. No source has gone offline since the integration went live in early May.</a:t>
            </a:r>
          </a:p>
          <a:p>
            <a:pPr>
              <a:lnSpc>
                <a:spcPct val="115000"/>
              </a:lnSpc>
              <a:spcAft>
                <a:spcPts val="200"/>
              </a:spcAft>
              <a:buChar char="■"/>
            </a:pPr>
            <a:r>
              <a:rPr sz="1200">
                <a:solidFill>
                  <a:srgbClr val="1F2937"/>
                </a:solidFill>
                <a:latin typeface="Calibri"/>
              </a:rPr>
              <a:t>The HMD application's dashboard refreshes automatically as new data arrives — no manual refresh required.</a:t>
            </a:r>
          </a:p>
          <a:p>
            <a:pPr>
              <a:lnSpc>
                <a:spcPct val="115000"/>
              </a:lnSpc>
              <a:spcAft>
                <a:spcPts val="200"/>
              </a:spcAft>
              <a:buChar char="■"/>
            </a:pPr>
            <a:r>
              <a:rPr sz="1200">
                <a:solidFill>
                  <a:srgbClr val="1F2937"/>
                </a:solidFill>
                <a:latin typeface="Calibri"/>
              </a:rPr>
              <a:t>Local mirrors mean operators see sub-second response times even when the underlying source is slow.</a:t>
            </a:r>
          </a:p>
          <a:p>
            <a:pPr>
              <a:lnSpc>
                <a:spcPct val="115000"/>
              </a:lnSpc>
              <a:spcAft>
                <a:spcPts val="200"/>
              </a:spcAft>
              <a:buChar char="■"/>
            </a:pPr>
            <a:r>
              <a:rPr sz="1200">
                <a:solidFill>
                  <a:srgbClr val="1F2937"/>
                </a:solidFill>
                <a:latin typeface="Calibri"/>
              </a:rPr>
              <a:t>Per-torpedo capacities were backfilled from WBATNGL historical data (replacing the 360-MT default with real ranges between 425–485 MT).</a:t>
            </a:r>
          </a:p>
        </p:txBody>
      </p:sp>
      <p:pic>
        <p:nvPicPr>
          <p:cNvPr id="28" name="Picture 27" descr="A purple and orange text&#10;&#10;AI-generated content may be incorrect.">
            <a:extLst>
              <a:ext uri="{FF2B5EF4-FFF2-40B4-BE49-F238E27FC236}">
                <a16:creationId xmlns:a16="http://schemas.microsoft.com/office/drawing/2014/main" id="{5E069251-1A59-86A4-A5C7-B683A30D41A5}"/>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F · CURRENT OPERATIONS STATUS</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End-to-end verification on the BF4 PC</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28</a:t>
            </a:r>
          </a:p>
        </p:txBody>
      </p:sp>
      <p:sp>
        <p:nvSpPr>
          <p:cNvPr id="8" name="TextBox 7"/>
          <p:cNvSpPr txBox="1"/>
          <p:nvPr/>
        </p:nvSpPr>
        <p:spPr>
          <a:xfrm>
            <a:off x="502920" y="141732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VERIFIED FLOWS (AS OF 14-MAY-2026)</a:t>
            </a:r>
          </a:p>
        </p:txBody>
      </p:sp>
      <p:graphicFrame>
        <p:nvGraphicFramePr>
          <p:cNvPr id="9" name="Table 8"/>
          <p:cNvGraphicFramePr>
            <a:graphicFrameLocks noGrp="1"/>
          </p:cNvGraphicFramePr>
          <p:nvPr/>
        </p:nvGraphicFramePr>
        <p:xfrm>
          <a:off x="502920" y="1737360"/>
          <a:ext cx="11338560" cy="40233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502920">
                <a:tc>
                  <a:txBody>
                    <a:bodyPr/>
                    <a:lstStyle/>
                    <a:p>
                      <a:pPr algn="l"/>
                      <a:r>
                        <a:rPr sz="1100" b="1">
                          <a:solidFill>
                            <a:srgbClr val="FFFFFF"/>
                          </a:solidFill>
                          <a:latin typeface="Calibri"/>
                        </a:rPr>
                        <a:t>Flow</a:t>
                      </a:r>
                    </a:p>
                  </a:txBody>
                  <a:tcPr>
                    <a:solidFill>
                      <a:srgbClr val="1E3A8A"/>
                    </a:solidFill>
                  </a:tcPr>
                </a:tc>
                <a:tc>
                  <a:txBody>
                    <a:bodyPr/>
                    <a:lstStyle/>
                    <a:p>
                      <a:pPr algn="l"/>
                      <a:r>
                        <a:rPr sz="1100" b="1">
                          <a:solidFill>
                            <a:srgbClr val="FFFFFF"/>
                          </a:solidFill>
                          <a:latin typeface="Calibri"/>
                        </a:rPr>
                        <a:t>Status</a:t>
                      </a:r>
                    </a:p>
                  </a:txBody>
                  <a:tcPr>
                    <a:solidFill>
                      <a:srgbClr val="1E3A8A"/>
                    </a:solidFill>
                  </a:tcPr>
                </a:tc>
                <a:tc>
                  <a:txBody>
                    <a:bodyPr/>
                    <a:lstStyle/>
                    <a:p>
                      <a:pPr algn="l"/>
                      <a:r>
                        <a:rPr sz="1100" b="1">
                          <a:solidFill>
                            <a:srgbClr val="FFFFFF"/>
                          </a:solidFill>
                          <a:latin typeface="Calibri"/>
                        </a:rPr>
                        <a:t>Notes</a:t>
                      </a:r>
                    </a:p>
                  </a:txBody>
                  <a:tcPr>
                    <a:solidFill>
                      <a:srgbClr val="1E3A8A"/>
                    </a:solidFill>
                  </a:tcPr>
                </a:tc>
                <a:extLst>
                  <a:ext uri="{0D108BD9-81ED-4DB2-BD59-A6C34878D82A}">
                    <a16:rowId xmlns:a16="http://schemas.microsoft.com/office/drawing/2014/main" val="10000"/>
                  </a:ext>
                </a:extLst>
              </a:tr>
              <a:tr h="502920">
                <a:tc>
                  <a:txBody>
                    <a:bodyPr/>
                    <a:lstStyle/>
                    <a:p>
                      <a:pPr algn="l"/>
                      <a:r>
                        <a:rPr sz="1100" b="1">
                          <a:solidFill>
                            <a:srgbClr val="1E3A8A"/>
                          </a:solidFill>
                          <a:latin typeface="Calibri"/>
                        </a:rPr>
                        <a:t>Torpedo GPS → live map</a:t>
                      </a:r>
                    </a:p>
                  </a:txBody>
                  <a:tcPr>
                    <a:solidFill>
                      <a:srgbClr val="FFFFFF"/>
                    </a:solidFill>
                  </a:tcPr>
                </a:tc>
                <a:tc>
                  <a:txBody>
                    <a:bodyPr/>
                    <a:lstStyle/>
                    <a:p>
                      <a:pPr algn="l"/>
                      <a:r>
                        <a:rPr sz="1100" b="1">
                          <a:solidFill>
                            <a:srgbClr val="15803D"/>
                          </a:solidFill>
                          <a:latin typeface="Calibri"/>
                        </a:rPr>
                        <a:t>Verified</a:t>
                      </a:r>
                    </a:p>
                  </a:txBody>
                  <a:tcPr>
                    <a:solidFill>
                      <a:srgbClr val="FFFFFF"/>
                    </a:solidFill>
                  </a:tcPr>
                </a:tc>
                <a:tc>
                  <a:txBody>
                    <a:bodyPr/>
                    <a:lstStyle/>
                    <a:p>
                      <a:pPr algn="l"/>
                      <a:r>
                        <a:rPr sz="1100" b="0">
                          <a:solidFill>
                            <a:srgbClr val="1F2937"/>
                          </a:solidFill>
                          <a:latin typeface="Calibri"/>
                        </a:rPr>
                        <a:t>Source torpedo position appears on HMD map within ~10 seconds of update</a:t>
                      </a:r>
                    </a:p>
                  </a:txBody>
                  <a:tcPr>
                    <a:solidFill>
                      <a:srgbClr val="FFFFFF"/>
                    </a:solidFill>
                  </a:tcPr>
                </a:tc>
                <a:extLst>
                  <a:ext uri="{0D108BD9-81ED-4DB2-BD59-A6C34878D82A}">
                    <a16:rowId xmlns:a16="http://schemas.microsoft.com/office/drawing/2014/main" val="10001"/>
                  </a:ext>
                </a:extLst>
              </a:tr>
              <a:tr h="502920">
                <a:tc>
                  <a:txBody>
                    <a:bodyPr/>
                    <a:lstStyle/>
                    <a:p>
                      <a:pPr algn="l"/>
                      <a:r>
                        <a:rPr sz="1100" b="1">
                          <a:solidFill>
                            <a:srgbClr val="1E3A8A"/>
                          </a:solidFill>
                          <a:latin typeface="Calibri"/>
                        </a:rPr>
                        <a:t>Trip dispatched (BF) → HMD record</a:t>
                      </a:r>
                    </a:p>
                  </a:txBody>
                  <a:tcPr>
                    <a:solidFill>
                      <a:srgbClr val="F8FAFC"/>
                    </a:solidFill>
                  </a:tcPr>
                </a:tc>
                <a:tc>
                  <a:txBody>
                    <a:bodyPr/>
                    <a:lstStyle/>
                    <a:p>
                      <a:pPr algn="l"/>
                      <a:r>
                        <a:rPr sz="1100" b="1">
                          <a:solidFill>
                            <a:srgbClr val="15803D"/>
                          </a:solidFill>
                          <a:latin typeface="Calibri"/>
                        </a:rPr>
                        <a:t>Verified</a:t>
                      </a:r>
                    </a:p>
                  </a:txBody>
                  <a:tcPr>
                    <a:solidFill>
                      <a:srgbClr val="F8FAFC"/>
                    </a:solidFill>
                  </a:tcPr>
                </a:tc>
                <a:tc>
                  <a:txBody>
                    <a:bodyPr/>
                    <a:lstStyle/>
                    <a:p>
                      <a:pPr algn="l"/>
                      <a:r>
                        <a:rPr sz="1100" b="0">
                          <a:solidFill>
                            <a:srgbClr val="1F2937"/>
                          </a:solidFill>
                          <a:latin typeface="Calibri"/>
                        </a:rPr>
                        <a:t>New row in BF3.WB_TRANS_DATA_ITRO appears in wbatngl_trip_mirror within 60 seconds</a:t>
                      </a:r>
                    </a:p>
                  </a:txBody>
                  <a:tcPr>
                    <a:solidFill>
                      <a:srgbClr val="F8FAFC"/>
                    </a:solidFill>
                  </a:tcPr>
                </a:tc>
                <a:extLst>
                  <a:ext uri="{0D108BD9-81ED-4DB2-BD59-A6C34878D82A}">
                    <a16:rowId xmlns:a16="http://schemas.microsoft.com/office/drawing/2014/main" val="10002"/>
                  </a:ext>
                </a:extLst>
              </a:tr>
              <a:tr h="502920">
                <a:tc>
                  <a:txBody>
                    <a:bodyPr/>
                    <a:lstStyle/>
                    <a:p>
                      <a:pPr algn="l"/>
                      <a:r>
                        <a:rPr sz="1100" b="1">
                          <a:solidFill>
                            <a:srgbClr val="1E3A8A"/>
                          </a:solidFill>
                          <a:latin typeface="Calibri"/>
                        </a:rPr>
                        <a:t>Heat at SMS → HMD record</a:t>
                      </a:r>
                    </a:p>
                  </a:txBody>
                  <a:tcPr>
                    <a:solidFill>
                      <a:srgbClr val="FFFFFF"/>
                    </a:solidFill>
                  </a:tcPr>
                </a:tc>
                <a:tc>
                  <a:txBody>
                    <a:bodyPr/>
                    <a:lstStyle/>
                    <a:p>
                      <a:pPr algn="l"/>
                      <a:r>
                        <a:rPr sz="1100" b="1">
                          <a:solidFill>
                            <a:srgbClr val="15803D"/>
                          </a:solidFill>
                          <a:latin typeface="Calibri"/>
                        </a:rPr>
                        <a:t>Verified</a:t>
                      </a:r>
                    </a:p>
                  </a:txBody>
                  <a:tcPr>
                    <a:solidFill>
                      <a:srgbClr val="FFFFFF"/>
                    </a:solidFill>
                  </a:tcPr>
                </a:tc>
                <a:tc>
                  <a:txBody>
                    <a:bodyPr/>
                    <a:lstStyle/>
                    <a:p>
                      <a:pPr algn="l"/>
                      <a:r>
                        <a:rPr sz="1100" b="0">
                          <a:solidFill>
                            <a:srgbClr val="1F2937"/>
                          </a:solidFill>
                          <a:latin typeface="Calibri"/>
                        </a:rPr>
                        <a:t>New heat in HTS appears in hts_heat_mirror within 5 minutes</a:t>
                      </a:r>
                    </a:p>
                  </a:txBody>
                  <a:tcPr>
                    <a:solidFill>
                      <a:srgbClr val="FFFFFF"/>
                    </a:solidFill>
                  </a:tcPr>
                </a:tc>
                <a:extLst>
                  <a:ext uri="{0D108BD9-81ED-4DB2-BD59-A6C34878D82A}">
                    <a16:rowId xmlns:a16="http://schemas.microsoft.com/office/drawing/2014/main" val="10003"/>
                  </a:ext>
                </a:extLst>
              </a:tr>
              <a:tr h="502920">
                <a:tc>
                  <a:txBody>
                    <a:bodyPr/>
                    <a:lstStyle/>
                    <a:p>
                      <a:pPr algn="l"/>
                      <a:r>
                        <a:rPr sz="1100" b="1">
                          <a:solidFill>
                            <a:srgbClr val="1E3A8A"/>
                          </a:solidFill>
                          <a:latin typeface="Calibri"/>
                        </a:rPr>
                        <a:t>Per-torpedo capacity refresh</a:t>
                      </a:r>
                    </a:p>
                  </a:txBody>
                  <a:tcPr>
                    <a:solidFill>
                      <a:srgbClr val="F8FAFC"/>
                    </a:solidFill>
                  </a:tcPr>
                </a:tc>
                <a:tc>
                  <a:txBody>
                    <a:bodyPr/>
                    <a:lstStyle/>
                    <a:p>
                      <a:pPr algn="l"/>
                      <a:r>
                        <a:rPr sz="1100" b="1">
                          <a:solidFill>
                            <a:srgbClr val="15803D"/>
                          </a:solidFill>
                          <a:latin typeface="Calibri"/>
                        </a:rPr>
                        <a:t>Verified</a:t>
                      </a:r>
                    </a:p>
                  </a:txBody>
                  <a:tcPr>
                    <a:solidFill>
                      <a:srgbClr val="F8FAFC"/>
                    </a:solidFill>
                  </a:tcPr>
                </a:tc>
                <a:tc>
                  <a:txBody>
                    <a:bodyPr/>
                    <a:lstStyle/>
                    <a:p>
                      <a:pPr algn="l"/>
                      <a:r>
                        <a:rPr sz="1100" b="0">
                          <a:solidFill>
                            <a:srgbClr val="1F2937"/>
                          </a:solidFill>
                          <a:latin typeface="Calibri"/>
                        </a:rPr>
                        <a:t>Nightly 03:00 IST job runs; capacities updated from historical net weights</a:t>
                      </a:r>
                    </a:p>
                  </a:txBody>
                  <a:tcPr>
                    <a:solidFill>
                      <a:srgbClr val="F8FAFC"/>
                    </a:solidFill>
                  </a:tcPr>
                </a:tc>
                <a:extLst>
                  <a:ext uri="{0D108BD9-81ED-4DB2-BD59-A6C34878D82A}">
                    <a16:rowId xmlns:a16="http://schemas.microsoft.com/office/drawing/2014/main" val="10004"/>
                  </a:ext>
                </a:extLst>
              </a:tr>
              <a:tr h="502920">
                <a:tc>
                  <a:txBody>
                    <a:bodyPr/>
                    <a:lstStyle/>
                    <a:p>
                      <a:pPr algn="l"/>
                      <a:r>
                        <a:rPr sz="1100" b="1">
                          <a:solidFill>
                            <a:srgbClr val="1E3A8A"/>
                          </a:solidFill>
                          <a:latin typeface="Calibri"/>
                        </a:rPr>
                        <a:t>Trip lifecycle update → audit trail</a:t>
                      </a:r>
                    </a:p>
                  </a:txBody>
                  <a:tcPr>
                    <a:solidFill>
                      <a:srgbClr val="FFFFFF"/>
                    </a:solidFill>
                  </a:tcPr>
                </a:tc>
                <a:tc>
                  <a:txBody>
                    <a:bodyPr/>
                    <a:lstStyle/>
                    <a:p>
                      <a:pPr algn="l"/>
                      <a:r>
                        <a:rPr sz="1100" b="1">
                          <a:solidFill>
                            <a:srgbClr val="15803D"/>
                          </a:solidFill>
                          <a:latin typeface="Calibri"/>
                        </a:rPr>
                        <a:t>Verified</a:t>
                      </a:r>
                    </a:p>
                  </a:txBody>
                  <a:tcPr>
                    <a:solidFill>
                      <a:srgbClr val="FFFFFF"/>
                    </a:solidFill>
                  </a:tcPr>
                </a:tc>
                <a:tc>
                  <a:txBody>
                    <a:bodyPr/>
                    <a:lstStyle/>
                    <a:p>
                      <a:pPr algn="l"/>
                      <a:r>
                        <a:rPr sz="1100" b="0">
                          <a:solidFill>
                            <a:srgbClr val="1F2937"/>
                          </a:solidFill>
                          <a:latin typeface="Calibri"/>
                        </a:rPr>
                        <a:t>Every transition logged with user, IP, before/after</a:t>
                      </a:r>
                    </a:p>
                  </a:txBody>
                  <a:tcPr>
                    <a:solidFill>
                      <a:srgbClr val="FFFFFF"/>
                    </a:solidFill>
                  </a:tcPr>
                </a:tc>
                <a:extLst>
                  <a:ext uri="{0D108BD9-81ED-4DB2-BD59-A6C34878D82A}">
                    <a16:rowId xmlns:a16="http://schemas.microsoft.com/office/drawing/2014/main" val="10005"/>
                  </a:ext>
                </a:extLst>
              </a:tr>
              <a:tr h="502920">
                <a:tc>
                  <a:txBody>
                    <a:bodyPr/>
                    <a:lstStyle/>
                    <a:p>
                      <a:pPr algn="l"/>
                      <a:r>
                        <a:rPr sz="1100" b="1">
                          <a:solidFill>
                            <a:srgbClr val="1E3A8A"/>
                          </a:solidFill>
                          <a:latin typeface="Calibri"/>
                        </a:rPr>
                        <a:t>Role-based access enforcement</a:t>
                      </a:r>
                    </a:p>
                  </a:txBody>
                  <a:tcPr>
                    <a:solidFill>
                      <a:srgbClr val="F8FAFC"/>
                    </a:solidFill>
                  </a:tcPr>
                </a:tc>
                <a:tc>
                  <a:txBody>
                    <a:bodyPr/>
                    <a:lstStyle/>
                    <a:p>
                      <a:pPr algn="l"/>
                      <a:r>
                        <a:rPr sz="1100" b="1">
                          <a:solidFill>
                            <a:srgbClr val="15803D"/>
                          </a:solidFill>
                          <a:latin typeface="Calibri"/>
                        </a:rPr>
                        <a:t>Verified</a:t>
                      </a:r>
                    </a:p>
                  </a:txBody>
                  <a:tcPr>
                    <a:solidFill>
                      <a:srgbClr val="F8FAFC"/>
                    </a:solidFill>
                  </a:tcPr>
                </a:tc>
                <a:tc>
                  <a:txBody>
                    <a:bodyPr/>
                    <a:lstStyle/>
                    <a:p>
                      <a:pPr algn="l"/>
                      <a:r>
                        <a:rPr sz="1100" b="0">
                          <a:solidFill>
                            <a:srgbClr val="1F2937"/>
                          </a:solidFill>
                          <a:latin typeface="Calibri"/>
                        </a:rPr>
                        <a:t>Admin / Producer / Consumer routes correctly restrict views and actions</a:t>
                      </a:r>
                    </a:p>
                  </a:txBody>
                  <a:tcPr>
                    <a:solidFill>
                      <a:srgbClr val="F8FAFC"/>
                    </a:solidFill>
                  </a:tcPr>
                </a:tc>
                <a:extLst>
                  <a:ext uri="{0D108BD9-81ED-4DB2-BD59-A6C34878D82A}">
                    <a16:rowId xmlns:a16="http://schemas.microsoft.com/office/drawing/2014/main" val="10006"/>
                  </a:ext>
                </a:extLst>
              </a:tr>
              <a:tr h="502920">
                <a:tc>
                  <a:txBody>
                    <a:bodyPr/>
                    <a:lstStyle/>
                    <a:p>
                      <a:pPr algn="l"/>
                      <a:r>
                        <a:rPr sz="1100" b="1">
                          <a:solidFill>
                            <a:srgbClr val="1E3A8A"/>
                          </a:solidFill>
                          <a:latin typeface="Calibri"/>
                        </a:rPr>
                        <a:t>Backup of local DB</a:t>
                      </a:r>
                    </a:p>
                  </a:txBody>
                  <a:tcPr>
                    <a:solidFill>
                      <a:srgbClr val="FFFFFF"/>
                    </a:solidFill>
                  </a:tcPr>
                </a:tc>
                <a:tc>
                  <a:txBody>
                    <a:bodyPr/>
                    <a:lstStyle/>
                    <a:p>
                      <a:pPr algn="l"/>
                      <a:r>
                        <a:rPr sz="1100" b="1">
                          <a:solidFill>
                            <a:srgbClr val="B45309"/>
                          </a:solidFill>
                          <a:latin typeface="Calibri"/>
                        </a:rPr>
                        <a:t>Pending</a:t>
                      </a:r>
                    </a:p>
                  </a:txBody>
                  <a:tcPr>
                    <a:solidFill>
                      <a:srgbClr val="FFFFFF"/>
                    </a:solidFill>
                  </a:tcPr>
                </a:tc>
                <a:tc>
                  <a:txBody>
                    <a:bodyPr/>
                    <a:lstStyle/>
                    <a:p>
                      <a:pPr algn="l"/>
                      <a:r>
                        <a:rPr sz="1100" b="0">
                          <a:solidFill>
                            <a:srgbClr val="1F2937"/>
                          </a:solidFill>
                          <a:latin typeface="Calibri"/>
                        </a:rPr>
                        <a:t>Backup schedule to be agreed with JSW IT once go-live is set</a:t>
                      </a:r>
                    </a:p>
                  </a:txBody>
                  <a:tcPr>
                    <a:solidFill>
                      <a:srgbClr val="FFFFFF"/>
                    </a:solidFill>
                  </a:tcPr>
                </a:tc>
                <a:extLst>
                  <a:ext uri="{0D108BD9-81ED-4DB2-BD59-A6C34878D82A}">
                    <a16:rowId xmlns:a16="http://schemas.microsoft.com/office/drawing/2014/main" val="10007"/>
                  </a:ext>
                </a:extLst>
              </a:tr>
            </a:tbl>
          </a:graphicData>
        </a:graphic>
      </p:graphicFrame>
      <p:pic>
        <p:nvPicPr>
          <p:cNvPr id="10" name="Picture 9" descr="A purple and orange text&#10;&#10;AI-generated content may be incorrect.">
            <a:extLst>
              <a:ext uri="{FF2B5EF4-FFF2-40B4-BE49-F238E27FC236}">
                <a16:creationId xmlns:a16="http://schemas.microsoft.com/office/drawing/2014/main" id="{90544D9C-9849-DE49-B8A2-53822EE36755}"/>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G</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Data Reality</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What's reliable, what isn't, and the gaps that must be closed at source.</a:t>
            </a:r>
          </a:p>
        </p:txBody>
      </p:sp>
      <p:pic>
        <p:nvPicPr>
          <p:cNvPr id="6" name="Picture 5">
            <a:extLst>
              <a:ext uri="{FF2B5EF4-FFF2-40B4-BE49-F238E27FC236}">
                <a16:creationId xmlns:a16="http://schemas.microsoft.com/office/drawing/2014/main" id="{0AB0361C-08D7-C85F-FE4B-3A75A58D3016}"/>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G · DATA REALITY</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Module status matrix — what works on current data</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30</a:t>
            </a:r>
          </a:p>
        </p:txBody>
      </p:sp>
      <p:graphicFrame>
        <p:nvGraphicFramePr>
          <p:cNvPr id="8" name="Table 7"/>
          <p:cNvGraphicFramePr>
            <a:graphicFrameLocks noGrp="1"/>
          </p:cNvGraphicFramePr>
          <p:nvPr/>
        </p:nvGraphicFramePr>
        <p:xfrm>
          <a:off x="502920" y="1417320"/>
          <a:ext cx="11338560" cy="50292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86861">
                <a:tc>
                  <a:txBody>
                    <a:bodyPr/>
                    <a:lstStyle/>
                    <a:p>
                      <a:pPr algn="l"/>
                      <a:r>
                        <a:rPr sz="1100" b="1">
                          <a:solidFill>
                            <a:srgbClr val="FFFFFF"/>
                          </a:solidFill>
                          <a:latin typeface="Calibri"/>
                        </a:rPr>
                        <a:t>Module</a:t>
                      </a:r>
                    </a:p>
                  </a:txBody>
                  <a:tcPr>
                    <a:solidFill>
                      <a:srgbClr val="1E3A8A"/>
                    </a:solidFill>
                  </a:tcPr>
                </a:tc>
                <a:tc>
                  <a:txBody>
                    <a:bodyPr/>
                    <a:lstStyle/>
                    <a:p>
                      <a:pPr algn="l"/>
                      <a:r>
                        <a:rPr sz="1100" b="1">
                          <a:solidFill>
                            <a:srgbClr val="FFFFFF"/>
                          </a:solidFill>
                          <a:latin typeface="Calibri"/>
                        </a:rPr>
                        <a:t>Status</a:t>
                      </a:r>
                    </a:p>
                  </a:txBody>
                  <a:tcPr>
                    <a:solidFill>
                      <a:srgbClr val="1E3A8A"/>
                    </a:solidFill>
                  </a:tcPr>
                </a:tc>
                <a:tc>
                  <a:txBody>
                    <a:bodyPr/>
                    <a:lstStyle/>
                    <a:p>
                      <a:pPr algn="l"/>
                      <a:r>
                        <a:rPr sz="1100" b="1">
                          <a:solidFill>
                            <a:srgbClr val="FFFFFF"/>
                          </a:solidFill>
                          <a:latin typeface="Calibri"/>
                        </a:rPr>
                        <a:t>Reason</a:t>
                      </a:r>
                    </a:p>
                  </a:txBody>
                  <a:tcPr>
                    <a:solidFill>
                      <a:srgbClr val="1E3A8A"/>
                    </a:solidFill>
                  </a:tcPr>
                </a:tc>
                <a:extLst>
                  <a:ext uri="{0D108BD9-81ED-4DB2-BD59-A6C34878D82A}">
                    <a16:rowId xmlns:a16="http://schemas.microsoft.com/office/drawing/2014/main" val="10000"/>
                  </a:ext>
                </a:extLst>
              </a:tr>
              <a:tr h="386861">
                <a:tc>
                  <a:txBody>
                    <a:bodyPr/>
                    <a:lstStyle/>
                    <a:p>
                      <a:pPr algn="l"/>
                      <a:r>
                        <a:rPr sz="1050" b="1">
                          <a:solidFill>
                            <a:srgbClr val="1E3A8A"/>
                          </a:solidFill>
                          <a:latin typeface="Calibri"/>
                        </a:rPr>
                        <a:t>Trip lifecycle tracking</a:t>
                      </a:r>
                    </a:p>
                  </a:txBody>
                  <a:tcPr>
                    <a:solidFill>
                      <a:srgbClr val="FFFFFF"/>
                    </a:solidFill>
                  </a:tcPr>
                </a:tc>
                <a:tc>
                  <a:txBody>
                    <a:bodyPr/>
                    <a:lstStyle/>
                    <a:p>
                      <a:pPr algn="l"/>
                      <a:r>
                        <a:rPr sz="1050" b="1">
                          <a:solidFill>
                            <a:srgbClr val="B45309"/>
                          </a:solidFill>
                          <a:latin typeface="Calibri"/>
                        </a:rPr>
                        <a:t>Functional with gaps</a:t>
                      </a:r>
                    </a:p>
                  </a:txBody>
                  <a:tcPr>
                    <a:solidFill>
                      <a:srgbClr val="FFFFFF"/>
                    </a:solidFill>
                  </a:tcPr>
                </a:tc>
                <a:tc>
                  <a:txBody>
                    <a:bodyPr/>
                    <a:lstStyle/>
                    <a:p>
                      <a:pPr algn="l"/>
                      <a:r>
                        <a:rPr sz="1050" b="0">
                          <a:solidFill>
                            <a:srgbClr val="1F2937"/>
                          </a:solidFill>
                          <a:latin typeface="Calibri"/>
                        </a:rPr>
                        <a:t>Producer side reliable; consumer-side acknowledgement inconsistent</a:t>
                      </a:r>
                    </a:p>
                  </a:txBody>
                  <a:tcPr>
                    <a:solidFill>
                      <a:srgbClr val="FFFFFF"/>
                    </a:solidFill>
                  </a:tcPr>
                </a:tc>
                <a:extLst>
                  <a:ext uri="{0D108BD9-81ED-4DB2-BD59-A6C34878D82A}">
                    <a16:rowId xmlns:a16="http://schemas.microsoft.com/office/drawing/2014/main" val="10001"/>
                  </a:ext>
                </a:extLst>
              </a:tr>
              <a:tr h="386861">
                <a:tc>
                  <a:txBody>
                    <a:bodyPr/>
                    <a:lstStyle/>
                    <a:p>
                      <a:pPr algn="l"/>
                      <a:r>
                        <a:rPr sz="1050" b="1">
                          <a:solidFill>
                            <a:srgbClr val="1E3A8A"/>
                          </a:solidFill>
                          <a:latin typeface="Calibri"/>
                        </a:rPr>
                        <a:t>Producer-side data (BF / COREX)</a:t>
                      </a:r>
                    </a:p>
                  </a:txBody>
                  <a:tcPr>
                    <a:solidFill>
                      <a:srgbClr val="F8FAFC"/>
                    </a:solidFill>
                  </a:tcPr>
                </a:tc>
                <a:tc>
                  <a:txBody>
                    <a:bodyPr/>
                    <a:lstStyle/>
                    <a:p>
                      <a:pPr algn="l"/>
                      <a:r>
                        <a:rPr sz="1050" b="1">
                          <a:solidFill>
                            <a:srgbClr val="B45309"/>
                          </a:solidFill>
                          <a:latin typeface="Calibri"/>
                        </a:rPr>
                        <a:t>Functional with gaps</a:t>
                      </a:r>
                    </a:p>
                  </a:txBody>
                  <a:tcPr>
                    <a:solidFill>
                      <a:srgbClr val="F8FAFC"/>
                    </a:solidFill>
                  </a:tcPr>
                </a:tc>
                <a:tc>
                  <a:txBody>
                    <a:bodyPr/>
                    <a:lstStyle/>
                    <a:p>
                      <a:pPr algn="l"/>
                      <a:r>
                        <a:rPr sz="1050" b="0">
                          <a:solidFill>
                            <a:srgbClr val="1F2937"/>
                          </a:solidFill>
                          <a:latin typeface="Calibri"/>
                        </a:rPr>
                        <a:t>All 7 producers visible; Si chemistry only BF4; S anomalies non-BF4</a:t>
                      </a:r>
                    </a:p>
                  </a:txBody>
                  <a:tcPr>
                    <a:solidFill>
                      <a:srgbClr val="F8FAFC"/>
                    </a:solidFill>
                  </a:tcPr>
                </a:tc>
                <a:extLst>
                  <a:ext uri="{0D108BD9-81ED-4DB2-BD59-A6C34878D82A}">
                    <a16:rowId xmlns:a16="http://schemas.microsoft.com/office/drawing/2014/main" val="10002"/>
                  </a:ext>
                </a:extLst>
              </a:tr>
              <a:tr h="386861">
                <a:tc>
                  <a:txBody>
                    <a:bodyPr/>
                    <a:lstStyle/>
                    <a:p>
                      <a:pPr algn="l"/>
                      <a:r>
                        <a:rPr sz="1050" b="1">
                          <a:solidFill>
                            <a:srgbClr val="1E3A8A"/>
                          </a:solidFill>
                          <a:latin typeface="Calibri"/>
                        </a:rPr>
                        <a:t>Consumer-side data (all 4 SMS)</a:t>
                      </a:r>
                    </a:p>
                  </a:txBody>
                  <a:tcPr>
                    <a:solidFill>
                      <a:srgbClr val="FFFFFF"/>
                    </a:solidFill>
                  </a:tcPr>
                </a:tc>
                <a:tc>
                  <a:txBody>
                    <a:bodyPr/>
                    <a:lstStyle/>
                    <a:p>
                      <a:pPr algn="l"/>
                      <a:r>
                        <a:rPr sz="1050" b="1">
                          <a:solidFill>
                            <a:srgbClr val="B45309"/>
                          </a:solidFill>
                          <a:latin typeface="Calibri"/>
                        </a:rPr>
                        <a:t>Partially blocked</a:t>
                      </a:r>
                    </a:p>
                  </a:txBody>
                  <a:tcPr>
                    <a:solidFill>
                      <a:srgbClr val="FFFFFF"/>
                    </a:solidFill>
                  </a:tcPr>
                </a:tc>
                <a:tc>
                  <a:txBody>
                    <a:bodyPr/>
                    <a:lstStyle/>
                    <a:p>
                      <a:pPr algn="l"/>
                      <a:r>
                        <a:rPr sz="1050" b="0">
                          <a:solidFill>
                            <a:srgbClr val="1F2937"/>
                          </a:solidFill>
                          <a:latin typeface="Calibri"/>
                        </a:rPr>
                        <a:t>SMS-2 and SMS-4 visible; SMS-1 and SMS-3 not represented</a:t>
                      </a:r>
                    </a:p>
                  </a:txBody>
                  <a:tcPr>
                    <a:solidFill>
                      <a:srgbClr val="FFFFFF"/>
                    </a:solidFill>
                  </a:tcPr>
                </a:tc>
                <a:extLst>
                  <a:ext uri="{0D108BD9-81ED-4DB2-BD59-A6C34878D82A}">
                    <a16:rowId xmlns:a16="http://schemas.microsoft.com/office/drawing/2014/main" val="10003"/>
                  </a:ext>
                </a:extLst>
              </a:tr>
              <a:tr h="386861">
                <a:tc>
                  <a:txBody>
                    <a:bodyPr/>
                    <a:lstStyle/>
                    <a:p>
                      <a:pPr algn="l"/>
                      <a:r>
                        <a:rPr sz="1050" b="1">
                          <a:solidFill>
                            <a:srgbClr val="1E3A8A"/>
                          </a:solidFill>
                          <a:latin typeface="Calibri"/>
                        </a:rPr>
                        <a:t>Fleet management (53 torpedoes)</a:t>
                      </a:r>
                    </a:p>
                  </a:txBody>
                  <a:tcPr>
                    <a:solidFill>
                      <a:srgbClr val="F8FAFC"/>
                    </a:solidFill>
                  </a:tcPr>
                </a:tc>
                <a:tc>
                  <a:txBody>
                    <a:bodyPr/>
                    <a:lstStyle/>
                    <a:p>
                      <a:pPr algn="l"/>
                      <a:r>
                        <a:rPr sz="1050" b="1">
                          <a:solidFill>
                            <a:srgbClr val="B45309"/>
                          </a:solidFill>
                          <a:latin typeface="Calibri"/>
                        </a:rPr>
                        <a:t>Functional with inconsistencies</a:t>
                      </a:r>
                    </a:p>
                  </a:txBody>
                  <a:tcPr>
                    <a:solidFill>
                      <a:srgbClr val="F8FAFC"/>
                    </a:solidFill>
                  </a:tcPr>
                </a:tc>
                <a:tc>
                  <a:txBody>
                    <a:bodyPr/>
                    <a:lstStyle/>
                    <a:p>
                      <a:pPr algn="l"/>
                      <a:r>
                        <a:rPr sz="1050" b="0">
                          <a:solidFill>
                            <a:srgbClr val="1F2937"/>
                          </a:solidFill>
                          <a:latin typeface="Calibri"/>
                        </a:rPr>
                        <a:t>Fleet count discrepancy (HMD 53 vs HTS master 36)</a:t>
                      </a:r>
                    </a:p>
                  </a:txBody>
                  <a:tcPr>
                    <a:solidFill>
                      <a:srgbClr val="F8FAFC"/>
                    </a:solidFill>
                  </a:tcPr>
                </a:tc>
                <a:extLst>
                  <a:ext uri="{0D108BD9-81ED-4DB2-BD59-A6C34878D82A}">
                    <a16:rowId xmlns:a16="http://schemas.microsoft.com/office/drawing/2014/main" val="10004"/>
                  </a:ext>
                </a:extLst>
              </a:tr>
              <a:tr h="386861">
                <a:tc>
                  <a:txBody>
                    <a:bodyPr/>
                    <a:lstStyle/>
                    <a:p>
                      <a:pPr algn="l"/>
                      <a:r>
                        <a:rPr sz="1050" b="1">
                          <a:solidFill>
                            <a:srgbClr val="1E3A8A"/>
                          </a:solidFill>
                          <a:latin typeface="Calibri"/>
                        </a:rPr>
                        <a:t>Live positioning (GPS)</a:t>
                      </a:r>
                    </a:p>
                  </a:txBody>
                  <a:tcPr>
                    <a:solidFill>
                      <a:srgbClr val="FFFFFF"/>
                    </a:solidFill>
                  </a:tcPr>
                </a:tc>
                <a:tc>
                  <a:txBody>
                    <a:bodyPr/>
                    <a:lstStyle/>
                    <a:p>
                      <a:pPr algn="l"/>
                      <a:r>
                        <a:rPr sz="1050" b="1">
                          <a:solidFill>
                            <a:srgbClr val="B45309"/>
                          </a:solidFill>
                          <a:latin typeface="Calibri"/>
                        </a:rPr>
                        <a:t>Functional with reliability gaps</a:t>
                      </a:r>
                    </a:p>
                  </a:txBody>
                  <a:tcPr>
                    <a:solidFill>
                      <a:srgbClr val="FFFFFF"/>
                    </a:solidFill>
                  </a:tcPr>
                </a:tc>
                <a:tc>
                  <a:txBody>
                    <a:bodyPr/>
                    <a:lstStyle/>
                    <a:p>
                      <a:pPr algn="l"/>
                      <a:r>
                        <a:rPr sz="1050" b="0">
                          <a:solidFill>
                            <a:srgbClr val="1F2937"/>
                          </a:solidFill>
                          <a:latin typeface="Calibri"/>
                        </a:rPr>
                        <a:t>Coverage complete; vendor-side telemetry limited</a:t>
                      </a:r>
                    </a:p>
                  </a:txBody>
                  <a:tcPr>
                    <a:solidFill>
                      <a:srgbClr val="FFFFFF"/>
                    </a:solidFill>
                  </a:tcPr>
                </a:tc>
                <a:extLst>
                  <a:ext uri="{0D108BD9-81ED-4DB2-BD59-A6C34878D82A}">
                    <a16:rowId xmlns:a16="http://schemas.microsoft.com/office/drawing/2014/main" val="10005"/>
                  </a:ext>
                </a:extLst>
              </a:tr>
              <a:tr h="386861">
                <a:tc>
                  <a:txBody>
                    <a:bodyPr/>
                    <a:lstStyle/>
                    <a:p>
                      <a:pPr algn="l"/>
                      <a:r>
                        <a:rPr sz="1050" b="1">
                          <a:solidFill>
                            <a:srgbClr val="1E3A8A"/>
                          </a:solidFill>
                          <a:latin typeface="Calibri"/>
                        </a:rPr>
                        <a:t>Geofencing / plant nodes</a:t>
                      </a:r>
                    </a:p>
                  </a:txBody>
                  <a:tcPr>
                    <a:solidFill>
                      <a:srgbClr val="F8FAFC"/>
                    </a:solidFill>
                  </a:tcPr>
                </a:tc>
                <a:tc>
                  <a:txBody>
                    <a:bodyPr/>
                    <a:lstStyle/>
                    <a:p>
                      <a:pPr algn="l"/>
                      <a:r>
                        <a:rPr sz="1050" b="1">
                          <a:solidFill>
                            <a:srgbClr val="B91C1C"/>
                          </a:solidFill>
                          <a:latin typeface="Calibri"/>
                        </a:rPr>
                        <a:t>Partially blocked</a:t>
                      </a:r>
                    </a:p>
                  </a:txBody>
                  <a:tcPr>
                    <a:solidFill>
                      <a:srgbClr val="F8FAFC"/>
                    </a:solidFill>
                  </a:tcPr>
                </a:tc>
                <a:tc>
                  <a:txBody>
                    <a:bodyPr/>
                    <a:lstStyle/>
                    <a:p>
                      <a:pPr algn="l"/>
                      <a:r>
                        <a:rPr sz="1050" b="0">
                          <a:solidFill>
                            <a:srgbClr val="1F2937"/>
                          </a:solidFill>
                          <a:latin typeface="Calibri"/>
                        </a:rPr>
                        <a:t>No polygons available; node master list informal</a:t>
                      </a:r>
                    </a:p>
                  </a:txBody>
                  <a:tcPr>
                    <a:solidFill>
                      <a:srgbClr val="F8FAFC"/>
                    </a:solidFill>
                  </a:tcPr>
                </a:tc>
                <a:extLst>
                  <a:ext uri="{0D108BD9-81ED-4DB2-BD59-A6C34878D82A}">
                    <a16:rowId xmlns:a16="http://schemas.microsoft.com/office/drawing/2014/main" val="10006"/>
                  </a:ext>
                </a:extLst>
              </a:tr>
              <a:tr h="386861">
                <a:tc>
                  <a:txBody>
                    <a:bodyPr/>
                    <a:lstStyle/>
                    <a:p>
                      <a:pPr algn="l"/>
                      <a:r>
                        <a:rPr sz="1050" b="1">
                          <a:solidFill>
                            <a:srgbClr val="1E3A8A"/>
                          </a:solidFill>
                          <a:latin typeface="Calibri"/>
                        </a:rPr>
                        <a:t>Weighbridge audit</a:t>
                      </a:r>
                    </a:p>
                  </a:txBody>
                  <a:tcPr>
                    <a:solidFill>
                      <a:srgbClr val="FFFFFF"/>
                    </a:solidFill>
                  </a:tcPr>
                </a:tc>
                <a:tc>
                  <a:txBody>
                    <a:bodyPr/>
                    <a:lstStyle/>
                    <a:p>
                      <a:pPr algn="l"/>
                      <a:r>
                        <a:rPr sz="1050" b="1">
                          <a:solidFill>
                            <a:srgbClr val="B45309"/>
                          </a:solidFill>
                          <a:latin typeface="Calibri"/>
                        </a:rPr>
                        <a:t>Functional with gaps</a:t>
                      </a:r>
                    </a:p>
                  </a:txBody>
                  <a:tcPr>
                    <a:solidFill>
                      <a:srgbClr val="FFFFFF"/>
                    </a:solidFill>
                  </a:tcPr>
                </a:tc>
                <a:tc>
                  <a:txBody>
                    <a:bodyPr/>
                    <a:lstStyle/>
                    <a:p>
                      <a:pPr algn="l"/>
                      <a:r>
                        <a:rPr sz="1050" b="0">
                          <a:solidFill>
                            <a:srgbClr val="1F2937"/>
                          </a:solidFill>
                          <a:latin typeface="Calibri"/>
                        </a:rPr>
                        <a:t>3 weighbridges inferred; no calibration history</a:t>
                      </a:r>
                    </a:p>
                  </a:txBody>
                  <a:tcPr>
                    <a:solidFill>
                      <a:srgbClr val="FFFFFF"/>
                    </a:solidFill>
                  </a:tcPr>
                </a:tc>
                <a:extLst>
                  <a:ext uri="{0D108BD9-81ED-4DB2-BD59-A6C34878D82A}">
                    <a16:rowId xmlns:a16="http://schemas.microsoft.com/office/drawing/2014/main" val="10007"/>
                  </a:ext>
                </a:extLst>
              </a:tr>
              <a:tr h="386861">
                <a:tc>
                  <a:txBody>
                    <a:bodyPr/>
                    <a:lstStyle/>
                    <a:p>
                      <a:pPr algn="l"/>
                      <a:r>
                        <a:rPr sz="1050" b="1">
                          <a:solidFill>
                            <a:srgbClr val="1E3A8A"/>
                          </a:solidFill>
                          <a:latin typeface="Calibri"/>
                        </a:rPr>
                        <a:t>BF-side equipment downtime</a:t>
                      </a:r>
                    </a:p>
                  </a:txBody>
                  <a:tcPr>
                    <a:solidFill>
                      <a:srgbClr val="F8FAFC"/>
                    </a:solidFill>
                  </a:tcPr>
                </a:tc>
                <a:tc>
                  <a:txBody>
                    <a:bodyPr/>
                    <a:lstStyle/>
                    <a:p>
                      <a:pPr algn="l"/>
                      <a:r>
                        <a:rPr sz="1050" b="1">
                          <a:solidFill>
                            <a:srgbClr val="B91C1C"/>
                          </a:solidFill>
                          <a:latin typeface="Calibri"/>
                        </a:rPr>
                        <a:t>Blocked</a:t>
                      </a:r>
                    </a:p>
                  </a:txBody>
                  <a:tcPr>
                    <a:solidFill>
                      <a:srgbClr val="F8FAFC"/>
                    </a:solidFill>
                  </a:tcPr>
                </a:tc>
                <a:tc>
                  <a:txBody>
                    <a:bodyPr/>
                    <a:lstStyle/>
                    <a:p>
                      <a:pPr algn="l"/>
                      <a:r>
                        <a:rPr sz="1050" b="0">
                          <a:solidFill>
                            <a:srgbClr val="1F2937"/>
                          </a:solidFill>
                          <a:latin typeface="Calibri"/>
                        </a:rPr>
                        <a:t>No source for producer-side downtime events</a:t>
                      </a:r>
                    </a:p>
                  </a:txBody>
                  <a:tcPr>
                    <a:solidFill>
                      <a:srgbClr val="F8FAFC"/>
                    </a:solidFill>
                  </a:tcPr>
                </a:tc>
                <a:extLst>
                  <a:ext uri="{0D108BD9-81ED-4DB2-BD59-A6C34878D82A}">
                    <a16:rowId xmlns:a16="http://schemas.microsoft.com/office/drawing/2014/main" val="10008"/>
                  </a:ext>
                </a:extLst>
              </a:tr>
              <a:tr h="386861">
                <a:tc>
                  <a:txBody>
                    <a:bodyPr/>
                    <a:lstStyle/>
                    <a:p>
                      <a:pPr algn="l"/>
                      <a:r>
                        <a:rPr sz="1050" b="1">
                          <a:solidFill>
                            <a:srgbClr val="1E3A8A"/>
                          </a:solidFill>
                          <a:latin typeface="Calibri"/>
                        </a:rPr>
                        <a:t>Production planning / targets</a:t>
                      </a:r>
                    </a:p>
                  </a:txBody>
                  <a:tcPr>
                    <a:solidFill>
                      <a:srgbClr val="FFFFFF"/>
                    </a:solidFill>
                  </a:tcPr>
                </a:tc>
                <a:tc>
                  <a:txBody>
                    <a:bodyPr/>
                    <a:lstStyle/>
                    <a:p>
                      <a:pPr algn="l"/>
                      <a:r>
                        <a:rPr sz="1050" b="1">
                          <a:solidFill>
                            <a:srgbClr val="B91C1C"/>
                          </a:solidFill>
                          <a:latin typeface="Calibri"/>
                        </a:rPr>
                        <a:t>Blocked</a:t>
                      </a:r>
                    </a:p>
                  </a:txBody>
                  <a:tcPr>
                    <a:solidFill>
                      <a:srgbClr val="FFFFFF"/>
                    </a:solidFill>
                  </a:tcPr>
                </a:tc>
                <a:tc>
                  <a:txBody>
                    <a:bodyPr/>
                    <a:lstStyle/>
                    <a:p>
                      <a:pPr algn="l"/>
                      <a:r>
                        <a:rPr sz="1050" b="0">
                          <a:solidFill>
                            <a:srgbClr val="1F2937"/>
                          </a:solidFill>
                          <a:latin typeface="Calibri"/>
                        </a:rPr>
                        <a:t>No source for plans / targets / schedules</a:t>
                      </a:r>
                    </a:p>
                  </a:txBody>
                  <a:tcPr>
                    <a:solidFill>
                      <a:srgbClr val="FFFFFF"/>
                    </a:solidFill>
                  </a:tcPr>
                </a:tc>
                <a:extLst>
                  <a:ext uri="{0D108BD9-81ED-4DB2-BD59-A6C34878D82A}">
                    <a16:rowId xmlns:a16="http://schemas.microsoft.com/office/drawing/2014/main" val="10009"/>
                  </a:ext>
                </a:extLst>
              </a:tr>
              <a:tr h="386861">
                <a:tc>
                  <a:txBody>
                    <a:bodyPr/>
                    <a:lstStyle/>
                    <a:p>
                      <a:pPr algn="l"/>
                      <a:r>
                        <a:rPr sz="1050" b="1">
                          <a:solidFill>
                            <a:srgbClr val="1E3A8A"/>
                          </a:solidFill>
                          <a:latin typeface="Calibri"/>
                        </a:rPr>
                        <a:t>SMS performance (yield / loss)</a:t>
                      </a:r>
                    </a:p>
                  </a:txBody>
                  <a:tcPr>
                    <a:solidFill>
                      <a:srgbClr val="F8FAFC"/>
                    </a:solidFill>
                  </a:tcPr>
                </a:tc>
                <a:tc>
                  <a:txBody>
                    <a:bodyPr/>
                    <a:lstStyle/>
                    <a:p>
                      <a:pPr algn="l"/>
                      <a:r>
                        <a:rPr sz="1050" b="1">
                          <a:solidFill>
                            <a:srgbClr val="B91C1C"/>
                          </a:solidFill>
                          <a:latin typeface="Calibri"/>
                        </a:rPr>
                        <a:t>Partially blocked</a:t>
                      </a:r>
                    </a:p>
                  </a:txBody>
                  <a:tcPr>
                    <a:solidFill>
                      <a:srgbClr val="F8FAFC"/>
                    </a:solidFill>
                  </a:tcPr>
                </a:tc>
                <a:tc>
                  <a:txBody>
                    <a:bodyPr/>
                    <a:lstStyle/>
                    <a:p>
                      <a:pPr algn="l"/>
                      <a:r>
                        <a:rPr sz="1050" b="0">
                          <a:solidFill>
                            <a:srgbClr val="1F2937"/>
                          </a:solidFill>
                          <a:latin typeface="Calibri"/>
                        </a:rPr>
                        <a:t>SMS-4 only; SMS-1/2/3 caster data not accessible</a:t>
                      </a:r>
                    </a:p>
                  </a:txBody>
                  <a:tcPr>
                    <a:solidFill>
                      <a:srgbClr val="F8FAFC"/>
                    </a:solidFill>
                  </a:tcPr>
                </a:tc>
                <a:extLst>
                  <a:ext uri="{0D108BD9-81ED-4DB2-BD59-A6C34878D82A}">
                    <a16:rowId xmlns:a16="http://schemas.microsoft.com/office/drawing/2014/main" val="10010"/>
                  </a:ext>
                </a:extLst>
              </a:tr>
              <a:tr h="386861">
                <a:tc>
                  <a:txBody>
                    <a:bodyPr/>
                    <a:lstStyle/>
                    <a:p>
                      <a:pPr algn="l"/>
                      <a:r>
                        <a:rPr sz="1050" b="1">
                          <a:solidFill>
                            <a:srgbClr val="1E3A8A"/>
                          </a:solidFill>
                          <a:latin typeface="Calibri"/>
                        </a:rPr>
                        <a:t>Heat trace (BF → SMS lineage)</a:t>
                      </a:r>
                    </a:p>
                  </a:txBody>
                  <a:tcPr>
                    <a:solidFill>
                      <a:srgbClr val="FFFFFF"/>
                    </a:solidFill>
                  </a:tcPr>
                </a:tc>
                <a:tc>
                  <a:txBody>
                    <a:bodyPr/>
                    <a:lstStyle/>
                    <a:p>
                      <a:pPr algn="l"/>
                      <a:r>
                        <a:rPr sz="1050" b="1">
                          <a:solidFill>
                            <a:srgbClr val="B45309"/>
                          </a:solidFill>
                          <a:latin typeface="Calibri"/>
                        </a:rPr>
                        <a:t>Approximate</a:t>
                      </a:r>
                    </a:p>
                  </a:txBody>
                  <a:tcPr>
                    <a:solidFill>
                      <a:srgbClr val="FFFFFF"/>
                    </a:solidFill>
                  </a:tcPr>
                </a:tc>
                <a:tc>
                  <a:txBody>
                    <a:bodyPr/>
                    <a:lstStyle/>
                    <a:p>
                      <a:pPr algn="l"/>
                      <a:r>
                        <a:rPr sz="1050" b="0">
                          <a:solidFill>
                            <a:srgbClr val="1F2937"/>
                          </a:solidFill>
                          <a:latin typeface="Calibri"/>
                        </a:rPr>
                        <a:t>No shared identifier; time-window join only</a:t>
                      </a:r>
                    </a:p>
                  </a:txBody>
                  <a:tcPr>
                    <a:solidFill>
                      <a:srgbClr val="FFFFFF"/>
                    </a:solidFill>
                  </a:tcPr>
                </a:tc>
                <a:extLst>
                  <a:ext uri="{0D108BD9-81ED-4DB2-BD59-A6C34878D82A}">
                    <a16:rowId xmlns:a16="http://schemas.microsoft.com/office/drawing/2014/main" val="10011"/>
                  </a:ext>
                </a:extLst>
              </a:tr>
              <a:tr h="386868">
                <a:tc>
                  <a:txBody>
                    <a:bodyPr/>
                    <a:lstStyle/>
                    <a:p>
                      <a:pPr algn="l"/>
                      <a:r>
                        <a:rPr sz="1050" b="1">
                          <a:solidFill>
                            <a:srgbClr val="1E3A8A"/>
                          </a:solidFill>
                          <a:latin typeface="Calibri"/>
                        </a:rPr>
                        <a:t>Alerts &amp; exceptions</a:t>
                      </a:r>
                    </a:p>
                  </a:txBody>
                  <a:tcPr>
                    <a:solidFill>
                      <a:srgbClr val="F8FAFC"/>
                    </a:solidFill>
                  </a:tcPr>
                </a:tc>
                <a:tc>
                  <a:txBody>
                    <a:bodyPr/>
                    <a:lstStyle/>
                    <a:p>
                      <a:pPr algn="l"/>
                      <a:r>
                        <a:rPr sz="1050" b="1">
                          <a:solidFill>
                            <a:srgbClr val="15803D"/>
                          </a:solidFill>
                          <a:latin typeface="Calibri"/>
                        </a:rPr>
                        <a:t>Functional</a:t>
                      </a:r>
                    </a:p>
                  </a:txBody>
                  <a:tcPr>
                    <a:solidFill>
                      <a:srgbClr val="F8FAFC"/>
                    </a:solidFill>
                  </a:tcPr>
                </a:tc>
                <a:tc>
                  <a:txBody>
                    <a:bodyPr/>
                    <a:lstStyle/>
                    <a:p>
                      <a:pPr algn="l"/>
                      <a:r>
                        <a:rPr sz="1050" b="0">
                          <a:solidFill>
                            <a:srgbClr val="1F2937"/>
                          </a:solidFill>
                          <a:latin typeface="Calibri"/>
                        </a:rPr>
                        <a:t>Detector running; coverage tracks upstream data availability</a:t>
                      </a:r>
                    </a:p>
                  </a:txBody>
                  <a:tcPr>
                    <a:solidFill>
                      <a:srgbClr val="F8FAFC"/>
                    </a:solidFill>
                  </a:tcPr>
                </a:tc>
                <a:extLst>
                  <a:ext uri="{0D108BD9-81ED-4DB2-BD59-A6C34878D82A}">
                    <a16:rowId xmlns:a16="http://schemas.microsoft.com/office/drawing/2014/main" val="10012"/>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E10B529D-B372-2E6B-952E-59B1BF739F53}"/>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G · DATA REALITY</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Key data findings — what JSW source data is missing or inconsistent</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31</a:t>
            </a:r>
          </a:p>
        </p:txBody>
      </p:sp>
      <p:graphicFrame>
        <p:nvGraphicFramePr>
          <p:cNvPr id="8" name="Table 7"/>
          <p:cNvGraphicFramePr>
            <a:graphicFrameLocks noGrp="1"/>
          </p:cNvGraphicFramePr>
          <p:nvPr/>
        </p:nvGraphicFramePr>
        <p:xfrm>
          <a:off x="502920" y="1417320"/>
          <a:ext cx="11338559" cy="502920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7726679">
                  <a:extLst>
                    <a:ext uri="{9D8B030D-6E8A-4147-A177-3AD203B41FA5}">
                      <a16:colId xmlns:a16="http://schemas.microsoft.com/office/drawing/2014/main" val="20002"/>
                    </a:ext>
                  </a:extLst>
                </a:gridCol>
              </a:tblGrid>
              <a:tr h="457200">
                <a:tc>
                  <a:txBody>
                    <a:bodyPr/>
                    <a:lstStyle/>
                    <a:p>
                      <a:pPr algn="l"/>
                      <a:r>
                        <a:rPr sz="1100" b="1">
                          <a:solidFill>
                            <a:srgbClr val="FFFFFF"/>
                          </a:solidFill>
                          <a:latin typeface="Calibri"/>
                        </a:rPr>
                        <a:t>#</a:t>
                      </a:r>
                    </a:p>
                  </a:txBody>
                  <a:tcPr>
                    <a:solidFill>
                      <a:srgbClr val="1E3A8A"/>
                    </a:solidFill>
                  </a:tcPr>
                </a:tc>
                <a:tc>
                  <a:txBody>
                    <a:bodyPr/>
                    <a:lstStyle/>
                    <a:p>
                      <a:pPr algn="l"/>
                      <a:r>
                        <a:rPr sz="1100" b="1">
                          <a:solidFill>
                            <a:srgbClr val="FFFFFF"/>
                          </a:solidFill>
                          <a:latin typeface="Calibri"/>
                        </a:rPr>
                        <a:t>Finding</a:t>
                      </a:r>
                    </a:p>
                  </a:txBody>
                  <a:tcPr>
                    <a:solidFill>
                      <a:srgbClr val="1E3A8A"/>
                    </a:solidFill>
                  </a:tcPr>
                </a:tc>
                <a:tc>
                  <a:txBody>
                    <a:bodyPr/>
                    <a:lstStyle/>
                    <a:p>
                      <a:pPr algn="l"/>
                      <a:r>
                        <a:rPr sz="1100" b="1">
                          <a:solidFill>
                            <a:srgbClr val="FFFFFF"/>
                          </a:solidFill>
                          <a:latin typeface="Calibri"/>
                        </a:rPr>
                        <a:t>Implication</a:t>
                      </a:r>
                    </a:p>
                  </a:txBody>
                  <a:tcPr>
                    <a:solidFill>
                      <a:srgbClr val="1E3A8A"/>
                    </a:solidFill>
                  </a:tcPr>
                </a:tc>
                <a:extLst>
                  <a:ext uri="{0D108BD9-81ED-4DB2-BD59-A6C34878D82A}">
                    <a16:rowId xmlns:a16="http://schemas.microsoft.com/office/drawing/2014/main" val="10000"/>
                  </a:ext>
                </a:extLst>
              </a:tr>
              <a:tr h="457200">
                <a:tc>
                  <a:txBody>
                    <a:bodyPr/>
                    <a:lstStyle/>
                    <a:p>
                      <a:pPr algn="l"/>
                      <a:r>
                        <a:rPr sz="1000" b="0">
                          <a:solidFill>
                            <a:srgbClr val="1F2937"/>
                          </a:solidFill>
                          <a:latin typeface="Calibri"/>
                        </a:rPr>
                        <a:t>1</a:t>
                      </a:r>
                    </a:p>
                  </a:txBody>
                  <a:tcPr>
                    <a:solidFill>
                      <a:srgbClr val="FFFFFF"/>
                    </a:solidFill>
                  </a:tcPr>
                </a:tc>
                <a:tc>
                  <a:txBody>
                    <a:bodyPr/>
                    <a:lstStyle/>
                    <a:p>
                      <a:pPr algn="l"/>
                      <a:r>
                        <a:rPr sz="1000" b="0">
                          <a:solidFill>
                            <a:srgbClr val="1F2937"/>
                          </a:solidFill>
                          <a:latin typeface="Calibri"/>
                        </a:rPr>
                        <a:t>Geofence polygons</a:t>
                      </a:r>
                    </a:p>
                  </a:txBody>
                  <a:tcPr>
                    <a:solidFill>
                      <a:srgbClr val="FFFFFF"/>
                    </a:solidFill>
                  </a:tcPr>
                </a:tc>
                <a:tc>
                  <a:txBody>
                    <a:bodyPr/>
                    <a:lstStyle/>
                    <a:p>
                      <a:pPr algn="l"/>
                      <a:r>
                        <a:rPr sz="1000" b="0">
                          <a:solidFill>
                            <a:srgbClr val="1F2937"/>
                          </a:solidFill>
                          <a:latin typeface="Calibri"/>
                        </a:rPr>
                        <a:t>No source provides plant-node geofences. SuVeechi vendor likely has them internally but does not expose. Required for boundary-sensitive events (entry/exit, dwell time).</a:t>
                      </a:r>
                    </a:p>
                  </a:txBody>
                  <a:tcPr>
                    <a:solidFill>
                      <a:srgbClr val="FFFFFF"/>
                    </a:solidFill>
                  </a:tcPr>
                </a:tc>
                <a:extLst>
                  <a:ext uri="{0D108BD9-81ED-4DB2-BD59-A6C34878D82A}">
                    <a16:rowId xmlns:a16="http://schemas.microsoft.com/office/drawing/2014/main" val="10001"/>
                  </a:ext>
                </a:extLst>
              </a:tr>
              <a:tr h="457200">
                <a:tc>
                  <a:txBody>
                    <a:bodyPr/>
                    <a:lstStyle/>
                    <a:p>
                      <a:pPr algn="l"/>
                      <a:r>
                        <a:rPr sz="1000" b="0">
                          <a:solidFill>
                            <a:srgbClr val="1F2937"/>
                          </a:solidFill>
                          <a:latin typeface="Calibri"/>
                        </a:rPr>
                        <a:t>2</a:t>
                      </a:r>
                    </a:p>
                  </a:txBody>
                  <a:tcPr>
                    <a:solidFill>
                      <a:srgbClr val="F8FAFC"/>
                    </a:solidFill>
                  </a:tcPr>
                </a:tc>
                <a:tc>
                  <a:txBody>
                    <a:bodyPr/>
                    <a:lstStyle/>
                    <a:p>
                      <a:pPr algn="l"/>
                      <a:r>
                        <a:rPr sz="1000" b="0">
                          <a:solidFill>
                            <a:srgbClr val="1F2937"/>
                          </a:solidFill>
                          <a:latin typeface="Calibri"/>
                        </a:rPr>
                        <a:t>SMS-1 / SMS-3 absent</a:t>
                      </a:r>
                    </a:p>
                  </a:txBody>
                  <a:tcPr>
                    <a:solidFill>
                      <a:srgbClr val="F8FAFC"/>
                    </a:solidFill>
                  </a:tcPr>
                </a:tc>
                <a:tc>
                  <a:txBody>
                    <a:bodyPr/>
                    <a:lstStyle/>
                    <a:p>
                      <a:pPr algn="l"/>
                      <a:r>
                        <a:rPr sz="1000" b="0">
                          <a:solidFill>
                            <a:srgbClr val="1F2937"/>
                          </a:solidFill>
                          <a:latin typeface="Calibri"/>
                        </a:rPr>
                        <a:t>HTS contains heat records only for SMS-2 and SMS-4. SMS-1 not represented at all; SMS-3 likely uses EAF (out of scope for hot metal). Status confirmation needed.</a:t>
                      </a:r>
                    </a:p>
                  </a:txBody>
                  <a:tcPr>
                    <a:solidFill>
                      <a:srgbClr val="F8FAFC"/>
                    </a:solidFill>
                  </a:tcPr>
                </a:tc>
                <a:extLst>
                  <a:ext uri="{0D108BD9-81ED-4DB2-BD59-A6C34878D82A}">
                    <a16:rowId xmlns:a16="http://schemas.microsoft.com/office/drawing/2014/main" val="10002"/>
                  </a:ext>
                </a:extLst>
              </a:tr>
              <a:tr h="457200">
                <a:tc>
                  <a:txBody>
                    <a:bodyPr/>
                    <a:lstStyle/>
                    <a:p>
                      <a:pPr algn="l"/>
                      <a:r>
                        <a:rPr sz="1000" b="0">
                          <a:solidFill>
                            <a:srgbClr val="1F2937"/>
                          </a:solidFill>
                          <a:latin typeface="Calibri"/>
                        </a:rPr>
                        <a:t>3</a:t>
                      </a:r>
                    </a:p>
                  </a:txBody>
                  <a:tcPr>
                    <a:solidFill>
                      <a:srgbClr val="FFFFFF"/>
                    </a:solidFill>
                  </a:tcPr>
                </a:tc>
                <a:tc>
                  <a:txBody>
                    <a:bodyPr/>
                    <a:lstStyle/>
                    <a:p>
                      <a:pPr algn="l"/>
                      <a:r>
                        <a:rPr sz="1000" b="0">
                          <a:solidFill>
                            <a:srgbClr val="1F2937"/>
                          </a:solidFill>
                          <a:latin typeface="Calibri"/>
                        </a:rPr>
                        <a:t>BF3 silent since 24-Sep-2025</a:t>
                      </a:r>
                    </a:p>
                  </a:txBody>
                  <a:tcPr>
                    <a:solidFill>
                      <a:srgbClr val="FFFFFF"/>
                    </a:solidFill>
                  </a:tcPr>
                </a:tc>
                <a:tc>
                  <a:txBody>
                    <a:bodyPr/>
                    <a:lstStyle/>
                    <a:p>
                      <a:pPr algn="l"/>
                      <a:r>
                        <a:rPr sz="1000" b="0">
                          <a:solidFill>
                            <a:srgbClr val="1F2937"/>
                          </a:solidFill>
                          <a:latin typeface="Calibri"/>
                        </a:rPr>
                        <a:t>Zero trip activity recorded for BF3 in the past ~232 days. No source explains whether decommissioned, under refractory campaign, or temporarily idle.</a:t>
                      </a:r>
                    </a:p>
                  </a:txBody>
                  <a:tcPr>
                    <a:solidFill>
                      <a:srgbClr val="FFFFFF"/>
                    </a:solidFill>
                  </a:tcPr>
                </a:tc>
                <a:extLst>
                  <a:ext uri="{0D108BD9-81ED-4DB2-BD59-A6C34878D82A}">
                    <a16:rowId xmlns:a16="http://schemas.microsoft.com/office/drawing/2014/main" val="10003"/>
                  </a:ext>
                </a:extLst>
              </a:tr>
              <a:tr h="457200">
                <a:tc>
                  <a:txBody>
                    <a:bodyPr/>
                    <a:lstStyle/>
                    <a:p>
                      <a:pPr algn="l"/>
                      <a:r>
                        <a:rPr sz="1000" b="0">
                          <a:solidFill>
                            <a:srgbClr val="1F2937"/>
                          </a:solidFill>
                          <a:latin typeface="Calibri"/>
                        </a:rPr>
                        <a:t>4</a:t>
                      </a:r>
                    </a:p>
                  </a:txBody>
                  <a:tcPr>
                    <a:solidFill>
                      <a:srgbClr val="F8FAFC"/>
                    </a:solidFill>
                  </a:tcPr>
                </a:tc>
                <a:tc>
                  <a:txBody>
                    <a:bodyPr/>
                    <a:lstStyle/>
                    <a:p>
                      <a:pPr algn="l"/>
                      <a:r>
                        <a:rPr sz="1000" b="0">
                          <a:solidFill>
                            <a:srgbClr val="1F2937"/>
                          </a:solidFill>
                          <a:latin typeface="Calibri"/>
                        </a:rPr>
                        <a:t>Si chemistry BF4-only</a:t>
                      </a:r>
                    </a:p>
                  </a:txBody>
                  <a:tcPr>
                    <a:solidFill>
                      <a:srgbClr val="F8FAFC"/>
                    </a:solidFill>
                  </a:tcPr>
                </a:tc>
                <a:tc>
                  <a:txBody>
                    <a:bodyPr/>
                    <a:lstStyle/>
                    <a:p>
                      <a:pPr algn="l"/>
                      <a:r>
                        <a:rPr sz="1000" b="0">
                          <a:solidFill>
                            <a:srgbClr val="1F2937"/>
                          </a:solidFill>
                          <a:latin typeface="Calibri"/>
                        </a:rPr>
                        <a:t>Of seven producers, only BF4 has silicon (Si) values populated. The other six producers report Si as NULL. Plant-wide Si specification cannot be enforced.</a:t>
                      </a:r>
                    </a:p>
                  </a:txBody>
                  <a:tcPr>
                    <a:solidFill>
                      <a:srgbClr val="F8FAFC"/>
                    </a:solidFill>
                  </a:tcPr>
                </a:tc>
                <a:extLst>
                  <a:ext uri="{0D108BD9-81ED-4DB2-BD59-A6C34878D82A}">
                    <a16:rowId xmlns:a16="http://schemas.microsoft.com/office/drawing/2014/main" val="10004"/>
                  </a:ext>
                </a:extLst>
              </a:tr>
              <a:tr h="457200">
                <a:tc>
                  <a:txBody>
                    <a:bodyPr/>
                    <a:lstStyle/>
                    <a:p>
                      <a:pPr algn="l"/>
                      <a:r>
                        <a:rPr sz="1000" b="0">
                          <a:solidFill>
                            <a:srgbClr val="1F2937"/>
                          </a:solidFill>
                          <a:latin typeface="Calibri"/>
                        </a:rPr>
                        <a:t>5</a:t>
                      </a:r>
                    </a:p>
                  </a:txBody>
                  <a:tcPr>
                    <a:solidFill>
                      <a:srgbClr val="FFFFFF"/>
                    </a:solidFill>
                  </a:tcPr>
                </a:tc>
                <a:tc>
                  <a:txBody>
                    <a:bodyPr/>
                    <a:lstStyle/>
                    <a:p>
                      <a:pPr algn="l"/>
                      <a:r>
                        <a:rPr sz="1000" b="0">
                          <a:solidFill>
                            <a:srgbClr val="1F2937"/>
                          </a:solidFill>
                          <a:latin typeface="Calibri"/>
                        </a:rPr>
                        <a:t>Sulfur (S) values inconsistent</a:t>
                      </a:r>
                    </a:p>
                  </a:txBody>
                  <a:tcPr>
                    <a:solidFill>
                      <a:srgbClr val="FFFFFF"/>
                    </a:solidFill>
                  </a:tcPr>
                </a:tc>
                <a:tc>
                  <a:txBody>
                    <a:bodyPr/>
                    <a:lstStyle/>
                    <a:p>
                      <a:pPr algn="l"/>
                      <a:r>
                        <a:rPr sz="1000" b="0">
                          <a:solidFill>
                            <a:srgbClr val="1F2937"/>
                          </a:solidFill>
                          <a:latin typeface="Calibri"/>
                        </a:rPr>
                        <a:t>BF4 S values fall in plausible 0.015–0.050 band; non-BF4 values reach up to 2.83. Indicates unit or scale inconsistency at source.</a:t>
                      </a:r>
                    </a:p>
                  </a:txBody>
                  <a:tcPr>
                    <a:solidFill>
                      <a:srgbClr val="FFFFFF"/>
                    </a:solidFill>
                  </a:tcPr>
                </a:tc>
                <a:extLst>
                  <a:ext uri="{0D108BD9-81ED-4DB2-BD59-A6C34878D82A}">
                    <a16:rowId xmlns:a16="http://schemas.microsoft.com/office/drawing/2014/main" val="10005"/>
                  </a:ext>
                </a:extLst>
              </a:tr>
              <a:tr h="457200">
                <a:tc>
                  <a:txBody>
                    <a:bodyPr/>
                    <a:lstStyle/>
                    <a:p>
                      <a:pPr algn="l"/>
                      <a:r>
                        <a:rPr sz="1000" b="0">
                          <a:solidFill>
                            <a:srgbClr val="1F2937"/>
                          </a:solidFill>
                          <a:latin typeface="Calibri"/>
                        </a:rPr>
                        <a:t>6</a:t>
                      </a:r>
                    </a:p>
                  </a:txBody>
                  <a:tcPr>
                    <a:solidFill>
                      <a:srgbClr val="F8FAFC"/>
                    </a:solidFill>
                  </a:tcPr>
                </a:tc>
                <a:tc>
                  <a:txBody>
                    <a:bodyPr/>
                    <a:lstStyle/>
                    <a:p>
                      <a:pPr algn="l"/>
                      <a:r>
                        <a:rPr sz="1000" b="0">
                          <a:solidFill>
                            <a:srgbClr val="1F2937"/>
                          </a:solidFill>
                          <a:latin typeface="Calibri"/>
                        </a:rPr>
                        <a:t>Producer-side downtime missing</a:t>
                      </a:r>
                    </a:p>
                  </a:txBody>
                  <a:tcPr>
                    <a:solidFill>
                      <a:srgbClr val="F8FAFC"/>
                    </a:solidFill>
                  </a:tcPr>
                </a:tc>
                <a:tc>
                  <a:txBody>
                    <a:bodyPr/>
                    <a:lstStyle/>
                    <a:p>
                      <a:pPr algn="l"/>
                      <a:r>
                        <a:rPr sz="1000" b="0">
                          <a:solidFill>
                            <a:srgbClr val="1F2937"/>
                          </a:solidFill>
                          <a:latin typeface="Calibri"/>
                        </a:rPr>
                        <a:t>HTS has equipment breakdown data for SMS side. No equivalent table exists or is exposed for any of the 7 producers.</a:t>
                      </a:r>
                    </a:p>
                  </a:txBody>
                  <a:tcPr>
                    <a:solidFill>
                      <a:srgbClr val="F8FAFC"/>
                    </a:solidFill>
                  </a:tcPr>
                </a:tc>
                <a:extLst>
                  <a:ext uri="{0D108BD9-81ED-4DB2-BD59-A6C34878D82A}">
                    <a16:rowId xmlns:a16="http://schemas.microsoft.com/office/drawing/2014/main" val="10006"/>
                  </a:ext>
                </a:extLst>
              </a:tr>
              <a:tr h="457200">
                <a:tc>
                  <a:txBody>
                    <a:bodyPr/>
                    <a:lstStyle/>
                    <a:p>
                      <a:pPr algn="l"/>
                      <a:r>
                        <a:rPr sz="1000" b="0">
                          <a:solidFill>
                            <a:srgbClr val="1F2937"/>
                          </a:solidFill>
                          <a:latin typeface="Calibri"/>
                        </a:rPr>
                        <a:t>7</a:t>
                      </a:r>
                    </a:p>
                  </a:txBody>
                  <a:tcPr>
                    <a:solidFill>
                      <a:srgbClr val="FFFFFF"/>
                    </a:solidFill>
                  </a:tcPr>
                </a:tc>
                <a:tc>
                  <a:txBody>
                    <a:bodyPr/>
                    <a:lstStyle/>
                    <a:p>
                      <a:pPr algn="l"/>
                      <a:r>
                        <a:rPr sz="1000" b="0">
                          <a:solidFill>
                            <a:srgbClr val="1F2937"/>
                          </a:solidFill>
                          <a:latin typeface="Calibri"/>
                        </a:rPr>
                        <a:t>Production targets unavailable</a:t>
                      </a:r>
                    </a:p>
                  </a:txBody>
                  <a:tcPr>
                    <a:solidFill>
                      <a:srgbClr val="FFFFFF"/>
                    </a:solidFill>
                  </a:tcPr>
                </a:tc>
                <a:tc>
                  <a:txBody>
                    <a:bodyPr/>
                    <a:lstStyle/>
                    <a:p>
                      <a:pPr algn="l"/>
                      <a:r>
                        <a:rPr sz="1000" b="0">
                          <a:solidFill>
                            <a:srgbClr val="1F2937"/>
                          </a:solidFill>
                          <a:latin typeface="Calibri"/>
                        </a:rPr>
                        <a:t>No source database contains daily, monthly, or shift-level production targets. Every 'vs plan' comparison is structurally blocked.</a:t>
                      </a:r>
                    </a:p>
                  </a:txBody>
                  <a:tcPr>
                    <a:solidFill>
                      <a:srgbClr val="FFFFFF"/>
                    </a:solidFill>
                  </a:tcPr>
                </a:tc>
                <a:extLst>
                  <a:ext uri="{0D108BD9-81ED-4DB2-BD59-A6C34878D82A}">
                    <a16:rowId xmlns:a16="http://schemas.microsoft.com/office/drawing/2014/main" val="10007"/>
                  </a:ext>
                </a:extLst>
              </a:tr>
              <a:tr h="457200">
                <a:tc>
                  <a:txBody>
                    <a:bodyPr/>
                    <a:lstStyle/>
                    <a:p>
                      <a:pPr algn="l"/>
                      <a:r>
                        <a:rPr sz="1000" b="0">
                          <a:solidFill>
                            <a:srgbClr val="1F2937"/>
                          </a:solidFill>
                          <a:latin typeface="Calibri"/>
                        </a:rPr>
                        <a:t>8</a:t>
                      </a:r>
                    </a:p>
                  </a:txBody>
                  <a:tcPr>
                    <a:solidFill>
                      <a:srgbClr val="F8FAFC"/>
                    </a:solidFill>
                  </a:tcPr>
                </a:tc>
                <a:tc>
                  <a:txBody>
                    <a:bodyPr/>
                    <a:lstStyle/>
                    <a:p>
                      <a:pPr algn="l"/>
                      <a:r>
                        <a:rPr sz="1000" b="0">
                          <a:solidFill>
                            <a:srgbClr val="1F2937"/>
                          </a:solidFill>
                          <a:latin typeface="Calibri"/>
                        </a:rPr>
                        <a:t>WBATNGL acknowledgement gaps</a:t>
                      </a:r>
                    </a:p>
                  </a:txBody>
                  <a:tcPr>
                    <a:solidFill>
                      <a:srgbClr val="F8FAFC"/>
                    </a:solidFill>
                  </a:tcPr>
                </a:tc>
                <a:tc>
                  <a:txBody>
                    <a:bodyPr/>
                    <a:lstStyle/>
                    <a:p>
                      <a:pPr algn="l"/>
                      <a:r>
                        <a:rPr sz="1000" b="0">
                          <a:solidFill>
                            <a:srgbClr val="1F2937"/>
                          </a:solidFill>
                          <a:latin typeface="Calibri"/>
                        </a:rPr>
                        <a:t>SMS-side acknowledgement (SMS_ACK_TIME) is NULL on approximately 45% of trip records. Trip-completion semantics unclear.</a:t>
                      </a:r>
                    </a:p>
                  </a:txBody>
                  <a:tcPr>
                    <a:solidFill>
                      <a:srgbClr val="F8FAFC"/>
                    </a:solidFill>
                  </a:tcPr>
                </a:tc>
                <a:extLst>
                  <a:ext uri="{0D108BD9-81ED-4DB2-BD59-A6C34878D82A}">
                    <a16:rowId xmlns:a16="http://schemas.microsoft.com/office/drawing/2014/main" val="10008"/>
                  </a:ext>
                </a:extLst>
              </a:tr>
              <a:tr h="457200">
                <a:tc>
                  <a:txBody>
                    <a:bodyPr/>
                    <a:lstStyle/>
                    <a:p>
                      <a:pPr algn="l"/>
                      <a:r>
                        <a:rPr sz="1000" b="0">
                          <a:solidFill>
                            <a:srgbClr val="1F2937"/>
                          </a:solidFill>
                          <a:latin typeface="Calibri"/>
                        </a:rPr>
                        <a:t>9</a:t>
                      </a:r>
                    </a:p>
                  </a:txBody>
                  <a:tcPr>
                    <a:solidFill>
                      <a:srgbClr val="FFFFFF"/>
                    </a:solidFill>
                  </a:tcPr>
                </a:tc>
                <a:tc>
                  <a:txBody>
                    <a:bodyPr/>
                    <a:lstStyle/>
                    <a:p>
                      <a:pPr algn="l"/>
                      <a:r>
                        <a:rPr sz="1000" b="0">
                          <a:solidFill>
                            <a:srgbClr val="1F2937"/>
                          </a:solidFill>
                          <a:latin typeface="Calibri"/>
                        </a:rPr>
                        <a:t>Heat-to-trip linking key absent</a:t>
                      </a:r>
                    </a:p>
                  </a:txBody>
                  <a:tcPr>
                    <a:solidFill>
                      <a:srgbClr val="FFFFFF"/>
                    </a:solidFill>
                  </a:tcPr>
                </a:tc>
                <a:tc>
                  <a:txBody>
                    <a:bodyPr/>
                    <a:lstStyle/>
                    <a:p>
                      <a:pPr algn="l"/>
                      <a:r>
                        <a:rPr sz="1000" b="0">
                          <a:solidFill>
                            <a:srgbClr val="1F2937"/>
                          </a:solidFill>
                          <a:latin typeface="Calibri"/>
                        </a:rPr>
                        <a:t>WBATNGL and HTS share only the torpedo identifier. No common HEAT_NO or TRIP_ID exists between the two systems.</a:t>
                      </a:r>
                    </a:p>
                  </a:txBody>
                  <a:tcPr>
                    <a:solidFill>
                      <a:srgbClr val="FFFFFF"/>
                    </a:solidFill>
                  </a:tcPr>
                </a:tc>
                <a:extLst>
                  <a:ext uri="{0D108BD9-81ED-4DB2-BD59-A6C34878D82A}">
                    <a16:rowId xmlns:a16="http://schemas.microsoft.com/office/drawing/2014/main" val="10009"/>
                  </a:ext>
                </a:extLst>
              </a:tr>
              <a:tr h="457200">
                <a:tc>
                  <a:txBody>
                    <a:bodyPr/>
                    <a:lstStyle/>
                    <a:p>
                      <a:pPr algn="l"/>
                      <a:r>
                        <a:rPr sz="1000" b="0">
                          <a:solidFill>
                            <a:srgbClr val="1F2937"/>
                          </a:solidFill>
                          <a:latin typeface="Calibri"/>
                        </a:rPr>
                        <a:t>10</a:t>
                      </a:r>
                    </a:p>
                  </a:txBody>
                  <a:tcPr>
                    <a:solidFill>
                      <a:srgbClr val="F8FAFC"/>
                    </a:solidFill>
                  </a:tcPr>
                </a:tc>
                <a:tc>
                  <a:txBody>
                    <a:bodyPr/>
                    <a:lstStyle/>
                    <a:p>
                      <a:pPr algn="l"/>
                      <a:r>
                        <a:rPr sz="1000" b="0">
                          <a:solidFill>
                            <a:srgbClr val="1F2937"/>
                          </a:solidFill>
                          <a:latin typeface="Calibri"/>
                        </a:rPr>
                        <a:t>SMS-2 caster data not readable</a:t>
                      </a:r>
                    </a:p>
                  </a:txBody>
                  <a:tcPr>
                    <a:solidFill>
                      <a:srgbClr val="F8FAFC"/>
                    </a:solidFill>
                  </a:tcPr>
                </a:tc>
                <a:tc>
                  <a:txBody>
                    <a:bodyPr/>
                    <a:lstStyle/>
                    <a:p>
                      <a:pPr algn="l"/>
                      <a:r>
                        <a:rPr sz="1000" b="0">
                          <a:solidFill>
                            <a:srgbClr val="1F2937"/>
                          </a:solidFill>
                          <a:latin typeface="Calibri"/>
                        </a:rPr>
                        <a:t>Caster process and consumption data for SMS-2 converters (D, E, F, G) appears to be in SPT001A schema. The integration user does not have read access.</a:t>
                      </a:r>
                    </a:p>
                  </a:txBody>
                  <a:tcPr>
                    <a:solidFill>
                      <a:srgbClr val="F8FAFC"/>
                    </a:solidFill>
                  </a:tcPr>
                </a:tc>
                <a:extLst>
                  <a:ext uri="{0D108BD9-81ED-4DB2-BD59-A6C34878D82A}">
                    <a16:rowId xmlns:a16="http://schemas.microsoft.com/office/drawing/2014/main" val="10010"/>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E1B732E4-2167-F216-9333-71D0664A1E75}"/>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G · DATA REALITY</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Operational implications — what these gaps block</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dirty="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32</a:t>
            </a:r>
          </a:p>
        </p:txBody>
      </p:sp>
      <p:graphicFrame>
        <p:nvGraphicFramePr>
          <p:cNvPr id="8" name="Table 7"/>
          <p:cNvGraphicFramePr>
            <a:graphicFrameLocks noGrp="1"/>
          </p:cNvGraphicFramePr>
          <p:nvPr/>
        </p:nvGraphicFramePr>
        <p:xfrm>
          <a:off x="502920" y="1417320"/>
          <a:ext cx="11338560" cy="44805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40080">
                <a:tc>
                  <a:txBody>
                    <a:bodyPr/>
                    <a:lstStyle/>
                    <a:p>
                      <a:pPr algn="l"/>
                      <a:r>
                        <a:rPr sz="1200" b="1">
                          <a:solidFill>
                            <a:srgbClr val="FFFFFF"/>
                          </a:solidFill>
                          <a:latin typeface="Calibri"/>
                        </a:rPr>
                        <a:t>Operational area</a:t>
                      </a:r>
                    </a:p>
                  </a:txBody>
                  <a:tcPr>
                    <a:solidFill>
                      <a:srgbClr val="1E3A8A"/>
                    </a:solidFill>
                  </a:tcPr>
                </a:tc>
                <a:tc>
                  <a:txBody>
                    <a:bodyPr/>
                    <a:lstStyle/>
                    <a:p>
                      <a:pPr algn="l"/>
                      <a:r>
                        <a:rPr sz="1200" b="1">
                          <a:solidFill>
                            <a:srgbClr val="FFFFFF"/>
                          </a:solidFill>
                          <a:latin typeface="Calibri"/>
                        </a:rPr>
                        <a:t>Status given current data</a:t>
                      </a:r>
                    </a:p>
                  </a:txBody>
                  <a:tcPr>
                    <a:solidFill>
                      <a:srgbClr val="1E3A8A"/>
                    </a:solidFill>
                  </a:tcPr>
                </a:tc>
                <a:extLst>
                  <a:ext uri="{0D108BD9-81ED-4DB2-BD59-A6C34878D82A}">
                    <a16:rowId xmlns:a16="http://schemas.microsoft.com/office/drawing/2014/main" val="10000"/>
                  </a:ext>
                </a:extLst>
              </a:tr>
              <a:tr h="640080">
                <a:tc>
                  <a:txBody>
                    <a:bodyPr/>
                    <a:lstStyle/>
                    <a:p>
                      <a:pPr algn="l"/>
                      <a:r>
                        <a:rPr sz="1100" b="0">
                          <a:solidFill>
                            <a:srgbClr val="1F2937"/>
                          </a:solidFill>
                          <a:latin typeface="Calibri"/>
                        </a:rPr>
                        <a:t>Production verification</a:t>
                      </a:r>
                    </a:p>
                  </a:txBody>
                  <a:tcPr>
                    <a:solidFill>
                      <a:srgbClr val="FFFFFF"/>
                    </a:solidFill>
                  </a:tcPr>
                </a:tc>
                <a:tc>
                  <a:txBody>
                    <a:bodyPr/>
                    <a:lstStyle/>
                    <a:p>
                      <a:pPr algn="l"/>
                      <a:r>
                        <a:rPr sz="1100" b="0">
                          <a:solidFill>
                            <a:srgbClr val="1F2937"/>
                          </a:solidFill>
                          <a:latin typeface="Calibri"/>
                        </a:rPr>
                        <a:t>Producer-side trips visible (all 7 BFs+COREX); consumer-side only for SMS-2/4. Comparing 'produced vs consumed' is feasible for the visible flow but incomplete plant-wide.</a:t>
                      </a:r>
                    </a:p>
                  </a:txBody>
                  <a:tcPr>
                    <a:solidFill>
                      <a:srgbClr val="FFFFFF"/>
                    </a:solidFill>
                  </a:tcPr>
                </a:tc>
                <a:extLst>
                  <a:ext uri="{0D108BD9-81ED-4DB2-BD59-A6C34878D82A}">
                    <a16:rowId xmlns:a16="http://schemas.microsoft.com/office/drawing/2014/main" val="10001"/>
                  </a:ext>
                </a:extLst>
              </a:tr>
              <a:tr h="640080">
                <a:tc>
                  <a:txBody>
                    <a:bodyPr/>
                    <a:lstStyle/>
                    <a:p>
                      <a:pPr algn="l"/>
                      <a:r>
                        <a:rPr sz="1100" b="0">
                          <a:solidFill>
                            <a:srgbClr val="1F2937"/>
                          </a:solidFill>
                          <a:latin typeface="Calibri"/>
                        </a:rPr>
                        <a:t>Real-time torpedo location</a:t>
                      </a:r>
                    </a:p>
                  </a:txBody>
                  <a:tcPr>
                    <a:solidFill>
                      <a:srgbClr val="F8FAFC"/>
                    </a:solidFill>
                  </a:tcPr>
                </a:tc>
                <a:tc>
                  <a:txBody>
                    <a:bodyPr/>
                    <a:lstStyle/>
                    <a:p>
                      <a:pPr algn="l"/>
                      <a:r>
                        <a:rPr sz="1100" b="0">
                          <a:solidFill>
                            <a:srgbClr val="1F2937"/>
                          </a:solidFill>
                          <a:latin typeface="Calibri"/>
                        </a:rPr>
                        <a:t>GPS streaming is reliable. Boundary detection (torpedo entered SMS-4 at HH:MM) is currently inferential — geofences from SuVeechi vendor would make it deterministic.</a:t>
                      </a:r>
                    </a:p>
                  </a:txBody>
                  <a:tcPr>
                    <a:solidFill>
                      <a:srgbClr val="F8FAFC"/>
                    </a:solidFill>
                  </a:tcPr>
                </a:tc>
                <a:extLst>
                  <a:ext uri="{0D108BD9-81ED-4DB2-BD59-A6C34878D82A}">
                    <a16:rowId xmlns:a16="http://schemas.microsoft.com/office/drawing/2014/main" val="10002"/>
                  </a:ext>
                </a:extLst>
              </a:tr>
              <a:tr h="640080">
                <a:tc>
                  <a:txBody>
                    <a:bodyPr/>
                    <a:lstStyle/>
                    <a:p>
                      <a:pPr algn="l"/>
                      <a:r>
                        <a:rPr sz="1100" b="0">
                          <a:solidFill>
                            <a:srgbClr val="1F2937"/>
                          </a:solidFill>
                          <a:latin typeface="Calibri"/>
                        </a:rPr>
                        <a:t>Yield and loss analytics</a:t>
                      </a:r>
                    </a:p>
                  </a:txBody>
                  <a:tcPr>
                    <a:solidFill>
                      <a:srgbClr val="FFFFFF"/>
                    </a:solidFill>
                  </a:tcPr>
                </a:tc>
                <a:tc>
                  <a:txBody>
                    <a:bodyPr/>
                    <a:lstStyle/>
                    <a:p>
                      <a:pPr algn="l"/>
                      <a:r>
                        <a:rPr sz="1100" b="0">
                          <a:solidFill>
                            <a:srgbClr val="1F2937"/>
                          </a:solidFill>
                          <a:latin typeface="Calibri"/>
                        </a:rPr>
                        <a:t>Available for SMS-4 only. Approximately 95% of plant heats run on SMS-2 — their yield, loss, and operator notes are not visible. SPT001A access would unlock this.</a:t>
                      </a:r>
                    </a:p>
                  </a:txBody>
                  <a:tcPr>
                    <a:solidFill>
                      <a:srgbClr val="FFFFFF"/>
                    </a:solidFill>
                  </a:tcPr>
                </a:tc>
                <a:extLst>
                  <a:ext uri="{0D108BD9-81ED-4DB2-BD59-A6C34878D82A}">
                    <a16:rowId xmlns:a16="http://schemas.microsoft.com/office/drawing/2014/main" val="10003"/>
                  </a:ext>
                </a:extLst>
              </a:tr>
              <a:tr h="640080">
                <a:tc>
                  <a:txBody>
                    <a:bodyPr/>
                    <a:lstStyle/>
                    <a:p>
                      <a:pPr algn="l"/>
                      <a:r>
                        <a:rPr sz="1100" b="0">
                          <a:solidFill>
                            <a:srgbClr val="1F2937"/>
                          </a:solidFill>
                          <a:latin typeface="Calibri"/>
                        </a:rPr>
                        <a:t>Plan-vs-actual reporting</a:t>
                      </a:r>
                    </a:p>
                  </a:txBody>
                  <a:tcPr>
                    <a:solidFill>
                      <a:srgbClr val="F8FAFC"/>
                    </a:solidFill>
                  </a:tcPr>
                </a:tc>
                <a:tc>
                  <a:txBody>
                    <a:bodyPr/>
                    <a:lstStyle/>
                    <a:p>
                      <a:pPr algn="l"/>
                      <a:r>
                        <a:rPr sz="1100" b="0">
                          <a:solidFill>
                            <a:srgbClr val="1F2937"/>
                          </a:solidFill>
                          <a:latin typeface="Calibri"/>
                        </a:rPr>
                        <a:t>No targets means no variance reports. The dashboards report absolute throughput but cannot show 'X% of daily plan achieved'.</a:t>
                      </a:r>
                    </a:p>
                  </a:txBody>
                  <a:tcPr>
                    <a:solidFill>
                      <a:srgbClr val="F8FAFC"/>
                    </a:solidFill>
                  </a:tcPr>
                </a:tc>
                <a:extLst>
                  <a:ext uri="{0D108BD9-81ED-4DB2-BD59-A6C34878D82A}">
                    <a16:rowId xmlns:a16="http://schemas.microsoft.com/office/drawing/2014/main" val="10004"/>
                  </a:ext>
                </a:extLst>
              </a:tr>
              <a:tr h="640080">
                <a:tc>
                  <a:txBody>
                    <a:bodyPr/>
                    <a:lstStyle/>
                    <a:p>
                      <a:pPr algn="l"/>
                      <a:r>
                        <a:rPr sz="1100" b="0">
                          <a:solidFill>
                            <a:srgbClr val="1F2937"/>
                          </a:solidFill>
                          <a:latin typeface="Calibri"/>
                        </a:rPr>
                        <a:t>Cause-and-effect analysis</a:t>
                      </a:r>
                    </a:p>
                  </a:txBody>
                  <a:tcPr>
                    <a:solidFill>
                      <a:srgbClr val="FFFFFF"/>
                    </a:solidFill>
                  </a:tcPr>
                </a:tc>
                <a:tc>
                  <a:txBody>
                    <a:bodyPr/>
                    <a:lstStyle/>
                    <a:p>
                      <a:pPr algn="l"/>
                      <a:r>
                        <a:rPr sz="1100" b="0">
                          <a:solidFill>
                            <a:srgbClr val="1F2937"/>
                          </a:solidFill>
                          <a:latin typeface="Calibri"/>
                        </a:rPr>
                        <a:t>Production drops observed in data have no corresponding cause records. The 'why' must come from operations team interviews rather than source data.</a:t>
                      </a:r>
                    </a:p>
                  </a:txBody>
                  <a:tcPr>
                    <a:solidFill>
                      <a:srgbClr val="FFFFFF"/>
                    </a:solidFill>
                  </a:tcPr>
                </a:tc>
                <a:extLst>
                  <a:ext uri="{0D108BD9-81ED-4DB2-BD59-A6C34878D82A}">
                    <a16:rowId xmlns:a16="http://schemas.microsoft.com/office/drawing/2014/main" val="10005"/>
                  </a:ext>
                </a:extLst>
              </a:tr>
              <a:tr h="640080">
                <a:tc>
                  <a:txBody>
                    <a:bodyPr/>
                    <a:lstStyle/>
                    <a:p>
                      <a:pPr algn="l"/>
                      <a:r>
                        <a:rPr sz="1100" b="0">
                          <a:solidFill>
                            <a:srgbClr val="1F2937"/>
                          </a:solidFill>
                          <a:latin typeface="Calibri"/>
                        </a:rPr>
                        <a:t>Plant-wide chemistry compliance</a:t>
                      </a:r>
                    </a:p>
                  </a:txBody>
                  <a:tcPr>
                    <a:solidFill>
                      <a:srgbClr val="F8FAFC"/>
                    </a:solidFill>
                  </a:tcPr>
                </a:tc>
                <a:tc>
                  <a:txBody>
                    <a:bodyPr/>
                    <a:lstStyle/>
                    <a:p>
                      <a:pPr algn="l"/>
                      <a:r>
                        <a:rPr sz="1100" b="0">
                          <a:solidFill>
                            <a:srgbClr val="1F2937"/>
                          </a:solidFill>
                          <a:latin typeface="Calibri"/>
                        </a:rPr>
                        <a:t>Si bounds enforceable only on BF4 trips. S anomalies on non-BF4 sources prevent uniform sulfur-spec alerting.</a:t>
                      </a:r>
                    </a:p>
                  </a:txBody>
                  <a:tcPr>
                    <a:solidFill>
                      <a:srgbClr val="F8FAFC"/>
                    </a:solidFill>
                  </a:tcPr>
                </a:tc>
                <a:extLst>
                  <a:ext uri="{0D108BD9-81ED-4DB2-BD59-A6C34878D82A}">
                    <a16:rowId xmlns:a16="http://schemas.microsoft.com/office/drawing/2014/main" val="10006"/>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4EA6D45A-D16C-2D94-7A3D-F90BD845AE4F}"/>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G · DATA REALITY</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A formal Data Gap Analysis report has been prepared</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33</a:t>
            </a:r>
          </a:p>
        </p:txBody>
      </p:sp>
      <p:sp>
        <p:nvSpPr>
          <p:cNvPr id="8" name="TextBox 7"/>
          <p:cNvSpPr txBox="1"/>
          <p:nvPr/>
        </p:nvSpPr>
        <p:spPr>
          <a:xfrm>
            <a:off x="502920" y="141732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REPORT — HMD ↔ JSW DATA GAP ANALYSIS (V1.0)</a:t>
            </a:r>
          </a:p>
        </p:txBody>
      </p:sp>
      <p:sp>
        <p:nvSpPr>
          <p:cNvPr id="9" name="TextBox 8"/>
          <p:cNvSpPr txBox="1"/>
          <p:nvPr/>
        </p:nvSpPr>
        <p:spPr>
          <a:xfrm>
            <a:off x="502920" y="1783080"/>
            <a:ext cx="11338560" cy="914400"/>
          </a:xfrm>
          <a:prstGeom prst="rect">
            <a:avLst/>
          </a:prstGeom>
          <a:noFill/>
        </p:spPr>
        <p:txBody>
          <a:bodyPr wrap="square" lIns="45720" tIns="18288" rIns="45720" bIns="18288" anchor="t">
            <a:spAutoFit/>
          </a:bodyPr>
          <a:lstStyle/>
          <a:p>
            <a:pPr algn="l"/>
            <a:r>
              <a:rPr sz="1300" b="0" i="0">
                <a:solidFill>
                  <a:srgbClr val="1F2937"/>
                </a:solidFill>
                <a:latin typeface="Calibri"/>
              </a:rPr>
              <a:t>A detailed companion document inventories every data requirement of the HMD system, contrasts it with what JSW currently provides across four source systems, and identifies every gap — missing, inconsistent, or fragmented — that prevents the system from operating on reliable, deterministic data.</a:t>
            </a:r>
          </a:p>
        </p:txBody>
      </p:sp>
      <p:graphicFrame>
        <p:nvGraphicFramePr>
          <p:cNvPr id="10" name="Table 9"/>
          <p:cNvGraphicFramePr>
            <a:graphicFrameLocks noGrp="1"/>
          </p:cNvGraphicFramePr>
          <p:nvPr/>
        </p:nvGraphicFramePr>
        <p:xfrm>
          <a:off x="502920" y="2743200"/>
          <a:ext cx="1133856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391885">
                <a:tc>
                  <a:txBody>
                    <a:bodyPr/>
                    <a:lstStyle/>
                    <a:p>
                      <a:pPr algn="l"/>
                      <a:r>
                        <a:rPr sz="1100" b="1">
                          <a:solidFill>
                            <a:srgbClr val="FFFFFF"/>
                          </a:solidFill>
                          <a:latin typeface="Calibri"/>
                        </a:rPr>
                        <a:t>Aspect</a:t>
                      </a:r>
                    </a:p>
                  </a:txBody>
                  <a:tcPr>
                    <a:solidFill>
                      <a:srgbClr val="1E3A8A"/>
                    </a:solidFill>
                  </a:tcPr>
                </a:tc>
                <a:tc>
                  <a:txBody>
                    <a:bodyPr/>
                    <a:lstStyle/>
                    <a:p>
                      <a:pPr algn="l"/>
                      <a:r>
                        <a:rPr sz="1100" b="1">
                          <a:solidFill>
                            <a:srgbClr val="FFFFFF"/>
                          </a:solidFill>
                          <a:latin typeface="Calibri"/>
                        </a:rPr>
                        <a:t>Detail</a:t>
                      </a:r>
                    </a:p>
                  </a:txBody>
                  <a:tcPr>
                    <a:solidFill>
                      <a:srgbClr val="1E3A8A"/>
                    </a:solidFill>
                  </a:tcPr>
                </a:tc>
                <a:extLst>
                  <a:ext uri="{0D108BD9-81ED-4DB2-BD59-A6C34878D82A}">
                    <a16:rowId xmlns:a16="http://schemas.microsoft.com/office/drawing/2014/main" val="10000"/>
                  </a:ext>
                </a:extLst>
              </a:tr>
              <a:tr h="391885">
                <a:tc>
                  <a:txBody>
                    <a:bodyPr/>
                    <a:lstStyle/>
                    <a:p>
                      <a:pPr algn="l"/>
                      <a:r>
                        <a:rPr sz="1100" b="1">
                          <a:solidFill>
                            <a:srgbClr val="1E3A8A"/>
                          </a:solidFill>
                          <a:latin typeface="Calibri"/>
                        </a:rPr>
                        <a:t>Coverage</a:t>
                      </a:r>
                    </a:p>
                  </a:txBody>
                  <a:tcPr>
                    <a:solidFill>
                      <a:srgbClr val="FFFFFF"/>
                    </a:solidFill>
                  </a:tcPr>
                </a:tc>
                <a:tc>
                  <a:txBody>
                    <a:bodyPr/>
                    <a:lstStyle/>
                    <a:p>
                      <a:pPr algn="l"/>
                      <a:r>
                        <a:rPr sz="1100" b="0">
                          <a:solidFill>
                            <a:srgbClr val="1F2937"/>
                          </a:solidFill>
                          <a:latin typeface="Calibri"/>
                        </a:rPr>
                        <a:t>13 operational modules across 4 thematic clusters</a:t>
                      </a:r>
                    </a:p>
                  </a:txBody>
                  <a:tcPr>
                    <a:solidFill>
                      <a:srgbClr val="FFFFFF"/>
                    </a:solidFill>
                  </a:tcPr>
                </a:tc>
                <a:extLst>
                  <a:ext uri="{0D108BD9-81ED-4DB2-BD59-A6C34878D82A}">
                    <a16:rowId xmlns:a16="http://schemas.microsoft.com/office/drawing/2014/main" val="10001"/>
                  </a:ext>
                </a:extLst>
              </a:tr>
              <a:tr h="391885">
                <a:tc>
                  <a:txBody>
                    <a:bodyPr/>
                    <a:lstStyle/>
                    <a:p>
                      <a:pPr algn="l"/>
                      <a:r>
                        <a:rPr sz="1100" b="1">
                          <a:solidFill>
                            <a:srgbClr val="1E3A8A"/>
                          </a:solidFill>
                          <a:latin typeface="Calibri"/>
                        </a:rPr>
                        <a:t>Findings</a:t>
                      </a:r>
                    </a:p>
                  </a:txBody>
                  <a:tcPr>
                    <a:solidFill>
                      <a:srgbClr val="F8FAFC"/>
                    </a:solidFill>
                  </a:tcPr>
                </a:tc>
                <a:tc>
                  <a:txBody>
                    <a:bodyPr/>
                    <a:lstStyle/>
                    <a:p>
                      <a:pPr algn="l"/>
                      <a:r>
                        <a:rPr sz="1100" b="0">
                          <a:solidFill>
                            <a:srgbClr val="1F2937"/>
                          </a:solidFill>
                          <a:latin typeface="Calibri"/>
                        </a:rPr>
                        <a:t>30 distinct data gaps + 5 cross-references</a:t>
                      </a:r>
                    </a:p>
                  </a:txBody>
                  <a:tcPr>
                    <a:solidFill>
                      <a:srgbClr val="F8FAFC"/>
                    </a:solidFill>
                  </a:tcPr>
                </a:tc>
                <a:extLst>
                  <a:ext uri="{0D108BD9-81ED-4DB2-BD59-A6C34878D82A}">
                    <a16:rowId xmlns:a16="http://schemas.microsoft.com/office/drawing/2014/main" val="10002"/>
                  </a:ext>
                </a:extLst>
              </a:tr>
              <a:tr h="391885">
                <a:tc>
                  <a:txBody>
                    <a:bodyPr/>
                    <a:lstStyle/>
                    <a:p>
                      <a:pPr algn="l"/>
                      <a:r>
                        <a:rPr sz="1100" b="1">
                          <a:solidFill>
                            <a:srgbClr val="1E3A8A"/>
                          </a:solidFill>
                          <a:latin typeface="Calibri"/>
                        </a:rPr>
                        <a:t>Severity breakdown</a:t>
                      </a:r>
                    </a:p>
                  </a:txBody>
                  <a:tcPr>
                    <a:solidFill>
                      <a:srgbClr val="FFFFFF"/>
                    </a:solidFill>
                  </a:tcPr>
                </a:tc>
                <a:tc>
                  <a:txBody>
                    <a:bodyPr/>
                    <a:lstStyle/>
                    <a:p>
                      <a:pPr algn="l"/>
                      <a:r>
                        <a:rPr sz="1100" b="0">
                          <a:solidFill>
                            <a:srgbClr val="1F2937"/>
                          </a:solidFill>
                          <a:latin typeface="Calibri"/>
                        </a:rPr>
                        <a:t>7 BLOCKER · 17 SIGNIFICANT · 5 INCONSISTENT · 1 ENHANCEMENT</a:t>
                      </a:r>
                    </a:p>
                  </a:txBody>
                  <a:tcPr>
                    <a:solidFill>
                      <a:srgbClr val="FFFFFF"/>
                    </a:solidFill>
                  </a:tcPr>
                </a:tc>
                <a:extLst>
                  <a:ext uri="{0D108BD9-81ED-4DB2-BD59-A6C34878D82A}">
                    <a16:rowId xmlns:a16="http://schemas.microsoft.com/office/drawing/2014/main" val="10003"/>
                  </a:ext>
                </a:extLst>
              </a:tr>
              <a:tr h="391885">
                <a:tc>
                  <a:txBody>
                    <a:bodyPr/>
                    <a:lstStyle/>
                    <a:p>
                      <a:pPr algn="l"/>
                      <a:r>
                        <a:rPr sz="1100" b="1">
                          <a:solidFill>
                            <a:srgbClr val="1E3A8A"/>
                          </a:solidFill>
                          <a:latin typeface="Calibri"/>
                        </a:rPr>
                        <a:t>Per-gap content</a:t>
                      </a:r>
                    </a:p>
                  </a:txBody>
                  <a:tcPr>
                    <a:solidFill>
                      <a:srgbClr val="F8FAFC"/>
                    </a:solidFill>
                  </a:tcPr>
                </a:tc>
                <a:tc>
                  <a:txBody>
                    <a:bodyPr/>
                    <a:lstStyle/>
                    <a:p>
                      <a:pPr algn="l"/>
                      <a:r>
                        <a:rPr sz="1100" b="0">
                          <a:solidFill>
                            <a:srgbClr val="1F2937"/>
                          </a:solidFill>
                          <a:latin typeface="Calibri"/>
                        </a:rPr>
                        <a:t>9-field summary + technical detail + sample data + verification SQL</a:t>
                      </a:r>
                    </a:p>
                  </a:txBody>
                  <a:tcPr>
                    <a:solidFill>
                      <a:srgbClr val="F8FAFC"/>
                    </a:solidFill>
                  </a:tcPr>
                </a:tc>
                <a:extLst>
                  <a:ext uri="{0D108BD9-81ED-4DB2-BD59-A6C34878D82A}">
                    <a16:rowId xmlns:a16="http://schemas.microsoft.com/office/drawing/2014/main" val="10004"/>
                  </a:ext>
                </a:extLst>
              </a:tr>
              <a:tr h="391885">
                <a:tc>
                  <a:txBody>
                    <a:bodyPr/>
                    <a:lstStyle/>
                    <a:p>
                      <a:pPr algn="l"/>
                      <a:r>
                        <a:rPr sz="1100" b="1">
                          <a:solidFill>
                            <a:srgbClr val="1E3A8A"/>
                          </a:solidFill>
                          <a:latin typeface="Calibri"/>
                        </a:rPr>
                        <a:t>Owner tagging</a:t>
                      </a:r>
                    </a:p>
                  </a:txBody>
                  <a:tcPr>
                    <a:solidFill>
                      <a:srgbClr val="FFFFFF"/>
                    </a:solidFill>
                  </a:tcPr>
                </a:tc>
                <a:tc>
                  <a:txBody>
                    <a:bodyPr/>
                    <a:lstStyle/>
                    <a:p>
                      <a:pPr algn="l"/>
                      <a:r>
                        <a:rPr sz="1100" b="0">
                          <a:solidFill>
                            <a:srgbClr val="1F2937"/>
                          </a:solidFill>
                          <a:latin typeface="Calibri"/>
                        </a:rPr>
                        <a:t>Each gap routed to: JSW IT / JSW Operations / JSW Planning / Vendor</a:t>
                      </a:r>
                    </a:p>
                  </a:txBody>
                  <a:tcPr>
                    <a:solidFill>
                      <a:srgbClr val="FFFFFF"/>
                    </a:solidFill>
                  </a:tcPr>
                </a:tc>
                <a:extLst>
                  <a:ext uri="{0D108BD9-81ED-4DB2-BD59-A6C34878D82A}">
                    <a16:rowId xmlns:a16="http://schemas.microsoft.com/office/drawing/2014/main" val="10005"/>
                  </a:ext>
                </a:extLst>
              </a:tr>
              <a:tr h="391890">
                <a:tc>
                  <a:txBody>
                    <a:bodyPr/>
                    <a:lstStyle/>
                    <a:p>
                      <a:pPr algn="l"/>
                      <a:r>
                        <a:rPr sz="1100" b="1">
                          <a:solidFill>
                            <a:srgbClr val="1E3A8A"/>
                          </a:solidFill>
                          <a:latin typeface="Calibri"/>
                        </a:rPr>
                        <a:t>Companion document</a:t>
                      </a:r>
                    </a:p>
                  </a:txBody>
                  <a:tcPr>
                    <a:solidFill>
                      <a:srgbClr val="F8FAFC"/>
                    </a:solidFill>
                  </a:tcPr>
                </a:tc>
                <a:tc>
                  <a:txBody>
                    <a:bodyPr/>
                    <a:lstStyle/>
                    <a:p>
                      <a:pPr algn="l"/>
                      <a:r>
                        <a:rPr sz="1100" b="0">
                          <a:solidFill>
                            <a:srgbClr val="1F2937"/>
                          </a:solidFill>
                          <a:latin typeface="Calibri"/>
                        </a:rPr>
                        <a:t>Available as a separate PDF for technical review</a:t>
                      </a:r>
                    </a:p>
                  </a:txBody>
                  <a:tcPr>
                    <a:solidFill>
                      <a:srgbClr val="F8FAFC"/>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502920" y="5760720"/>
            <a:ext cx="11338560" cy="640080"/>
          </a:xfrm>
          <a:prstGeom prst="rect">
            <a:avLst/>
          </a:prstGeom>
          <a:noFill/>
        </p:spPr>
        <p:txBody>
          <a:bodyPr wrap="square" lIns="45720" tIns="18288" rIns="45720" bIns="18288" anchor="t">
            <a:spAutoFit/>
          </a:bodyPr>
          <a:lstStyle/>
          <a:p>
            <a:pPr algn="l"/>
            <a:r>
              <a:rPr sz="1100" b="0" i="1">
                <a:solidFill>
                  <a:srgbClr val="4B5563"/>
                </a:solidFill>
                <a:latin typeface="Calibri"/>
              </a:rPr>
              <a:t>The Data Gap Analysis document is grounded in direct schema inspection and concrete query evidence collected during May 2026. It is structured to be acted on per gap by JSW IT, JSW Operations, and JSW Planning.</a:t>
            </a:r>
          </a:p>
        </p:txBody>
      </p:sp>
      <p:pic>
        <p:nvPicPr>
          <p:cNvPr id="12" name="Picture 11" descr="A purple and orange text&#10;&#10;AI-generated content may be incorrect.">
            <a:extLst>
              <a:ext uri="{FF2B5EF4-FFF2-40B4-BE49-F238E27FC236}">
                <a16:creationId xmlns:a16="http://schemas.microsoft.com/office/drawing/2014/main" id="{CFF2831F-B20F-91C7-EE55-1EDAE04FD60B}"/>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H</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Clarifications Needed from JSW</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Specific items where Deevia requires confirmation or input to proceed.</a:t>
            </a:r>
          </a:p>
        </p:txBody>
      </p:sp>
      <p:pic>
        <p:nvPicPr>
          <p:cNvPr id="6" name="Picture 5">
            <a:extLst>
              <a:ext uri="{FF2B5EF4-FFF2-40B4-BE49-F238E27FC236}">
                <a16:creationId xmlns:a16="http://schemas.microsoft.com/office/drawing/2014/main" id="{8BC8929A-81BE-0975-45AD-E18859AE346C}"/>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H · CLARIFICATIONS NEEDED FROM JSW</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1. End-user identification and engagement</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35</a:t>
            </a:r>
          </a:p>
        </p:txBody>
      </p:sp>
      <p:sp>
        <p:nvSpPr>
          <p:cNvPr id="8" name="TextBox 7"/>
          <p:cNvSpPr txBox="1"/>
          <p:nvPr/>
        </p:nvSpPr>
        <p:spPr>
          <a:xfrm>
            <a:off x="502920" y="146304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WHAT WE NEED</a:t>
            </a:r>
          </a:p>
        </p:txBody>
      </p:sp>
      <p:sp>
        <p:nvSpPr>
          <p:cNvPr id="9" name="TextBox 8"/>
          <p:cNvSpPr txBox="1"/>
          <p:nvPr/>
        </p:nvSpPr>
        <p:spPr>
          <a:xfrm>
            <a:off x="502920" y="1783080"/>
            <a:ext cx="11338560" cy="201168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Identification of the day-to-day operators of the HMD system at JSW.</a:t>
            </a:r>
          </a:p>
          <a:p>
            <a:pPr>
              <a:lnSpc>
                <a:spcPct val="115000"/>
              </a:lnSpc>
              <a:spcAft>
                <a:spcPts val="200"/>
              </a:spcAft>
              <a:buChar char="■"/>
            </a:pPr>
            <a:r>
              <a:rPr sz="1300">
                <a:solidFill>
                  <a:srgbClr val="1F2937"/>
                </a:solidFill>
                <a:latin typeface="Calibri"/>
              </a:rPr>
              <a:t>A working session with those end users to understand how they perform hot-metal distribution today — current tools, current pain points, current decision flow.</a:t>
            </a:r>
          </a:p>
          <a:p>
            <a:pPr>
              <a:lnSpc>
                <a:spcPct val="115000"/>
              </a:lnSpc>
              <a:spcAft>
                <a:spcPts val="200"/>
              </a:spcAft>
              <a:buChar char="■"/>
            </a:pPr>
            <a:r>
              <a:rPr sz="1300">
                <a:solidFill>
                  <a:srgbClr val="1F2937"/>
                </a:solidFill>
                <a:latin typeface="Calibri"/>
              </a:rPr>
              <a:t>Their input on which HMD features map best to their current operational practice — and which features need adaptation.</a:t>
            </a:r>
          </a:p>
        </p:txBody>
      </p:sp>
      <p:sp>
        <p:nvSpPr>
          <p:cNvPr id="10" name="TextBox 9"/>
          <p:cNvSpPr txBox="1"/>
          <p:nvPr/>
        </p:nvSpPr>
        <p:spPr>
          <a:xfrm>
            <a:off x="502920" y="365760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WHY THIS MATTERS</a:t>
            </a:r>
          </a:p>
        </p:txBody>
      </p:sp>
      <p:sp>
        <p:nvSpPr>
          <p:cNvPr id="11" name="TextBox 10"/>
          <p:cNvSpPr txBox="1"/>
          <p:nvPr/>
        </p:nvSpPr>
        <p:spPr>
          <a:xfrm>
            <a:off x="502920" y="3977639"/>
            <a:ext cx="11338560" cy="228600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The application is built to specification, but field-level usability depends on operator workflow.</a:t>
            </a:r>
          </a:p>
          <a:p>
            <a:pPr>
              <a:lnSpc>
                <a:spcPct val="115000"/>
              </a:lnSpc>
              <a:spcAft>
                <a:spcPts val="200"/>
              </a:spcAft>
              <a:buChar char="■"/>
            </a:pPr>
            <a:r>
              <a:rPr sz="1300">
                <a:solidFill>
                  <a:srgbClr val="1F2937"/>
                </a:solidFill>
                <a:latin typeface="Calibri"/>
              </a:rPr>
              <a:t>End-user sessions surface details that data alone cannot — for example, what fields operators actually fill in during a shift versus what stays blank, and which decisions are made on-screen versus from a printed sheet.</a:t>
            </a:r>
          </a:p>
          <a:p>
            <a:pPr>
              <a:lnSpc>
                <a:spcPct val="115000"/>
              </a:lnSpc>
              <a:spcAft>
                <a:spcPts val="200"/>
              </a:spcAft>
              <a:buChar char="■"/>
            </a:pPr>
            <a:r>
              <a:rPr sz="1300">
                <a:solidFill>
                  <a:srgbClr val="1F2937"/>
                </a:solidFill>
                <a:latin typeface="Calibri"/>
              </a:rPr>
              <a:t>Early engagement also derisks the pilot phase (M4): a system trained operators can use confidently goes live more smoothly.</a:t>
            </a:r>
          </a:p>
        </p:txBody>
      </p:sp>
      <p:pic>
        <p:nvPicPr>
          <p:cNvPr id="12" name="Picture 11" descr="A purple and orange text&#10;&#10;AI-generated content may be incorrect.">
            <a:extLst>
              <a:ext uri="{FF2B5EF4-FFF2-40B4-BE49-F238E27FC236}">
                <a16:creationId xmlns:a16="http://schemas.microsoft.com/office/drawing/2014/main" id="{9ABCCC4F-63C6-84B0-9B0F-6B4263213CD8}"/>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H · CLARIFICATIONS NEEDED FROM JSW</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2. Production verification approach</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36</a:t>
            </a:r>
          </a:p>
        </p:txBody>
      </p:sp>
      <p:sp>
        <p:nvSpPr>
          <p:cNvPr id="8" name="TextBox 7"/>
          <p:cNvSpPr txBox="1"/>
          <p:nvPr/>
        </p:nvSpPr>
        <p:spPr>
          <a:xfrm>
            <a:off x="502920" y="146304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PROPOSED APPROACH</a:t>
            </a:r>
          </a:p>
        </p:txBody>
      </p:sp>
      <p:sp>
        <p:nvSpPr>
          <p:cNvPr id="9" name="TextBox 8"/>
          <p:cNvSpPr txBox="1"/>
          <p:nvPr/>
        </p:nvSpPr>
        <p:spPr>
          <a:xfrm>
            <a:off x="502920" y="1783080"/>
            <a:ext cx="11338560" cy="2743200"/>
          </a:xfrm>
          <a:prstGeom prst="rect">
            <a:avLst/>
          </a:prstGeom>
          <a:noFill/>
        </p:spPr>
        <p:txBody>
          <a:bodyPr wrap="square" lIns="45720">
            <a:spAutoFit/>
          </a:bodyPr>
          <a:lstStyle/>
          <a:p>
            <a:pPr>
              <a:lnSpc>
                <a:spcPct val="115000"/>
              </a:lnSpc>
              <a:spcAft>
                <a:spcPts val="200"/>
              </a:spcAft>
              <a:buChar char="■"/>
            </a:pPr>
            <a:r>
              <a:rPr sz="1250">
                <a:solidFill>
                  <a:srgbClr val="1F2937"/>
                </a:solidFill>
                <a:latin typeface="Calibri"/>
              </a:rPr>
              <a:t>Use trip data from both the producer side (WBATNGL) and the consumer side (HTS) as the primary signal for what was actually produced and consumed during a shift, day, or month.</a:t>
            </a:r>
          </a:p>
          <a:p>
            <a:pPr>
              <a:lnSpc>
                <a:spcPct val="115000"/>
              </a:lnSpc>
              <a:spcAft>
                <a:spcPts val="200"/>
              </a:spcAft>
              <a:buChar char="■"/>
            </a:pPr>
            <a:r>
              <a:rPr sz="1250">
                <a:solidFill>
                  <a:srgbClr val="1F2937"/>
                </a:solidFill>
                <a:latin typeface="Calibri"/>
              </a:rPr>
              <a:t>Producer-side: sum of net-weight tonnes per producer over a period (covering all 7 BFs/COREX).</a:t>
            </a:r>
          </a:p>
          <a:p>
            <a:pPr>
              <a:lnSpc>
                <a:spcPct val="115000"/>
              </a:lnSpc>
              <a:spcAft>
                <a:spcPts val="200"/>
              </a:spcAft>
              <a:buChar char="■"/>
            </a:pPr>
            <a:r>
              <a:rPr sz="1250">
                <a:solidFill>
                  <a:srgbClr val="1F2937"/>
                </a:solidFill>
                <a:latin typeface="Calibri"/>
              </a:rPr>
              <a:t>Consumer-side: sum of hot-metal-quantity tonnes received per converter over the same period (covering SMS-2 and SMS-4 with current access; SMS-1 / SMS-3 / SMS-2 caster pending JSW input).</a:t>
            </a:r>
          </a:p>
          <a:p>
            <a:pPr>
              <a:lnSpc>
                <a:spcPct val="115000"/>
              </a:lnSpc>
              <a:spcAft>
                <a:spcPts val="200"/>
              </a:spcAft>
              <a:buChar char="■"/>
            </a:pPr>
            <a:r>
              <a:rPr sz="1250">
                <a:solidFill>
                  <a:srgbClr val="1F2937"/>
                </a:solidFill>
                <a:latin typeface="Calibri"/>
              </a:rPr>
              <a:t>Any persistent discrepancy between producer and consumer totals would be the operational signal — slag carryback, route losses, weighing drift, or missing nodes.</a:t>
            </a:r>
          </a:p>
        </p:txBody>
      </p:sp>
      <p:sp>
        <p:nvSpPr>
          <p:cNvPr id="10" name="TextBox 9"/>
          <p:cNvSpPr txBox="1"/>
          <p:nvPr/>
        </p:nvSpPr>
        <p:spPr>
          <a:xfrm>
            <a:off x="502920" y="475488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CONFIRMATION REQUESTED</a:t>
            </a:r>
          </a:p>
        </p:txBody>
      </p:sp>
      <p:sp>
        <p:nvSpPr>
          <p:cNvPr id="11" name="TextBox 10"/>
          <p:cNvSpPr txBox="1"/>
          <p:nvPr/>
        </p:nvSpPr>
        <p:spPr>
          <a:xfrm>
            <a:off x="502920" y="5074920"/>
            <a:ext cx="11338560" cy="137160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Is this approach aligned with JSW's current production-reporting methodology, or is there a different reconciliation method in use today?</a:t>
            </a:r>
          </a:p>
          <a:p>
            <a:pPr>
              <a:lnSpc>
                <a:spcPct val="115000"/>
              </a:lnSpc>
              <a:spcAft>
                <a:spcPts val="200"/>
              </a:spcAft>
              <a:buChar char="■"/>
            </a:pPr>
            <a:r>
              <a:rPr sz="1300">
                <a:solidFill>
                  <a:srgbClr val="1F2937"/>
                </a:solidFill>
                <a:latin typeface="Calibri"/>
              </a:rPr>
              <a:t>Who at JSW signs off on the daily / weekly / monthly production numbers, and what data sources do they use today?</a:t>
            </a:r>
          </a:p>
        </p:txBody>
      </p:sp>
      <p:pic>
        <p:nvPicPr>
          <p:cNvPr id="12" name="Picture 11" descr="A purple and orange text&#10;&#10;AI-generated content may be incorrect.">
            <a:extLst>
              <a:ext uri="{FF2B5EF4-FFF2-40B4-BE49-F238E27FC236}">
                <a16:creationId xmlns:a16="http://schemas.microsoft.com/office/drawing/2014/main" id="{B0767680-E450-C4C2-45E5-F9D4EDD1248F}"/>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H · CLARIFICATIONS NEEDED FROM JSW</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3. Geofencing — required for the live tracking module to function reliably</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37</a:t>
            </a:r>
          </a:p>
        </p:txBody>
      </p:sp>
      <p:sp>
        <p:nvSpPr>
          <p:cNvPr id="8" name="Rectangle 7"/>
          <p:cNvSpPr/>
          <p:nvPr/>
        </p:nvSpPr>
        <p:spPr>
          <a:xfrm>
            <a:off x="502920" y="1417320"/>
            <a:ext cx="11338560" cy="6400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11338560" cy="640080"/>
          </a:xfrm>
          <a:prstGeom prst="rect">
            <a:avLst/>
          </a:prstGeom>
          <a:noFill/>
        </p:spPr>
        <p:txBody>
          <a:bodyPr wrap="square" lIns="45720" tIns="18288" rIns="45720" bIns="18288" anchor="ctr">
            <a:spAutoFit/>
          </a:bodyPr>
          <a:lstStyle/>
          <a:p>
            <a:pPr algn="ctr"/>
            <a:r>
              <a:rPr sz="1400" b="1" i="0">
                <a:solidFill>
                  <a:srgbClr val="FFFFFF"/>
                </a:solidFill>
                <a:latin typeface="Calibri"/>
              </a:rPr>
              <a:t>GEOFENCE POLYGONS ARE A MUST-HAVE — CURRENTLY NOT AVAILABLE FROM ANY SOURCE</a:t>
            </a:r>
          </a:p>
        </p:txBody>
      </p:sp>
      <p:sp>
        <p:nvSpPr>
          <p:cNvPr id="10" name="TextBox 9"/>
          <p:cNvSpPr txBox="1"/>
          <p:nvPr/>
        </p:nvSpPr>
        <p:spPr>
          <a:xfrm>
            <a:off x="502920" y="228600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WHAT IS NEEDED</a:t>
            </a:r>
          </a:p>
        </p:txBody>
      </p:sp>
      <p:sp>
        <p:nvSpPr>
          <p:cNvPr id="11" name="TextBox 10"/>
          <p:cNvSpPr txBox="1"/>
          <p:nvPr/>
        </p:nvSpPr>
        <p:spPr>
          <a:xfrm>
            <a:off x="502920" y="2606040"/>
            <a:ext cx="11338560" cy="2011680"/>
          </a:xfrm>
          <a:prstGeom prst="rect">
            <a:avLst/>
          </a:prstGeom>
          <a:noFill/>
        </p:spPr>
        <p:txBody>
          <a:bodyPr wrap="square" lIns="45720">
            <a:spAutoFit/>
          </a:bodyPr>
          <a:lstStyle/>
          <a:p>
            <a:pPr>
              <a:lnSpc>
                <a:spcPct val="115000"/>
              </a:lnSpc>
              <a:spcAft>
                <a:spcPts val="200"/>
              </a:spcAft>
              <a:buChar char="■"/>
            </a:pPr>
            <a:r>
              <a:rPr sz="1200">
                <a:solidFill>
                  <a:srgbClr val="1F2937"/>
                </a:solidFill>
                <a:latin typeface="Calibri"/>
              </a:rPr>
              <a:t>Polygon coordinates (latitude/longitude vertex list) for every operational plant node — producers (BF1–BF5, COREX1, COREX2), consumers (SMS-1 through SMS-4), all weighbridges, intermediate yards, gates, and pouring stations.</a:t>
            </a:r>
          </a:p>
          <a:p>
            <a:pPr>
              <a:lnSpc>
                <a:spcPct val="115000"/>
              </a:lnSpc>
              <a:spcAft>
                <a:spcPts val="200"/>
              </a:spcAft>
              <a:buChar char="■"/>
            </a:pPr>
            <a:r>
              <a:rPr sz="1200">
                <a:solidFill>
                  <a:srgbClr val="1F2937"/>
                </a:solidFill>
                <a:latin typeface="Calibri"/>
              </a:rPr>
              <a:t>A canonical list of every named plant node in use — including the intermediate locations that appear in SuVeechi tracking data (LRS1, LRS2, SMS2 North PS, HMY1 PCM, BF4 Entry, EY-AVTC Gate, SY-Track Hopper, etc.).</a:t>
            </a:r>
          </a:p>
          <a:p>
            <a:pPr>
              <a:lnSpc>
                <a:spcPct val="115000"/>
              </a:lnSpc>
              <a:spcAft>
                <a:spcPts val="200"/>
              </a:spcAft>
              <a:buChar char="■"/>
            </a:pPr>
            <a:r>
              <a:rPr sz="1200">
                <a:solidFill>
                  <a:srgbClr val="1F2937"/>
                </a:solidFill>
                <a:latin typeface="Calibri"/>
              </a:rPr>
              <a:t>Each node's role classification — producer / consumer / weighbridge / yard / intermediate / gate.</a:t>
            </a:r>
          </a:p>
        </p:txBody>
      </p:sp>
      <p:sp>
        <p:nvSpPr>
          <p:cNvPr id="12" name="TextBox 11"/>
          <p:cNvSpPr txBox="1"/>
          <p:nvPr/>
        </p:nvSpPr>
        <p:spPr>
          <a:xfrm>
            <a:off x="502920" y="475488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WHERE TO GET THESE</a:t>
            </a:r>
          </a:p>
        </p:txBody>
      </p:sp>
      <p:sp>
        <p:nvSpPr>
          <p:cNvPr id="13" name="TextBox 12"/>
          <p:cNvSpPr txBox="1"/>
          <p:nvPr/>
        </p:nvSpPr>
        <p:spPr>
          <a:xfrm>
            <a:off x="502920" y="5074920"/>
            <a:ext cx="11338560" cy="1463040"/>
          </a:xfrm>
          <a:prstGeom prst="rect">
            <a:avLst/>
          </a:prstGeom>
          <a:noFill/>
        </p:spPr>
        <p:txBody>
          <a:bodyPr wrap="square" lIns="45720">
            <a:spAutoFit/>
          </a:bodyPr>
          <a:lstStyle/>
          <a:p>
            <a:pPr>
              <a:lnSpc>
                <a:spcPct val="115000"/>
              </a:lnSpc>
              <a:spcAft>
                <a:spcPts val="200"/>
              </a:spcAft>
              <a:buChar char="■"/>
            </a:pPr>
            <a:r>
              <a:rPr sz="1200">
                <a:solidFill>
                  <a:srgbClr val="1F2937"/>
                </a:solidFill>
                <a:latin typeface="Calibri"/>
              </a:rPr>
              <a:t>Most likely already maintained internally by the SuVeechi vendor (the location-text strings in their feed are evidence of internal geofences).</a:t>
            </a:r>
          </a:p>
          <a:p>
            <a:pPr>
              <a:lnSpc>
                <a:spcPct val="115000"/>
              </a:lnSpc>
              <a:spcAft>
                <a:spcPts val="200"/>
              </a:spcAft>
              <a:buChar char="■"/>
            </a:pPr>
            <a:r>
              <a:rPr sz="1200">
                <a:solidFill>
                  <a:srgbClr val="1F2937"/>
                </a:solidFill>
                <a:latin typeface="Calibri"/>
              </a:rPr>
              <a:t>Alternatively, JSW Operations could provide based on plant layout drawings — even rough polygons would be a significant improvement over single-point coordinates.</a:t>
            </a:r>
          </a:p>
          <a:p>
            <a:pPr>
              <a:lnSpc>
                <a:spcPct val="115000"/>
              </a:lnSpc>
              <a:spcAft>
                <a:spcPts val="200"/>
              </a:spcAft>
              <a:buChar char="■"/>
            </a:pPr>
            <a:r>
              <a:rPr sz="1200">
                <a:solidFill>
                  <a:srgbClr val="1F2937"/>
                </a:solidFill>
                <a:latin typeface="Calibri"/>
              </a:rPr>
              <a:t>Once received, geofences will be loaded into HMD and used to derive deterministic entry/exit/dwell events for every torpedo.</a:t>
            </a:r>
          </a:p>
        </p:txBody>
      </p:sp>
      <p:pic>
        <p:nvPicPr>
          <p:cNvPr id="14" name="Picture 13" descr="A purple and orange text&#10;&#10;AI-generated content may be incorrect.">
            <a:extLst>
              <a:ext uri="{FF2B5EF4-FFF2-40B4-BE49-F238E27FC236}">
                <a16:creationId xmlns:a16="http://schemas.microsoft.com/office/drawing/2014/main" id="{D590D889-E7F1-279A-3073-4B7CDA5FB8DE}"/>
              </a:ext>
            </a:extLst>
          </p:cNvPr>
          <p:cNvPicPr>
            <a:picLocks noChangeAspect="1"/>
          </p:cNvPicPr>
          <p:nvPr/>
        </p:nvPicPr>
        <p:blipFill>
          <a:blip r:embed="rId2"/>
          <a:stretch>
            <a:fillRect/>
          </a:stretch>
        </p:blipFill>
        <p:spPr>
          <a:xfrm>
            <a:off x="10165082" y="6209348"/>
            <a:ext cx="1523998" cy="44291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548640"/>
          </a:xfrm>
          <a:prstGeom prst="rect">
            <a:avLst/>
          </a:prstGeom>
          <a:noFill/>
        </p:spPr>
        <p:txBody>
          <a:bodyPr wrap="square" lIns="45720" tIns="18288" rIns="45720" bIns="18288" anchor="t">
            <a:spAutoFit/>
          </a:bodyPr>
          <a:lstStyle/>
          <a:p>
            <a:pPr algn="l"/>
            <a:r>
              <a:rPr sz="1800" b="1" i="0">
                <a:solidFill>
                  <a:srgbClr val="C28B1B"/>
                </a:solidFill>
                <a:latin typeface="Calibri"/>
              </a:rPr>
              <a:t>SECTION I</a:t>
            </a:r>
          </a:p>
        </p:txBody>
      </p:sp>
      <p:sp>
        <p:nvSpPr>
          <p:cNvPr id="4" name="TextBox 3"/>
          <p:cNvSpPr txBox="1"/>
          <p:nvPr/>
        </p:nvSpPr>
        <p:spPr>
          <a:xfrm>
            <a:off x="914400" y="2743200"/>
            <a:ext cx="10332720" cy="1371600"/>
          </a:xfrm>
          <a:prstGeom prst="rect">
            <a:avLst/>
          </a:prstGeom>
          <a:noFill/>
        </p:spPr>
        <p:txBody>
          <a:bodyPr wrap="square" lIns="45720" tIns="18288" rIns="45720" bIns="18288" anchor="t">
            <a:spAutoFit/>
          </a:bodyPr>
          <a:lstStyle/>
          <a:p>
            <a:pPr algn="l"/>
            <a:r>
              <a:rPr sz="4600" b="1" i="0">
                <a:solidFill>
                  <a:srgbClr val="FFFFFF"/>
                </a:solidFill>
                <a:latin typeface="Calibri"/>
              </a:rPr>
              <a:t>Path Forward</a:t>
            </a:r>
          </a:p>
        </p:txBody>
      </p:sp>
      <p:sp>
        <p:nvSpPr>
          <p:cNvPr id="5" name="TextBox 4"/>
          <p:cNvSpPr txBox="1"/>
          <p:nvPr/>
        </p:nvSpPr>
        <p:spPr>
          <a:xfrm>
            <a:off x="914400" y="4206240"/>
            <a:ext cx="10332720" cy="640080"/>
          </a:xfrm>
          <a:prstGeom prst="rect">
            <a:avLst/>
          </a:prstGeom>
          <a:noFill/>
        </p:spPr>
        <p:txBody>
          <a:bodyPr wrap="square" lIns="45720" tIns="18288" rIns="45720" bIns="18288" anchor="t">
            <a:spAutoFit/>
          </a:bodyPr>
          <a:lstStyle/>
          <a:p>
            <a:pPr algn="l"/>
            <a:r>
              <a:rPr sz="1800" b="0" i="1">
                <a:solidFill>
                  <a:srgbClr val="C7D2FE"/>
                </a:solidFill>
                <a:latin typeface="Calibri"/>
              </a:rPr>
              <a:t>Open dependencies, next steps, and the completion forecast.</a:t>
            </a:r>
          </a:p>
        </p:txBody>
      </p:sp>
      <p:pic>
        <p:nvPicPr>
          <p:cNvPr id="6" name="Picture 5">
            <a:extLst>
              <a:ext uri="{FF2B5EF4-FFF2-40B4-BE49-F238E27FC236}">
                <a16:creationId xmlns:a16="http://schemas.microsoft.com/office/drawing/2014/main" id="{DC5553E5-9769-9E27-5033-4D12B8FEE472}"/>
              </a:ext>
            </a:extLst>
          </p:cNvPr>
          <p:cNvPicPr>
            <a:picLocks noChangeAspect="1"/>
          </p:cNvPicPr>
          <p:nvPr/>
        </p:nvPicPr>
        <p:blipFill>
          <a:blip r:embed="rId2"/>
          <a:stretch>
            <a:fillRect/>
          </a:stretch>
        </p:blipFill>
        <p:spPr>
          <a:xfrm>
            <a:off x="10485120" y="269939"/>
            <a:ext cx="1524000" cy="4476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I · PATH FORWARD</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Pending dependencies and next steps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39</a:t>
            </a:r>
          </a:p>
        </p:txBody>
      </p:sp>
      <p:graphicFrame>
        <p:nvGraphicFramePr>
          <p:cNvPr id="8" name="Table 7"/>
          <p:cNvGraphicFramePr>
            <a:graphicFrameLocks noGrp="1"/>
          </p:cNvGraphicFramePr>
          <p:nvPr>
            <p:extLst>
              <p:ext uri="{D42A27DB-BD31-4B8C-83A1-F6EECF244321}">
                <p14:modId xmlns:p14="http://schemas.microsoft.com/office/powerpoint/2010/main" val="2530707751"/>
              </p:ext>
            </p:extLst>
          </p:nvPr>
        </p:nvGraphicFramePr>
        <p:xfrm>
          <a:off x="502920" y="1417320"/>
          <a:ext cx="11338560" cy="3048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08000">
                <a:tc>
                  <a:txBody>
                    <a:bodyPr/>
                    <a:lstStyle/>
                    <a:p>
                      <a:pPr algn="l"/>
                      <a:r>
                        <a:rPr sz="1100" b="1">
                          <a:solidFill>
                            <a:srgbClr val="FFFFFF"/>
                          </a:solidFill>
                          <a:latin typeface="Calibri"/>
                        </a:rPr>
                        <a:t>ID</a:t>
                      </a:r>
                    </a:p>
                  </a:txBody>
                  <a:tcPr>
                    <a:solidFill>
                      <a:srgbClr val="1E3A8A"/>
                    </a:solidFill>
                  </a:tcPr>
                </a:tc>
                <a:tc>
                  <a:txBody>
                    <a:bodyPr/>
                    <a:lstStyle/>
                    <a:p>
                      <a:pPr algn="l"/>
                      <a:r>
                        <a:rPr sz="1100" b="1">
                          <a:solidFill>
                            <a:srgbClr val="FFFFFF"/>
                          </a:solidFill>
                          <a:latin typeface="Calibri"/>
                        </a:rPr>
                        <a:t>Item</a:t>
                      </a:r>
                    </a:p>
                  </a:txBody>
                  <a:tcPr>
                    <a:solidFill>
                      <a:srgbClr val="1E3A8A"/>
                    </a:solidFill>
                  </a:tcPr>
                </a:tc>
                <a:tc>
                  <a:txBody>
                    <a:bodyPr/>
                    <a:lstStyle/>
                    <a:p>
                      <a:pPr algn="l"/>
                      <a:r>
                        <a:rPr sz="1100" b="1">
                          <a:solidFill>
                            <a:srgbClr val="FFFFFF"/>
                          </a:solidFill>
                          <a:latin typeface="Calibri"/>
                        </a:rPr>
                        <a:t>Owner</a:t>
                      </a:r>
                    </a:p>
                  </a:txBody>
                  <a:tcPr>
                    <a:solidFill>
                      <a:srgbClr val="1E3A8A"/>
                    </a:solidFill>
                  </a:tcPr>
                </a:tc>
                <a:tc>
                  <a:txBody>
                    <a:bodyPr/>
                    <a:lstStyle/>
                    <a:p>
                      <a:pPr algn="l"/>
                      <a:r>
                        <a:rPr sz="1100" b="1">
                          <a:solidFill>
                            <a:srgbClr val="FFFFFF"/>
                          </a:solidFill>
                          <a:latin typeface="Calibri"/>
                        </a:rPr>
                        <a:t>Status</a:t>
                      </a:r>
                    </a:p>
                  </a:txBody>
                  <a:tcPr>
                    <a:solidFill>
                      <a:srgbClr val="1E3A8A"/>
                    </a:solidFill>
                  </a:tcPr>
                </a:tc>
                <a:tc>
                  <a:txBody>
                    <a:bodyPr/>
                    <a:lstStyle/>
                    <a:p>
                      <a:pPr algn="l"/>
                      <a:r>
                        <a:rPr sz="1100" b="1">
                          <a:solidFill>
                            <a:srgbClr val="FFFFFF"/>
                          </a:solidFill>
                          <a:latin typeface="Calibri"/>
                        </a:rPr>
                        <a:t>Timeline</a:t>
                      </a:r>
                    </a:p>
                  </a:txBody>
                  <a:tcPr>
                    <a:solidFill>
                      <a:srgbClr val="1E3A8A"/>
                    </a:solidFill>
                  </a:tcPr>
                </a:tc>
                <a:extLst>
                  <a:ext uri="{0D108BD9-81ED-4DB2-BD59-A6C34878D82A}">
                    <a16:rowId xmlns:a16="http://schemas.microsoft.com/office/drawing/2014/main" val="10000"/>
                  </a:ext>
                </a:extLst>
              </a:tr>
              <a:tr h="508000">
                <a:tc>
                  <a:txBody>
                    <a:bodyPr/>
                    <a:lstStyle/>
                    <a:p>
                      <a:pPr algn="l"/>
                      <a:r>
                        <a:rPr sz="1000" b="1">
                          <a:solidFill>
                            <a:srgbClr val="1E3A8A"/>
                          </a:solidFill>
                          <a:latin typeface="Calibri"/>
                        </a:rPr>
                        <a:t>DEP002</a:t>
                      </a:r>
                    </a:p>
                  </a:txBody>
                  <a:tcPr>
                    <a:solidFill>
                      <a:srgbClr val="FFFFFF"/>
                    </a:solidFill>
                  </a:tcPr>
                </a:tc>
                <a:tc>
                  <a:txBody>
                    <a:bodyPr/>
                    <a:lstStyle/>
                    <a:p>
                      <a:pPr algn="l"/>
                      <a:r>
                        <a:rPr sz="1000" b="0">
                          <a:solidFill>
                            <a:srgbClr val="1F2937"/>
                          </a:solidFill>
                          <a:latin typeface="Calibri"/>
                        </a:rPr>
                        <a:t>Level 1/2 production signals + Production Plan access</a:t>
                      </a:r>
                    </a:p>
                  </a:txBody>
                  <a:tcPr>
                    <a:solidFill>
                      <a:srgbClr val="FFFFFF"/>
                    </a:solidFill>
                  </a:tcPr>
                </a:tc>
                <a:tc>
                  <a:txBody>
                    <a:bodyPr/>
                    <a:lstStyle/>
                    <a:p>
                      <a:pPr algn="l"/>
                      <a:r>
                        <a:rPr sz="1000" b="0">
                          <a:solidFill>
                            <a:srgbClr val="1F2937"/>
                          </a:solidFill>
                          <a:latin typeface="Calibri"/>
                        </a:rPr>
                        <a:t>JSW Operations</a:t>
                      </a:r>
                    </a:p>
                  </a:txBody>
                  <a:tcPr>
                    <a:solidFill>
                      <a:srgbClr val="FFFFFF"/>
                    </a:solidFill>
                  </a:tcPr>
                </a:tc>
                <a:tc>
                  <a:txBody>
                    <a:bodyPr/>
                    <a:lstStyle/>
                    <a:p>
                      <a:pPr algn="l"/>
                      <a:r>
                        <a:rPr sz="1000" b="1">
                          <a:solidFill>
                            <a:srgbClr val="B91C1C"/>
                          </a:solidFill>
                          <a:latin typeface="Calibri"/>
                        </a:rPr>
                        <a:t>Open · Overdue</a:t>
                      </a:r>
                    </a:p>
                  </a:txBody>
                  <a:tcPr>
                    <a:solidFill>
                      <a:srgbClr val="FFFFFF"/>
                    </a:solidFill>
                  </a:tcPr>
                </a:tc>
                <a:tc>
                  <a:txBody>
                    <a:bodyPr/>
                    <a:lstStyle/>
                    <a:p>
                      <a:pPr algn="l"/>
                      <a:r>
                        <a:rPr sz="1000" b="0">
                          <a:solidFill>
                            <a:srgbClr val="1F2937"/>
                          </a:solidFill>
                          <a:latin typeface="Calibri"/>
                        </a:rPr>
                        <a:t>Targeted: 30 days from this review</a:t>
                      </a:r>
                    </a:p>
                  </a:txBody>
                  <a:tcPr>
                    <a:solidFill>
                      <a:srgbClr val="FFFFFF"/>
                    </a:solidFill>
                  </a:tcPr>
                </a:tc>
                <a:extLst>
                  <a:ext uri="{0D108BD9-81ED-4DB2-BD59-A6C34878D82A}">
                    <a16:rowId xmlns:a16="http://schemas.microsoft.com/office/drawing/2014/main" val="10001"/>
                  </a:ext>
                </a:extLst>
              </a:tr>
              <a:tr h="508000">
                <a:tc>
                  <a:txBody>
                    <a:bodyPr/>
                    <a:lstStyle/>
                    <a:p>
                      <a:pPr algn="l"/>
                      <a:r>
                        <a:rPr sz="1000" b="1">
                          <a:solidFill>
                            <a:srgbClr val="1E3A8A"/>
                          </a:solidFill>
                          <a:latin typeface="Calibri"/>
                        </a:rPr>
                        <a:t>DEP005</a:t>
                      </a:r>
                    </a:p>
                  </a:txBody>
                  <a:tcPr>
                    <a:solidFill>
                      <a:srgbClr val="F8FAFC"/>
                    </a:solidFill>
                  </a:tcPr>
                </a:tc>
                <a:tc>
                  <a:txBody>
                    <a:bodyPr/>
                    <a:lstStyle/>
                    <a:p>
                      <a:pPr algn="l"/>
                      <a:r>
                        <a:rPr sz="1000" b="0">
                          <a:solidFill>
                            <a:srgbClr val="1F2937"/>
                          </a:solidFill>
                          <a:latin typeface="Calibri"/>
                        </a:rPr>
                        <a:t>Production / Consumption rules documentation</a:t>
                      </a:r>
                    </a:p>
                  </a:txBody>
                  <a:tcPr>
                    <a:solidFill>
                      <a:srgbClr val="F8FAFC"/>
                    </a:solidFill>
                  </a:tcPr>
                </a:tc>
                <a:tc>
                  <a:txBody>
                    <a:bodyPr/>
                    <a:lstStyle/>
                    <a:p>
                      <a:pPr algn="l"/>
                      <a:r>
                        <a:rPr sz="1000" b="0">
                          <a:solidFill>
                            <a:srgbClr val="1F2937"/>
                          </a:solidFill>
                          <a:latin typeface="Calibri"/>
                        </a:rPr>
                        <a:t>JSW Operations</a:t>
                      </a:r>
                    </a:p>
                  </a:txBody>
                  <a:tcPr>
                    <a:solidFill>
                      <a:srgbClr val="F8FAFC"/>
                    </a:solidFill>
                  </a:tcPr>
                </a:tc>
                <a:tc>
                  <a:txBody>
                    <a:bodyPr/>
                    <a:lstStyle/>
                    <a:p>
                      <a:pPr algn="l"/>
                      <a:r>
                        <a:rPr sz="1000" b="1">
                          <a:solidFill>
                            <a:srgbClr val="B91C1C"/>
                          </a:solidFill>
                          <a:latin typeface="Calibri"/>
                        </a:rPr>
                        <a:t>Open · Overdue</a:t>
                      </a:r>
                    </a:p>
                  </a:txBody>
                  <a:tcPr>
                    <a:solidFill>
                      <a:srgbClr val="F8FAFC"/>
                    </a:solidFill>
                  </a:tcPr>
                </a:tc>
                <a:tc>
                  <a:txBody>
                    <a:bodyPr/>
                    <a:lstStyle/>
                    <a:p>
                      <a:pPr algn="l"/>
                      <a:r>
                        <a:rPr sz="1000" b="0">
                          <a:solidFill>
                            <a:srgbClr val="1F2937"/>
                          </a:solidFill>
                          <a:latin typeface="Calibri"/>
                        </a:rPr>
                        <a:t>Targeted: 14 days from this review</a:t>
                      </a:r>
                    </a:p>
                  </a:txBody>
                  <a:tcPr>
                    <a:solidFill>
                      <a:srgbClr val="F8FAFC"/>
                    </a:solidFill>
                  </a:tcPr>
                </a:tc>
                <a:extLst>
                  <a:ext uri="{0D108BD9-81ED-4DB2-BD59-A6C34878D82A}">
                    <a16:rowId xmlns:a16="http://schemas.microsoft.com/office/drawing/2014/main" val="10002"/>
                  </a:ext>
                </a:extLst>
              </a:tr>
              <a:tr h="508000">
                <a:tc>
                  <a:txBody>
                    <a:bodyPr/>
                    <a:lstStyle/>
                    <a:p>
                      <a:pPr algn="l"/>
                      <a:r>
                        <a:rPr sz="1000" b="1">
                          <a:solidFill>
                            <a:srgbClr val="1E3A8A"/>
                          </a:solidFill>
                          <a:latin typeface="Calibri"/>
                        </a:rPr>
                        <a:t>DEP010</a:t>
                      </a:r>
                    </a:p>
                  </a:txBody>
                  <a:tcPr>
                    <a:solidFill>
                      <a:srgbClr val="FFFFFF"/>
                    </a:solidFill>
                  </a:tcPr>
                </a:tc>
                <a:tc>
                  <a:txBody>
                    <a:bodyPr/>
                    <a:lstStyle/>
                    <a:p>
                      <a:pPr algn="l"/>
                      <a:r>
                        <a:rPr sz="1000" b="0" dirty="0">
                          <a:solidFill>
                            <a:srgbClr val="1F2937"/>
                          </a:solidFill>
                          <a:latin typeface="Calibri"/>
                        </a:rPr>
                        <a:t>BF5.WB_TRANS_DATA_ITRO Oracle view recompile</a:t>
                      </a:r>
                    </a:p>
                  </a:txBody>
                  <a:tcPr>
                    <a:solidFill>
                      <a:srgbClr val="FFFFFF"/>
                    </a:solidFill>
                  </a:tcPr>
                </a:tc>
                <a:tc>
                  <a:txBody>
                    <a:bodyPr/>
                    <a:lstStyle/>
                    <a:p>
                      <a:pPr algn="l"/>
                      <a:r>
                        <a:rPr sz="1000" b="0" dirty="0">
                          <a:solidFill>
                            <a:srgbClr val="1F2937"/>
                          </a:solidFill>
                          <a:latin typeface="Calibri"/>
                        </a:rPr>
                        <a:t>JSW </a:t>
                      </a:r>
                    </a:p>
                  </a:txBody>
                  <a:tcPr>
                    <a:solidFill>
                      <a:srgbClr val="FFFFFF"/>
                    </a:solidFill>
                  </a:tcPr>
                </a:tc>
                <a:tc>
                  <a:txBody>
                    <a:bodyPr/>
                    <a:lstStyle/>
                    <a:p>
                      <a:pPr algn="l"/>
                      <a:r>
                        <a:rPr sz="1000" b="1">
                          <a:solidFill>
                            <a:srgbClr val="B45309"/>
                          </a:solidFill>
                          <a:latin typeface="Calibri"/>
                        </a:rPr>
                        <a:t>In Progress</a:t>
                      </a:r>
                    </a:p>
                  </a:txBody>
                  <a:tcPr>
                    <a:solidFill>
                      <a:srgbClr val="FFFFFF"/>
                    </a:solidFill>
                  </a:tcPr>
                </a:tc>
                <a:tc>
                  <a:txBody>
                    <a:bodyPr/>
                    <a:lstStyle/>
                    <a:p>
                      <a:pPr algn="l"/>
                      <a:r>
                        <a:rPr sz="1000" b="0">
                          <a:solidFill>
                            <a:srgbClr val="1F2937"/>
                          </a:solidFill>
                          <a:latin typeface="Calibri"/>
                        </a:rPr>
                        <a:t>Workaround in place; permanent fix pending</a:t>
                      </a:r>
                    </a:p>
                  </a:txBody>
                  <a:tcPr>
                    <a:solidFill>
                      <a:srgbClr val="FFFFFF"/>
                    </a:solidFill>
                  </a:tcPr>
                </a:tc>
                <a:extLst>
                  <a:ext uri="{0D108BD9-81ED-4DB2-BD59-A6C34878D82A}">
                    <a16:rowId xmlns:a16="http://schemas.microsoft.com/office/drawing/2014/main" val="10003"/>
                  </a:ext>
                </a:extLst>
              </a:tr>
              <a:tr h="508000">
                <a:tc>
                  <a:txBody>
                    <a:bodyPr/>
                    <a:lstStyle/>
                    <a:p>
                      <a:pPr algn="l"/>
                      <a:r>
                        <a:rPr sz="1000" b="1">
                          <a:solidFill>
                            <a:srgbClr val="1E3A8A"/>
                          </a:solidFill>
                          <a:latin typeface="Calibri"/>
                        </a:rPr>
                        <a:t>New</a:t>
                      </a:r>
                    </a:p>
                  </a:txBody>
                  <a:tcPr>
                    <a:solidFill>
                      <a:srgbClr val="F8FAFC"/>
                    </a:solidFill>
                  </a:tcPr>
                </a:tc>
                <a:tc>
                  <a:txBody>
                    <a:bodyPr/>
                    <a:lstStyle/>
                    <a:p>
                      <a:pPr algn="l"/>
                      <a:r>
                        <a:rPr sz="1000" b="0">
                          <a:solidFill>
                            <a:srgbClr val="1F2937"/>
                          </a:solidFill>
                          <a:latin typeface="Calibri"/>
                        </a:rPr>
                        <a:t>Geofence polygons for all plant nodes</a:t>
                      </a:r>
                    </a:p>
                  </a:txBody>
                  <a:tcPr>
                    <a:solidFill>
                      <a:srgbClr val="F8FAFC"/>
                    </a:solidFill>
                  </a:tcPr>
                </a:tc>
                <a:tc>
                  <a:txBody>
                    <a:bodyPr/>
                    <a:lstStyle/>
                    <a:p>
                      <a:pPr algn="l"/>
                      <a:r>
                        <a:rPr sz="1000" b="0">
                          <a:solidFill>
                            <a:srgbClr val="1F2937"/>
                          </a:solidFill>
                          <a:latin typeface="Calibri"/>
                        </a:rPr>
                        <a:t>SuVeechi vendor (via JSW)</a:t>
                      </a:r>
                    </a:p>
                  </a:txBody>
                  <a:tcPr>
                    <a:solidFill>
                      <a:srgbClr val="F8FAFC"/>
                    </a:solidFill>
                  </a:tcPr>
                </a:tc>
                <a:tc>
                  <a:txBody>
                    <a:bodyPr/>
                    <a:lstStyle/>
                    <a:p>
                      <a:pPr algn="l"/>
                      <a:r>
                        <a:rPr sz="1000" b="1">
                          <a:solidFill>
                            <a:srgbClr val="C28B1B"/>
                          </a:solidFill>
                          <a:latin typeface="Calibri"/>
                        </a:rPr>
                        <a:t>New ask</a:t>
                      </a:r>
                    </a:p>
                  </a:txBody>
                  <a:tcPr>
                    <a:solidFill>
                      <a:srgbClr val="F8FAFC"/>
                    </a:solidFill>
                  </a:tcPr>
                </a:tc>
                <a:tc>
                  <a:txBody>
                    <a:bodyPr/>
                    <a:lstStyle/>
                    <a:p>
                      <a:pPr algn="l"/>
                      <a:r>
                        <a:rPr sz="1000" b="0">
                          <a:solidFill>
                            <a:srgbClr val="1F2937"/>
                          </a:solidFill>
                          <a:latin typeface="Calibri"/>
                        </a:rPr>
                        <a:t>Targeted: 30 days from this review</a:t>
                      </a:r>
                    </a:p>
                  </a:txBody>
                  <a:tcPr>
                    <a:solidFill>
                      <a:srgbClr val="F8FAFC"/>
                    </a:solidFill>
                  </a:tcPr>
                </a:tc>
                <a:extLst>
                  <a:ext uri="{0D108BD9-81ED-4DB2-BD59-A6C34878D82A}">
                    <a16:rowId xmlns:a16="http://schemas.microsoft.com/office/drawing/2014/main" val="10004"/>
                  </a:ext>
                </a:extLst>
              </a:tr>
              <a:tr h="508000">
                <a:tc>
                  <a:txBody>
                    <a:bodyPr/>
                    <a:lstStyle/>
                    <a:p>
                      <a:pPr algn="l"/>
                      <a:r>
                        <a:rPr sz="1000" b="1">
                          <a:solidFill>
                            <a:srgbClr val="1E3A8A"/>
                          </a:solidFill>
                          <a:latin typeface="Calibri"/>
                        </a:rPr>
                        <a:t>New</a:t>
                      </a:r>
                    </a:p>
                  </a:txBody>
                  <a:tcPr>
                    <a:solidFill>
                      <a:srgbClr val="F8FAFC"/>
                    </a:solidFill>
                  </a:tcPr>
                </a:tc>
                <a:tc>
                  <a:txBody>
                    <a:bodyPr/>
                    <a:lstStyle/>
                    <a:p>
                      <a:pPr algn="l"/>
                      <a:r>
                        <a:rPr sz="1000" b="0">
                          <a:solidFill>
                            <a:srgbClr val="1F2937"/>
                          </a:solidFill>
                          <a:latin typeface="Calibri"/>
                        </a:rPr>
                        <a:t>End-user identification + working session</a:t>
                      </a:r>
                    </a:p>
                  </a:txBody>
                  <a:tcPr>
                    <a:solidFill>
                      <a:srgbClr val="F8FAFC"/>
                    </a:solidFill>
                  </a:tcPr>
                </a:tc>
                <a:tc>
                  <a:txBody>
                    <a:bodyPr/>
                    <a:lstStyle/>
                    <a:p>
                      <a:pPr algn="l"/>
                      <a:r>
                        <a:rPr sz="1000" b="0">
                          <a:solidFill>
                            <a:srgbClr val="1F2937"/>
                          </a:solidFill>
                          <a:latin typeface="Calibri"/>
                        </a:rPr>
                        <a:t>JSW Operations</a:t>
                      </a:r>
                    </a:p>
                  </a:txBody>
                  <a:tcPr>
                    <a:solidFill>
                      <a:srgbClr val="F8FAFC"/>
                    </a:solidFill>
                  </a:tcPr>
                </a:tc>
                <a:tc>
                  <a:txBody>
                    <a:bodyPr/>
                    <a:lstStyle/>
                    <a:p>
                      <a:pPr algn="l"/>
                      <a:r>
                        <a:rPr sz="1000" b="1">
                          <a:solidFill>
                            <a:srgbClr val="C28B1B"/>
                          </a:solidFill>
                          <a:latin typeface="Calibri"/>
                        </a:rPr>
                        <a:t>New ask</a:t>
                      </a:r>
                    </a:p>
                  </a:txBody>
                  <a:tcPr>
                    <a:solidFill>
                      <a:srgbClr val="F8FAFC"/>
                    </a:solidFill>
                  </a:tcPr>
                </a:tc>
                <a:tc>
                  <a:txBody>
                    <a:bodyPr/>
                    <a:lstStyle/>
                    <a:p>
                      <a:pPr algn="l"/>
                      <a:r>
                        <a:rPr sz="1000" b="0" dirty="0">
                          <a:solidFill>
                            <a:srgbClr val="1F2937"/>
                          </a:solidFill>
                          <a:latin typeface="Calibri"/>
                        </a:rPr>
                        <a:t>Within 14 days of this review — prerequisite for pilot phase</a:t>
                      </a:r>
                    </a:p>
                  </a:txBody>
                  <a:tcPr>
                    <a:solidFill>
                      <a:srgbClr val="F8FAFC"/>
                    </a:solidFill>
                  </a:tcPr>
                </a:tc>
                <a:extLst>
                  <a:ext uri="{0D108BD9-81ED-4DB2-BD59-A6C34878D82A}">
                    <a16:rowId xmlns:a16="http://schemas.microsoft.com/office/drawing/2014/main" val="10008"/>
                  </a:ext>
                </a:extLst>
              </a:tr>
            </a:tbl>
          </a:graphicData>
        </a:graphic>
      </p:graphicFrame>
      <p:pic>
        <p:nvPicPr>
          <p:cNvPr id="9" name="Picture 8" descr="A purple and orange text&#10;&#10;AI-generated content may be incorrect.">
            <a:extLst>
              <a:ext uri="{FF2B5EF4-FFF2-40B4-BE49-F238E27FC236}">
                <a16:creationId xmlns:a16="http://schemas.microsoft.com/office/drawing/2014/main" id="{529F938F-EDB3-0B24-FB3E-2303E1F2E133}"/>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I · PATH FORWARD</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Completion forecast — M3, M4, M5 scenarios</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40</a:t>
            </a:r>
          </a:p>
        </p:txBody>
      </p:sp>
      <p:graphicFrame>
        <p:nvGraphicFramePr>
          <p:cNvPr id="8" name="Table 7"/>
          <p:cNvGraphicFramePr>
            <a:graphicFrameLocks noGrp="1"/>
          </p:cNvGraphicFramePr>
          <p:nvPr/>
        </p:nvGraphicFramePr>
        <p:xfrm>
          <a:off x="502920" y="1417320"/>
          <a:ext cx="11338560" cy="256032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640080">
                <a:tc>
                  <a:txBody>
                    <a:bodyPr/>
                    <a:lstStyle/>
                    <a:p>
                      <a:pPr algn="l"/>
                      <a:r>
                        <a:rPr sz="1100" b="1">
                          <a:solidFill>
                            <a:srgbClr val="FFFFFF"/>
                          </a:solidFill>
                          <a:latin typeface="Calibri"/>
                        </a:rPr>
                        <a:t>ID</a:t>
                      </a:r>
                    </a:p>
                  </a:txBody>
                  <a:tcPr>
                    <a:solidFill>
                      <a:srgbClr val="1E3A8A"/>
                    </a:solidFill>
                  </a:tcPr>
                </a:tc>
                <a:tc>
                  <a:txBody>
                    <a:bodyPr/>
                    <a:lstStyle/>
                    <a:p>
                      <a:pPr algn="l"/>
                      <a:r>
                        <a:rPr sz="1100" b="1">
                          <a:solidFill>
                            <a:srgbClr val="FFFFFF"/>
                          </a:solidFill>
                          <a:latin typeface="Calibri"/>
                        </a:rPr>
                        <a:t>Milestone</a:t>
                      </a:r>
                    </a:p>
                  </a:txBody>
                  <a:tcPr>
                    <a:solidFill>
                      <a:srgbClr val="1E3A8A"/>
                    </a:solidFill>
                  </a:tcPr>
                </a:tc>
                <a:tc>
                  <a:txBody>
                    <a:bodyPr/>
                    <a:lstStyle/>
                    <a:p>
                      <a:pPr algn="l"/>
                      <a:r>
                        <a:rPr sz="1100" b="1">
                          <a:solidFill>
                            <a:srgbClr val="FFFFFF"/>
                          </a:solidFill>
                          <a:latin typeface="Calibri"/>
                        </a:rPr>
                        <a:t>Plan End</a:t>
                      </a:r>
                    </a:p>
                  </a:txBody>
                  <a:tcPr>
                    <a:solidFill>
                      <a:srgbClr val="1E3A8A"/>
                    </a:solidFill>
                  </a:tcPr>
                </a:tc>
                <a:tc>
                  <a:txBody>
                    <a:bodyPr/>
                    <a:lstStyle/>
                    <a:p>
                      <a:pPr algn="l"/>
                      <a:r>
                        <a:rPr sz="1100" b="1">
                          <a:solidFill>
                            <a:srgbClr val="FFFFFF"/>
                          </a:solidFill>
                          <a:latin typeface="Calibri"/>
                        </a:rPr>
                        <a:t>Best-case</a:t>
                      </a:r>
                    </a:p>
                  </a:txBody>
                  <a:tcPr>
                    <a:solidFill>
                      <a:srgbClr val="1E3A8A"/>
                    </a:solidFill>
                  </a:tcPr>
                </a:tc>
                <a:tc>
                  <a:txBody>
                    <a:bodyPr/>
                    <a:lstStyle/>
                    <a:p>
                      <a:pPr algn="l"/>
                      <a:r>
                        <a:rPr sz="1100" b="1">
                          <a:solidFill>
                            <a:srgbClr val="FFFFFF"/>
                          </a:solidFill>
                          <a:latin typeface="Calibri"/>
                        </a:rPr>
                        <a:t>Likely if delayed</a:t>
                      </a:r>
                    </a:p>
                  </a:txBody>
                  <a:tcPr>
                    <a:solidFill>
                      <a:srgbClr val="1E3A8A"/>
                    </a:solidFill>
                  </a:tcPr>
                </a:tc>
                <a:extLst>
                  <a:ext uri="{0D108BD9-81ED-4DB2-BD59-A6C34878D82A}">
                    <a16:rowId xmlns:a16="http://schemas.microsoft.com/office/drawing/2014/main" val="10000"/>
                  </a:ext>
                </a:extLst>
              </a:tr>
              <a:tr h="640080">
                <a:tc>
                  <a:txBody>
                    <a:bodyPr/>
                    <a:lstStyle/>
                    <a:p>
                      <a:pPr algn="l"/>
                      <a:r>
                        <a:rPr sz="1050" b="1">
                          <a:solidFill>
                            <a:srgbClr val="1E3A8A"/>
                          </a:solidFill>
                          <a:latin typeface="Calibri"/>
                        </a:rPr>
                        <a:t>M3</a:t>
                      </a:r>
                    </a:p>
                  </a:txBody>
                  <a:tcPr>
                    <a:solidFill>
                      <a:srgbClr val="FFFFFF"/>
                    </a:solidFill>
                  </a:tcPr>
                </a:tc>
                <a:tc>
                  <a:txBody>
                    <a:bodyPr/>
                    <a:lstStyle/>
                    <a:p>
                      <a:pPr algn="l"/>
                      <a:r>
                        <a:rPr sz="1050" b="0">
                          <a:solidFill>
                            <a:srgbClr val="1F2937"/>
                          </a:solidFill>
                          <a:latin typeface="Calibri"/>
                        </a:rPr>
                        <a:t>Dashboard &amp; Integration</a:t>
                      </a:r>
                    </a:p>
                  </a:txBody>
                  <a:tcPr>
                    <a:solidFill>
                      <a:srgbClr val="FFFFFF"/>
                    </a:solidFill>
                  </a:tcPr>
                </a:tc>
                <a:tc>
                  <a:txBody>
                    <a:bodyPr/>
                    <a:lstStyle/>
                    <a:p>
                      <a:pPr algn="l"/>
                      <a:r>
                        <a:rPr sz="1050" b="0">
                          <a:solidFill>
                            <a:srgbClr val="1F2937"/>
                          </a:solidFill>
                          <a:latin typeface="Calibri"/>
                        </a:rPr>
                        <a:t>19-Jun-2026</a:t>
                      </a:r>
                    </a:p>
                  </a:txBody>
                  <a:tcPr>
                    <a:solidFill>
                      <a:srgbClr val="FFFFFF"/>
                    </a:solidFill>
                  </a:tcPr>
                </a:tc>
                <a:tc>
                  <a:txBody>
                    <a:bodyPr/>
                    <a:lstStyle/>
                    <a:p>
                      <a:pPr algn="l"/>
                      <a:r>
                        <a:rPr sz="1050" b="0">
                          <a:solidFill>
                            <a:srgbClr val="1F2937"/>
                          </a:solidFill>
                          <a:latin typeface="Calibri"/>
                        </a:rPr>
                        <a:t>Same — if pending dependencies (DEP002, DEP005, geofence access) close within 30 days</a:t>
                      </a:r>
                    </a:p>
                  </a:txBody>
                  <a:tcPr>
                    <a:solidFill>
                      <a:srgbClr val="FFFFFF"/>
                    </a:solidFill>
                  </a:tcPr>
                </a:tc>
                <a:tc>
                  <a:txBody>
                    <a:bodyPr/>
                    <a:lstStyle/>
                    <a:p>
                      <a:pPr algn="l"/>
                      <a:r>
                        <a:rPr sz="1050" b="0">
                          <a:solidFill>
                            <a:srgbClr val="1F2937"/>
                          </a:solidFill>
                          <a:latin typeface="Calibri"/>
                        </a:rPr>
                        <a:t>Mid-Jul-2026 — if dependencies slip</a:t>
                      </a:r>
                    </a:p>
                  </a:txBody>
                  <a:tcPr>
                    <a:solidFill>
                      <a:srgbClr val="FFFFFF"/>
                    </a:solidFill>
                  </a:tcPr>
                </a:tc>
                <a:extLst>
                  <a:ext uri="{0D108BD9-81ED-4DB2-BD59-A6C34878D82A}">
                    <a16:rowId xmlns:a16="http://schemas.microsoft.com/office/drawing/2014/main" val="10001"/>
                  </a:ext>
                </a:extLst>
              </a:tr>
              <a:tr h="640080">
                <a:tc>
                  <a:txBody>
                    <a:bodyPr/>
                    <a:lstStyle/>
                    <a:p>
                      <a:pPr algn="l"/>
                      <a:r>
                        <a:rPr sz="1050" b="1">
                          <a:solidFill>
                            <a:srgbClr val="1E3A8A"/>
                          </a:solidFill>
                          <a:latin typeface="Calibri"/>
                        </a:rPr>
                        <a:t>M4</a:t>
                      </a:r>
                    </a:p>
                  </a:txBody>
                  <a:tcPr>
                    <a:solidFill>
                      <a:srgbClr val="F8FAFC"/>
                    </a:solidFill>
                  </a:tcPr>
                </a:tc>
                <a:tc>
                  <a:txBody>
                    <a:bodyPr/>
                    <a:lstStyle/>
                    <a:p>
                      <a:pPr algn="l"/>
                      <a:r>
                        <a:rPr sz="1050" b="0">
                          <a:solidFill>
                            <a:srgbClr val="1F2937"/>
                          </a:solidFill>
                          <a:latin typeface="Calibri"/>
                        </a:rPr>
                        <a:t>Testing &amp; Pilot</a:t>
                      </a:r>
                    </a:p>
                  </a:txBody>
                  <a:tcPr>
                    <a:solidFill>
                      <a:srgbClr val="F8FAFC"/>
                    </a:solidFill>
                  </a:tcPr>
                </a:tc>
                <a:tc>
                  <a:txBody>
                    <a:bodyPr/>
                    <a:lstStyle/>
                    <a:p>
                      <a:pPr algn="l"/>
                      <a:r>
                        <a:rPr sz="1050" b="0">
                          <a:solidFill>
                            <a:srgbClr val="1F2937"/>
                          </a:solidFill>
                          <a:latin typeface="Calibri"/>
                        </a:rPr>
                        <a:t>24-Jul-2026</a:t>
                      </a:r>
                    </a:p>
                  </a:txBody>
                  <a:tcPr>
                    <a:solidFill>
                      <a:srgbClr val="F8FAFC"/>
                    </a:solidFill>
                  </a:tcPr>
                </a:tc>
                <a:tc>
                  <a:txBody>
                    <a:bodyPr/>
                    <a:lstStyle/>
                    <a:p>
                      <a:pPr algn="l"/>
                      <a:r>
                        <a:rPr sz="1050" b="0">
                          <a:solidFill>
                            <a:srgbClr val="1F2937"/>
                          </a:solidFill>
                          <a:latin typeface="Calibri"/>
                        </a:rPr>
                        <a:t>Same — assuming M3 closes on plan and end-user availability confirmed</a:t>
                      </a:r>
                    </a:p>
                  </a:txBody>
                  <a:tcPr>
                    <a:solidFill>
                      <a:srgbClr val="F8FAFC"/>
                    </a:solidFill>
                  </a:tcPr>
                </a:tc>
                <a:tc>
                  <a:txBody>
                    <a:bodyPr/>
                    <a:lstStyle/>
                    <a:p>
                      <a:pPr algn="l"/>
                      <a:r>
                        <a:rPr sz="1050" b="0">
                          <a:solidFill>
                            <a:srgbClr val="1F2937"/>
                          </a:solidFill>
                          <a:latin typeface="Calibri"/>
                        </a:rPr>
                        <a:t>Aug-2026 — under slip scenario</a:t>
                      </a:r>
                    </a:p>
                  </a:txBody>
                  <a:tcPr>
                    <a:solidFill>
                      <a:srgbClr val="F8FAFC"/>
                    </a:solidFill>
                  </a:tcPr>
                </a:tc>
                <a:extLst>
                  <a:ext uri="{0D108BD9-81ED-4DB2-BD59-A6C34878D82A}">
                    <a16:rowId xmlns:a16="http://schemas.microsoft.com/office/drawing/2014/main" val="10002"/>
                  </a:ext>
                </a:extLst>
              </a:tr>
              <a:tr h="640080">
                <a:tc>
                  <a:txBody>
                    <a:bodyPr/>
                    <a:lstStyle/>
                    <a:p>
                      <a:pPr algn="l"/>
                      <a:r>
                        <a:rPr sz="1050" b="1">
                          <a:solidFill>
                            <a:srgbClr val="1E3A8A"/>
                          </a:solidFill>
                          <a:latin typeface="Calibri"/>
                        </a:rPr>
                        <a:t>M5</a:t>
                      </a:r>
                    </a:p>
                  </a:txBody>
                  <a:tcPr>
                    <a:solidFill>
                      <a:srgbClr val="FFFFFF"/>
                    </a:solidFill>
                  </a:tcPr>
                </a:tc>
                <a:tc>
                  <a:txBody>
                    <a:bodyPr/>
                    <a:lstStyle/>
                    <a:p>
                      <a:pPr algn="l"/>
                      <a:r>
                        <a:rPr sz="1050" b="0">
                          <a:solidFill>
                            <a:srgbClr val="1F2937"/>
                          </a:solidFill>
                          <a:latin typeface="Calibri"/>
                        </a:rPr>
                        <a:t>Go-Live &amp; Stabilization</a:t>
                      </a:r>
                    </a:p>
                  </a:txBody>
                  <a:tcPr>
                    <a:solidFill>
                      <a:srgbClr val="FFFFFF"/>
                    </a:solidFill>
                  </a:tcPr>
                </a:tc>
                <a:tc>
                  <a:txBody>
                    <a:bodyPr/>
                    <a:lstStyle/>
                    <a:p>
                      <a:pPr algn="l"/>
                      <a:r>
                        <a:rPr sz="1050" b="0">
                          <a:solidFill>
                            <a:srgbClr val="1F2937"/>
                          </a:solidFill>
                          <a:latin typeface="Calibri"/>
                        </a:rPr>
                        <a:t>07-Aug-2026</a:t>
                      </a:r>
                    </a:p>
                  </a:txBody>
                  <a:tcPr>
                    <a:solidFill>
                      <a:srgbClr val="FFFFFF"/>
                    </a:solidFill>
                  </a:tcPr>
                </a:tc>
                <a:tc>
                  <a:txBody>
                    <a:bodyPr/>
                    <a:lstStyle/>
                    <a:p>
                      <a:pPr algn="l"/>
                      <a:r>
                        <a:rPr sz="1050" b="0">
                          <a:solidFill>
                            <a:srgbClr val="1F2937"/>
                          </a:solidFill>
                          <a:latin typeface="Calibri"/>
                        </a:rPr>
                        <a:t>Same — pending successful pilot in M4</a:t>
                      </a:r>
                    </a:p>
                  </a:txBody>
                  <a:tcPr>
                    <a:solidFill>
                      <a:srgbClr val="FFFFFF"/>
                    </a:solidFill>
                  </a:tcPr>
                </a:tc>
                <a:tc>
                  <a:txBody>
                    <a:bodyPr/>
                    <a:lstStyle/>
                    <a:p>
                      <a:pPr algn="l"/>
                      <a:r>
                        <a:rPr sz="1050" b="0">
                          <a:solidFill>
                            <a:srgbClr val="1F2937"/>
                          </a:solidFill>
                          <a:latin typeface="Calibri"/>
                        </a:rPr>
                        <a:t>Aug-Sep 2026 — under slip scenario</a:t>
                      </a:r>
                    </a:p>
                  </a:txBody>
                  <a:tcP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02920" y="416052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KEY MESSAGES</a:t>
            </a:r>
          </a:p>
        </p:txBody>
      </p:sp>
      <p:sp>
        <p:nvSpPr>
          <p:cNvPr id="10" name="TextBox 9"/>
          <p:cNvSpPr txBox="1"/>
          <p:nvPr/>
        </p:nvSpPr>
        <p:spPr>
          <a:xfrm>
            <a:off x="502920" y="4480560"/>
            <a:ext cx="11338560" cy="1006301"/>
          </a:xfrm>
          <a:prstGeom prst="rect">
            <a:avLst/>
          </a:prstGeom>
          <a:noFill/>
        </p:spPr>
        <p:txBody>
          <a:bodyPr wrap="square" lIns="45720">
            <a:spAutoFit/>
          </a:bodyPr>
          <a:lstStyle/>
          <a:p>
            <a:pPr>
              <a:lnSpc>
                <a:spcPct val="115000"/>
              </a:lnSpc>
              <a:spcAft>
                <a:spcPts val="200"/>
              </a:spcAft>
              <a:buChar char="■"/>
            </a:pPr>
            <a:r>
              <a:rPr sz="1200" dirty="0">
                <a:solidFill>
                  <a:srgbClr val="1F2937"/>
                </a:solidFill>
                <a:latin typeface="Calibri"/>
              </a:rPr>
              <a:t>Engineering work for </a:t>
            </a:r>
            <a:r>
              <a:rPr lang="en-GB" sz="1200" dirty="0" err="1">
                <a:solidFill>
                  <a:srgbClr val="1F2937"/>
                </a:solidFill>
                <a:latin typeface="Calibri"/>
              </a:rPr>
              <a:t>applicaiton</a:t>
            </a:r>
            <a:r>
              <a:rPr sz="1200" dirty="0">
                <a:solidFill>
                  <a:srgbClr val="1F2937"/>
                </a:solidFill>
                <a:latin typeface="Calibri"/>
              </a:rPr>
              <a:t> is essentially complete. Remaining timeline is JSW-dependent — data exposure, operational confirmations, and end-user engagement.</a:t>
            </a:r>
          </a:p>
          <a:p>
            <a:pPr>
              <a:lnSpc>
                <a:spcPct val="115000"/>
              </a:lnSpc>
              <a:spcAft>
                <a:spcPts val="200"/>
              </a:spcAft>
              <a:buChar char="■"/>
            </a:pPr>
            <a:r>
              <a:rPr sz="1200" dirty="0">
                <a:solidFill>
                  <a:srgbClr val="1F2937"/>
                </a:solidFill>
                <a:latin typeface="Calibri"/>
              </a:rPr>
              <a:t>If the eight pending items in the prior slide close on the targets shown, the original 07-Aug-2026 go-live remains achievable.</a:t>
            </a:r>
          </a:p>
          <a:p>
            <a:pPr>
              <a:lnSpc>
                <a:spcPct val="115000"/>
              </a:lnSpc>
              <a:spcAft>
                <a:spcPts val="200"/>
              </a:spcAft>
              <a:buChar char="■"/>
            </a:pPr>
            <a:r>
              <a:rPr sz="1200" dirty="0">
                <a:solidFill>
                  <a:srgbClr val="1F2937"/>
                </a:solidFill>
                <a:latin typeface="Calibri"/>
              </a:rPr>
              <a:t>Each week of delay on JSW-side items shifts the go-live by approximately one week.</a:t>
            </a:r>
          </a:p>
          <a:p>
            <a:pPr>
              <a:lnSpc>
                <a:spcPct val="115000"/>
              </a:lnSpc>
              <a:spcAft>
                <a:spcPts val="200"/>
              </a:spcAft>
              <a:buChar char="■"/>
            </a:pPr>
            <a:r>
              <a:rPr sz="1200" dirty="0">
                <a:solidFill>
                  <a:srgbClr val="1F2937"/>
                </a:solidFill>
                <a:latin typeface="Calibri"/>
              </a:rPr>
              <a:t>Deevia continues to maintain weekly status reports and is available for accelerated cadence (daily standups) during the pilot phase.</a:t>
            </a:r>
          </a:p>
        </p:txBody>
      </p:sp>
      <p:pic>
        <p:nvPicPr>
          <p:cNvPr id="11" name="Picture 10" descr="A purple and orange text&#10;&#10;AI-generated content may be incorrect.">
            <a:extLst>
              <a:ext uri="{FF2B5EF4-FFF2-40B4-BE49-F238E27FC236}">
                <a16:creationId xmlns:a16="http://schemas.microsoft.com/office/drawing/2014/main" id="{721ABD36-0078-102C-F324-9F4D4D9AE022}"/>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6400800" cy="292608"/>
          </a:xfrm>
          <a:prstGeom prst="rect">
            <a:avLst/>
          </a:prstGeom>
          <a:noFill/>
        </p:spPr>
        <p:txBody>
          <a:bodyPr wrap="square" lIns="45720" tIns="18288" rIns="45720" bIns="18288" anchor="t">
            <a:spAutoFit/>
          </a:bodyPr>
          <a:lstStyle/>
          <a:p>
            <a:pPr algn="l"/>
            <a:r>
              <a:rPr sz="900" b="1" i="0">
                <a:solidFill>
                  <a:srgbClr val="3B5BA9"/>
                </a:solidFill>
                <a:latin typeface="Calibri"/>
              </a:rPr>
              <a:t>SECTION J · CLOSE</a:t>
            </a:r>
          </a:p>
        </p:txBody>
      </p:sp>
      <p:sp>
        <p:nvSpPr>
          <p:cNvPr id="4" name="TextBox 3"/>
          <p:cNvSpPr txBox="1"/>
          <p:nvPr/>
        </p:nvSpPr>
        <p:spPr>
          <a:xfrm>
            <a:off x="502920" y="502920"/>
            <a:ext cx="11155680" cy="640080"/>
          </a:xfrm>
          <a:prstGeom prst="rect">
            <a:avLst/>
          </a:prstGeom>
          <a:noFill/>
        </p:spPr>
        <p:txBody>
          <a:bodyPr wrap="square" lIns="45720" tIns="18288" rIns="45720" bIns="18288" anchor="t">
            <a:spAutoFit/>
          </a:bodyPr>
          <a:lstStyle/>
          <a:p>
            <a:pPr algn="l"/>
            <a:r>
              <a:rPr sz="2600" b="1" i="0">
                <a:solidFill>
                  <a:srgbClr val="1E3A8A"/>
                </a:solidFill>
                <a:latin typeface="Calibri"/>
              </a:rPr>
              <a:t>Summary and discussion</a:t>
            </a:r>
          </a:p>
        </p:txBody>
      </p:sp>
      <p:sp>
        <p:nvSpPr>
          <p:cNvPr id="5" name="Rectangle 4"/>
          <p:cNvSpPr/>
          <p:nvPr/>
        </p:nvSpPr>
        <p:spPr>
          <a:xfrm>
            <a:off x="502920" y="1234440"/>
            <a:ext cx="11155680" cy="1143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92240"/>
            <a:ext cx="7315200" cy="274320"/>
          </a:xfrm>
          <a:prstGeom prst="rect">
            <a:avLst/>
          </a:prstGeom>
          <a:noFill/>
        </p:spPr>
        <p:txBody>
          <a:bodyPr wrap="square" lIns="45720" tIns="18288" rIns="45720" bIns="18288" anchor="t">
            <a:spAutoFit/>
          </a:bodyPr>
          <a:lstStyle/>
          <a:p>
            <a:pPr algn="l"/>
            <a:r>
              <a:rPr sz="900" b="0" i="0">
                <a:solidFill>
                  <a:srgbClr val="4B5563"/>
                </a:solidFill>
                <a:latin typeface="Calibri"/>
              </a:rPr>
              <a:t>HMD Project Status — Deevia Software for JSW Vijayanagar — 14 May 2026</a:t>
            </a:r>
          </a:p>
        </p:txBody>
      </p:sp>
      <p:sp>
        <p:nvSpPr>
          <p:cNvPr id="7" name="TextBox 6"/>
          <p:cNvSpPr txBox="1"/>
          <p:nvPr/>
        </p:nvSpPr>
        <p:spPr>
          <a:xfrm>
            <a:off x="11338560" y="6492240"/>
            <a:ext cx="548640" cy="274320"/>
          </a:xfrm>
          <a:prstGeom prst="rect">
            <a:avLst/>
          </a:prstGeom>
          <a:noFill/>
        </p:spPr>
        <p:txBody>
          <a:bodyPr wrap="square" lIns="45720" tIns="18288" rIns="45720" bIns="18288" anchor="t">
            <a:spAutoFit/>
          </a:bodyPr>
          <a:lstStyle/>
          <a:p>
            <a:pPr algn="r"/>
            <a:r>
              <a:rPr sz="900" b="0" i="0">
                <a:solidFill>
                  <a:srgbClr val="4B5563"/>
                </a:solidFill>
                <a:latin typeface="Calibri"/>
              </a:rPr>
              <a:t>41</a:t>
            </a:r>
          </a:p>
        </p:txBody>
      </p:sp>
      <p:sp>
        <p:nvSpPr>
          <p:cNvPr id="8" name="TextBox 7"/>
          <p:cNvSpPr txBox="1"/>
          <p:nvPr/>
        </p:nvSpPr>
        <p:spPr>
          <a:xfrm>
            <a:off x="502920" y="1417320"/>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PROJECT SUMMARY</a:t>
            </a:r>
          </a:p>
        </p:txBody>
      </p:sp>
      <p:sp>
        <p:nvSpPr>
          <p:cNvPr id="9" name="TextBox 8"/>
          <p:cNvSpPr txBox="1"/>
          <p:nvPr/>
        </p:nvSpPr>
        <p:spPr>
          <a:xfrm>
            <a:off x="502920" y="1737360"/>
            <a:ext cx="11338560" cy="1076000"/>
          </a:xfrm>
          <a:prstGeom prst="rect">
            <a:avLst/>
          </a:prstGeom>
          <a:noFill/>
        </p:spPr>
        <p:txBody>
          <a:bodyPr wrap="square" lIns="45720">
            <a:spAutoFit/>
          </a:bodyPr>
          <a:lstStyle/>
          <a:p>
            <a:pPr>
              <a:lnSpc>
                <a:spcPct val="115000"/>
              </a:lnSpc>
              <a:spcAft>
                <a:spcPts val="200"/>
              </a:spcAft>
              <a:buChar char="■"/>
            </a:pPr>
            <a:r>
              <a:rPr sz="1300" dirty="0">
                <a:solidFill>
                  <a:srgbClr val="1F2937"/>
                </a:solidFill>
                <a:latin typeface="Calibri"/>
              </a:rPr>
              <a:t>HMD</a:t>
            </a:r>
            <a:r>
              <a:rPr lang="en-GB" sz="1300" dirty="0">
                <a:solidFill>
                  <a:srgbClr val="1F2937"/>
                </a:solidFill>
                <a:latin typeface="Calibri"/>
              </a:rPr>
              <a:t> </a:t>
            </a:r>
            <a:r>
              <a:rPr sz="1300" dirty="0">
                <a:solidFill>
                  <a:srgbClr val="1F2937"/>
                </a:solidFill>
                <a:latin typeface="Calibri"/>
              </a:rPr>
              <a:t>— full-featured hot metal distribution application — is built and operational on JSW infrastructure.</a:t>
            </a:r>
          </a:p>
          <a:p>
            <a:pPr>
              <a:lnSpc>
                <a:spcPct val="115000"/>
              </a:lnSpc>
              <a:spcAft>
                <a:spcPts val="200"/>
              </a:spcAft>
              <a:buChar char="■"/>
            </a:pPr>
            <a:r>
              <a:rPr sz="1300" dirty="0">
                <a:solidFill>
                  <a:srgbClr val="1F2937"/>
                </a:solidFill>
                <a:latin typeface="Calibri"/>
              </a:rPr>
              <a:t>All three external data sources are integrated; data flows live every 10 seconds to 5 minutes.</a:t>
            </a:r>
          </a:p>
          <a:p>
            <a:pPr>
              <a:lnSpc>
                <a:spcPct val="115000"/>
              </a:lnSpc>
              <a:spcAft>
                <a:spcPts val="200"/>
              </a:spcAft>
              <a:buChar char="■"/>
            </a:pPr>
            <a:r>
              <a:rPr sz="1300" dirty="0">
                <a:solidFill>
                  <a:srgbClr val="1F2937"/>
                </a:solidFill>
                <a:latin typeface="Calibri"/>
              </a:rPr>
              <a:t>Project tracking at approximately 53% completion overall, on plan for the 07-Aug-2026 go-live.</a:t>
            </a:r>
          </a:p>
          <a:p>
            <a:pPr>
              <a:lnSpc>
                <a:spcPct val="115000"/>
              </a:lnSpc>
              <a:spcAft>
                <a:spcPts val="200"/>
              </a:spcAft>
              <a:buChar char="■"/>
            </a:pPr>
            <a:r>
              <a:rPr sz="1300" dirty="0">
                <a:solidFill>
                  <a:srgbClr val="1F2937"/>
                </a:solidFill>
                <a:latin typeface="Calibri"/>
              </a:rPr>
              <a:t>Outstanding items are predominantly JSW-side: data exposure, operational confirmations, and end-user engagement.</a:t>
            </a:r>
          </a:p>
        </p:txBody>
      </p:sp>
      <p:sp>
        <p:nvSpPr>
          <p:cNvPr id="10" name="TextBox 9"/>
          <p:cNvSpPr txBox="1"/>
          <p:nvPr/>
        </p:nvSpPr>
        <p:spPr>
          <a:xfrm>
            <a:off x="502920" y="3749039"/>
            <a:ext cx="11338560" cy="365760"/>
          </a:xfrm>
          <a:prstGeom prst="rect">
            <a:avLst/>
          </a:prstGeom>
          <a:noFill/>
        </p:spPr>
        <p:txBody>
          <a:bodyPr wrap="square" lIns="45720" tIns="18288" rIns="45720" bIns="18288" anchor="t">
            <a:spAutoFit/>
          </a:bodyPr>
          <a:lstStyle/>
          <a:p>
            <a:pPr algn="l"/>
            <a:r>
              <a:rPr sz="1100" b="1" i="0">
                <a:solidFill>
                  <a:srgbClr val="C28B1B"/>
                </a:solidFill>
                <a:latin typeface="Calibri"/>
              </a:rPr>
              <a:t>WHAT WE NEED FROM JSW</a:t>
            </a:r>
          </a:p>
        </p:txBody>
      </p:sp>
      <p:sp>
        <p:nvSpPr>
          <p:cNvPr id="11" name="TextBox 10"/>
          <p:cNvSpPr txBox="1"/>
          <p:nvPr/>
        </p:nvSpPr>
        <p:spPr>
          <a:xfrm>
            <a:off x="502920" y="4069080"/>
            <a:ext cx="11338560" cy="1828800"/>
          </a:xfrm>
          <a:prstGeom prst="rect">
            <a:avLst/>
          </a:prstGeom>
          <a:noFill/>
        </p:spPr>
        <p:txBody>
          <a:bodyPr wrap="square" lIns="45720">
            <a:spAutoFit/>
          </a:bodyPr>
          <a:lstStyle/>
          <a:p>
            <a:pPr>
              <a:lnSpc>
                <a:spcPct val="115000"/>
              </a:lnSpc>
              <a:spcAft>
                <a:spcPts val="200"/>
              </a:spcAft>
              <a:buChar char="■"/>
            </a:pPr>
            <a:r>
              <a:rPr sz="1300">
                <a:solidFill>
                  <a:srgbClr val="1F2937"/>
                </a:solidFill>
                <a:latin typeface="Calibri"/>
              </a:rPr>
              <a:t>End-user identification and a working session — within 14 days.</a:t>
            </a:r>
          </a:p>
          <a:p>
            <a:pPr>
              <a:lnSpc>
                <a:spcPct val="115000"/>
              </a:lnSpc>
              <a:spcAft>
                <a:spcPts val="200"/>
              </a:spcAft>
              <a:buChar char="■"/>
            </a:pPr>
            <a:r>
              <a:rPr sz="1300">
                <a:solidFill>
                  <a:srgbClr val="1F2937"/>
                </a:solidFill>
                <a:latin typeface="Calibri"/>
              </a:rPr>
              <a:t>Geofence polygons for all plant nodes — within 30 days.</a:t>
            </a:r>
          </a:p>
          <a:p>
            <a:pPr>
              <a:lnSpc>
                <a:spcPct val="115000"/>
              </a:lnSpc>
              <a:spcAft>
                <a:spcPts val="200"/>
              </a:spcAft>
              <a:buChar char="■"/>
            </a:pPr>
            <a:r>
              <a:rPr sz="1300">
                <a:solidFill>
                  <a:srgbClr val="1F2937"/>
                </a:solidFill>
                <a:latin typeface="Calibri"/>
              </a:rPr>
              <a:t>Production targets / heat schedules / production-consumption rules — within 30 days.</a:t>
            </a:r>
          </a:p>
          <a:p>
            <a:pPr>
              <a:lnSpc>
                <a:spcPct val="115000"/>
              </a:lnSpc>
              <a:spcAft>
                <a:spcPts val="200"/>
              </a:spcAft>
              <a:buChar char="■"/>
            </a:pPr>
            <a:r>
              <a:rPr sz="1300">
                <a:solidFill>
                  <a:srgbClr val="1F2937"/>
                </a:solidFill>
                <a:latin typeface="Calibri"/>
              </a:rPr>
              <a:t>SMS-2 caster data access (SPT001A) — within 30 days.</a:t>
            </a:r>
          </a:p>
          <a:p>
            <a:pPr>
              <a:lnSpc>
                <a:spcPct val="115000"/>
              </a:lnSpc>
              <a:spcAft>
                <a:spcPts val="200"/>
              </a:spcAft>
              <a:buChar char="■"/>
            </a:pPr>
            <a:r>
              <a:rPr sz="1300">
                <a:solidFill>
                  <a:srgbClr val="1F2937"/>
                </a:solidFill>
                <a:latin typeface="Calibri"/>
              </a:rPr>
              <a:t>BF-side equipment downtime source — within 30 days.</a:t>
            </a:r>
          </a:p>
        </p:txBody>
      </p:sp>
      <p:sp>
        <p:nvSpPr>
          <p:cNvPr id="12" name="TextBox 11"/>
          <p:cNvSpPr txBox="1"/>
          <p:nvPr/>
        </p:nvSpPr>
        <p:spPr>
          <a:xfrm>
            <a:off x="502920" y="6126480"/>
            <a:ext cx="11338560" cy="365760"/>
          </a:xfrm>
          <a:prstGeom prst="rect">
            <a:avLst/>
          </a:prstGeom>
          <a:noFill/>
        </p:spPr>
        <p:txBody>
          <a:bodyPr wrap="square" lIns="45720" tIns="18288" rIns="45720" bIns="18288" anchor="t">
            <a:spAutoFit/>
          </a:bodyPr>
          <a:lstStyle/>
          <a:p>
            <a:pPr algn="ctr"/>
            <a:r>
              <a:rPr sz="1400" b="1" i="0">
                <a:solidFill>
                  <a:srgbClr val="1E3A8A"/>
                </a:solidFill>
                <a:latin typeface="Calibri"/>
              </a:rPr>
              <a:t>DISCUSSION &amp; Q&amp;A</a:t>
            </a:r>
          </a:p>
        </p:txBody>
      </p:sp>
      <p:pic>
        <p:nvPicPr>
          <p:cNvPr id="13" name="Picture 12" descr="A purple and orange text&#10;&#10;AI-generated content may be incorrect.">
            <a:extLst>
              <a:ext uri="{FF2B5EF4-FFF2-40B4-BE49-F238E27FC236}">
                <a16:creationId xmlns:a16="http://schemas.microsoft.com/office/drawing/2014/main" id="{932C4B46-3C2F-90D5-6A18-CC687832DB40}"/>
              </a:ext>
            </a:extLst>
          </p:cNvPr>
          <p:cNvPicPr>
            <a:picLocks noChangeAspect="1"/>
          </p:cNvPicPr>
          <p:nvPr/>
        </p:nvPicPr>
        <p:blipFill>
          <a:blip r:embed="rId2"/>
          <a:stretch>
            <a:fillRect/>
          </a:stretch>
        </p:blipFill>
        <p:spPr>
          <a:xfrm>
            <a:off x="10165082" y="374904"/>
            <a:ext cx="1523998" cy="442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6338</Words>
  <Application>Microsoft Office PowerPoint</Application>
  <PresentationFormat>Widescreen</PresentationFormat>
  <Paragraphs>867</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DSI-LPT-081</cp:lastModifiedBy>
  <cp:revision>4</cp:revision>
  <dcterms:created xsi:type="dcterms:W3CDTF">2013-01-27T09:14:16Z</dcterms:created>
  <dcterms:modified xsi:type="dcterms:W3CDTF">2026-05-14T13:15:45Z</dcterms:modified>
  <cp:category/>
</cp:coreProperties>
</file>